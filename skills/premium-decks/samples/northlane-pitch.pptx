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load</c:v>
                </c:pt>
              </c:strCache>
            </c:strRef>
          </c:tx>
          <c:spPr>
            <a:solidFill>
              <a:srgbClr val="0F3D5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D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Enterprise</c:v>
                  </c:pt>
                  <c:pt idx="1">
                    <c:v>Mid-market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1840</c:v>
                </c:pt>
                <c:pt idx="1">
                  <c:v>2245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A1D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D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0F3D5C"/>
            </a:solidFill>
            <a:ln w="38100" cap="flat">
              <a:solidFill>
                <a:srgbClr val="0F3D5C"/>
              </a:solidFill>
              <a:prstDash val="solid"/>
              <a:round/>
            </a:ln>
            <a:effectLst/>
          </c:spPr>
          <c:invertIfNegative val="0"/>
          <c:dLbls>
            <c:numFmt formatCode="$0.0\M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3D5C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F3D5C"/>
              </a:solidFill>
              <a:ln w="9525" cap="flat">
                <a:solidFill>
                  <a:srgbClr val="0F3D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 25</c:v>
                  </c:pt>
                  <c:pt idx="1">
                    <c:v>Q2 25</c:v>
                  </c:pt>
                  <c:pt idx="2">
                    <c:v>Q3 25</c:v>
                  </c:pt>
                  <c:pt idx="3">
                    <c:v>Q4 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</c:v>
                </c:pt>
                <c:pt idx="1">
                  <c:v>2.9</c:v>
                </c:pt>
                <c:pt idx="2">
                  <c:v>3.8</c:v>
                </c:pt>
                <c:pt idx="3">
                  <c:v>4.6</c:v>
                </c:pt>
              </c:numCache>
            </c:numRef>
          </c:val>
          <c:smooth val="0"/>
        </c:ser>
        <c:dLbls>
          <c:numFmt formatCode="$0.0\M" sourceLinked="0"/>
          <c:txPr>
            <a:bodyPr/>
            <a:lstStyle/>
            <a:p>
              <a:pPr>
                <a:defRPr b="0" i="0" strike="noStrike" sz="1200" u="none">
                  <a:solidFill>
                    <a:srgbClr val="0F3D5C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D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the recommendation and the one number that justifies it. Source: lane-level contribution model (illustrative, fictional company).Fictional company. 5-slide exec pitch sample for the premium-decks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mid-market shippers overpay on spot loads. Source: DAT spot vs. contract dry-van rates, 2025 average (illustrative).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growth and retention are both above benchmark. Source: Northlane ARR and net revenue retention by quarter; logistics-SaaS benchmark (illustrative).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one decision, owner, and date. Source: network operations plan (illustrative).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3317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Northlane Freight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orchestration for mid-market shippers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committee ·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02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invest $2.0M to expand the carrier network into Texas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21031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0" dirty="0"/>
          </a:p>
        </p:txBody>
      </p:sp>
      <p:sp>
        <p:nvSpPr>
          <p:cNvPr id="5" name="Text 2"/>
          <p:cNvSpPr/>
          <p:nvPr/>
        </p:nvSpPr>
        <p:spPr>
          <a:xfrm>
            <a:off x="548640" y="39319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payback, from lane-level contribution margin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394960" y="2103120"/>
            <a:ext cx="6217920" cy="1051560"/>
          </a:xfrm>
          <a:prstGeom prst="roundRect">
            <a:avLst>
              <a:gd name="adj" fmla="val 10435"/>
            </a:avLst>
          </a:prstGeom>
          <a:solidFill>
            <a:srgbClr val="D8E4EC"/>
          </a:solidFill>
          <a:ln/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15000" y="221284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$4.6M ARR run-rate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$2.1M four quarters ago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394960" y="3474720"/>
            <a:ext cx="6217920" cy="1051560"/>
          </a:xfrm>
          <a:prstGeom prst="roundRect">
            <a:avLst>
              <a:gd name="adj" fmla="val 10435"/>
            </a:avLst>
          </a:prstGeom>
          <a:solidFill>
            <a:srgbClr val="D8E4EC"/>
          </a:solidFill>
          <a:ln/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15000" y="358444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freight-cost reduction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across 38 active customers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394960" y="4846320"/>
            <a:ext cx="6217920" cy="1051560"/>
          </a:xfrm>
          <a:prstGeom prst="roundRect">
            <a:avLst>
              <a:gd name="adj" fmla="val 10435"/>
            </a:avLst>
          </a:prstGeom>
          <a:solidFill>
            <a:srgbClr val="D8E4EC"/>
          </a:solidFill>
          <a:ln/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15000" y="495604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net revenue retention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87% logistics-SaaS benchmark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02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Mid-market shippers pay 22% more per load than enterprise shippers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19202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shippers get contract rates through dedicated procurement teams. Mid-market shippers book on the spot market.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$405 per load. A shipper that moves 4,000 loads per year pays $1.6M more than an enterprise peer.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Northlane pools mid-market volume and books it at contract rates.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0" y="192024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5943600" y="5989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vs. contract dry-van rates, 2025 average — DAT benchmark (illustrative)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02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 more than doubled in four quarters, with retention above benchmark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2024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/>
          <p:nvPr/>
        </p:nvSpPr>
        <p:spPr>
          <a:xfrm>
            <a:off x="7132320" y="19202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886968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customers, up from 17 a year ago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7132320" y="32918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8869680" y="3291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 (benchmark: 87%)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132320" y="46634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8869680" y="46634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top 10 accounts expanded to new lanes in Q4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$2.0M by March 15 to open the Texas lanes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$2.0M by March 15 to contract 40 carriers across the Texas triangle.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owner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40480" y="3383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Network Operations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released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4069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1,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Texas lanes live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4754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5440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— continue only if payback tracks under 12 months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2026-09-22T22:40:24Z</dcterms:created>
  <dcterms:modified xsi:type="dcterms:W3CDTF">2026-09-22T22:40:24Z</dcterms:modified>
</cp:coreProperties>
</file>