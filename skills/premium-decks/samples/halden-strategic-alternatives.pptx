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4"/>
          <c:y val="0.02"/>
          <c:w val="0.62"/>
          <c:h val="0.86"/>
        </c:manualLayout>
      </c:layout>
      <c:barChart>
        <c:barDir val="bar"/>
        <c:grouping val="stacked"/>
        <c:varyColors val="0"/>
        <c:ser>
          <c:idx val="0"/>
          <c:order val="0"/>
          <c:tx>
            <c:strRef>
              <c:f>Sheet1!$B$1</c:f>
              <c:strCache>
                <c:ptCount val="1"/>
                <c:pt idx="0">
                  <c:v>low</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DCF (WACC 8.5%–9.5%, TGR 2.0%–3.0%)</c:v>
                  </c:pt>
                  <c:pt idx="1">
                    <c:v>Precedent transactions (9.6x–11.8x LTM EBITDA)</c:v>
                  </c:pt>
                  <c:pt idx="2">
                    <c:v>Trading comps (8.4x–9.8x FY26E EBITDA)</c:v>
                  </c:pt>
                  <c:pt idx="3">
                    <c:v>52-week trading range</c:v>
                  </c:pt>
                </c:lvl>
              </c:multiLvlStrCache>
            </c:multiLvlStrRef>
          </c:cat>
          <c:val>
            <c:numRef>
              <c:f>Sheet1!$B$2:$B$5</c:f>
              <c:numCache>
                <c:formatCode>General</c:formatCode>
                <c:ptCount val="4"/>
                <c:pt idx="0">
                  <c:v>18.3</c:v>
                </c:pt>
                <c:pt idx="1">
                  <c:v>18.9</c:v>
                </c:pt>
                <c:pt idx="2">
                  <c:v>17.5</c:v>
                </c:pt>
                <c:pt idx="3">
                  <c:v>16.04</c:v>
                </c:pt>
              </c:numCache>
            </c:numRef>
          </c:val>
        </c:ser>
        <c:ser>
          <c:idx val="1"/>
          <c:order val="1"/>
          <c:tx>
            <c:strRef>
              <c:f>Sheet1!$C$1</c:f>
              <c:strCache>
                <c:ptCount val="1"/>
                <c:pt idx="0">
                  <c:v>range</c:v>
                </c:pt>
              </c:strCache>
            </c:strRef>
          </c:tx>
          <c:spPr>
            <a:solidFill>
              <a:srgbClr val="9AA8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DCF (WACC 8.5%–9.5%, TGR 2.0%–3.0%)</c:v>
                  </c:pt>
                  <c:pt idx="1">
                    <c:v>Precedent transactions (9.6x–11.8x LTM EBITDA)</c:v>
                  </c:pt>
                  <c:pt idx="2">
                    <c:v>Trading comps (8.4x–9.8x FY26E EBITDA)</c:v>
                  </c:pt>
                  <c:pt idx="3">
                    <c:v>52-week trading range</c:v>
                  </c:pt>
                </c:lvl>
              </c:multiLvlStrCache>
            </c:multiLvlStrRef>
          </c:cat>
          <c:val>
            <c:numRef>
              <c:f>Sheet1!$C$2:$C$5</c:f>
              <c:numCache>
                <c:formatCode>General</c:formatCode>
                <c:ptCount val="4"/>
                <c:pt idx="0">
                  <c:v>7.59</c:v>
                </c:pt>
                <c:pt idx="1">
                  <c:v>5.420000000000002</c:v>
                </c:pt>
                <c:pt idx="2">
                  <c:v>3.710000000000001</c:v>
                </c:pt>
                <c:pt idx="3">
                  <c:v>3.9800000000000004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30"/>
          <c:min val="10"/>
        </c:scaling>
        <c:delete val="0"/>
        <c:axPos val="b"/>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7089"/>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Fictional company and data. Built from samples/source/halden-freight/input via scripts/ingest.py.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page: questions for the Board, no figures. Answers follow the analysis (valuation, alternatives, buyers, process) and the recommendation comes after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[F0011]; low [F0064]; high [F0045]; shares [F0012]; net debt [F0013]; LTM EBITDA [F0014]; FY26E EBITDA [F0021]. calc: 1,600 = 18.6 x 86.0 [F0011, F0012]. calc: 2,010 = 1,600 + 410 [F0013]. calc: 9.5x = 2,010 / 212 [F0014]. calc: 8.8x = 2,010 / 228 [F0021].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$21.00, $23.00, $25.00 (illustrative prices for discussion). calc: at $18.60: premium 0.0% = 18.6 / 18.6 - 1; equity 1,600 = 18.6 x 86.0; EV 2,010 = 1,600 + 410; 9.5x = 2,010 / 212; 8.8x = 2,010 / 228 [F0011, F0012, F0013, F0014, F0021]. calc: at $21.00: premium 12.9% = 21.0 / 18.6 - 1; equity 1,806 = 21.0 x 86.0; EV 2,216 = 1,806 + 410; 10.5x = 2,216 / 212; 9.7x = 2,216 / 228 [F0011, F0012, F0013, F0014, F0021]. calc: at $23.00: premium 23.7% = 23.0 / 18.6 - 1; equity 1,978 = 23.0 x 86.0; EV 2,388 = 1,978 + 410; 11.3x = 2,388 / 212; 10.5x = 2,388 / 228 [F0011, F0012, F0013, F0014, F0021]. calc: at $25.00: premium 34.4% = 25.0 / 18.6 - 1; equity 2,150 = 25.0 x 86.0; EV 2,560 = 2,150 + 410; 12.1x = 2,560 / 212; 11.2x = 2,560 / 228 [F0011, F0012, F0013, F0014, F0021].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52-week range $16.04 [F0064] to $20.02 [F0045]. calc: comps low $17.50 = (8.4 x 228 - 410) / 86.0; high $21.21 = (9.8 x 228 - 410) / 86.0 [F0021, F0013, F0012, F0096-F0110]. calc: precedents low $18.90 = (9.6 x 212 - 410) / 86.0; high $24.32 = (11.8 x 212 - 410) / 86.0 [F0014, F0036-F0043]. calc: DCF $18.30 to $25.89 = 3 x 3 grid of WACC and TGR [F0026, F0027, F0028, F0029, F0030, F0031, F0032, F0033, F0034]. calc: 1 of 4 ranges start above $18.60 [F0011]. The comps range drops the lowest and highest of 8.0x, 8.4x, 9.2x, 9.8x, 9.8x [F0096-F0110].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 Peer Arden 9.7x = 3,900 / 402 and 9.2x = 3,900 / 425 [F0096-F0110]. calc: Peer Bexley 8.9x = 2,650 / 298 and 8.4x = 2,650 / 315 [F0096-F0110]. calc: Peer Cairn 10.4x = 5,200 / 498 and 9.8x = 5,200 / 530 [F0096-F0110]. calc: Peer Dunmore 8.4x = 1,800 / 214 and 8.0x = 1,800 / 226 [F0096-F0110]. calc: Peer Esker 10.5x = 4,400 / 418 and 9.8x = 4,400 / 447 [F0096-F0110]. calc: median EV 3,900 = MEDIAN(3900, 2650, 5200, 1800, 4400); LTM 9.7x = MEDIAN(8.4, 8.9, 9.7, 10.4, 10.5); NTM 9.2x = MEDIAN(8.0, 8.4, 9.2, 9.8, 9.8) [F0096-F0110]. calc: Halden 2,010, 9.5x, 8.8x [F0011, F0012, F0013, F0014, F0021].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advisor scoring for discussion; no figures on this page. No option is marked recommended here: the recommendation follows the buyer and process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Capacities [F0002, F0004, F0006, F0008, F0010]; tiers [F0001, F0003, F0005, F0007, F0009]. Buyer names are code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dates for discussion, not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in the advisor's voice, after the analysis (research/pitchbook-findings.md rule 4). It restates earlier pages and adds no new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Disclaimer written for this sample and placed at the back, as in 5 of 8 coded pitch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rtlCol="0"/>
          <a:lstStyle>
            <a:lvl1pPr indent="0" marL="0">
              <a:buNone/>
              <a:defRPr lang="en-US" sz="850" dirty="0">
                <a:solidFill>
                  <a:srgbClr val="5B7089"/>
                </a:solidFill>
                <a:latin typeface="Arial" pitchFamily="34" charset="0"/>
                <a:ea typeface="Arial" pitchFamily="34" charset="-122"/>
                <a:cs typeface="Arial" pitchFamily="34" charset="-120"/>
              </a:defRPr>
            </a:lvl1pPr>
          </a:lstStyle>
          <a:p>
            <a:pPr indent="0" marL="0">
              <a:buNone/>
            </a:pP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rtlCol="0"/>
          <a:lstStyle>
            <a:lvl1pPr algn="l" indent="0" marL="0">
              <a:buNone/>
              <a:defRPr lang="en-US" sz="2000" b="1" dirty="0">
                <a:solidFill>
                  <a:srgbClr val="111827"/>
                </a:solidFill>
                <a:latin typeface="Arial" pitchFamily="34" charset="0"/>
                <a:ea typeface="Arial" pitchFamily="34" charset="-122"/>
                <a:cs typeface="Arial" pitchFamily="34" charset="-120"/>
              </a:defRPr>
            </a:lvl1pPr>
          </a:lstStyle>
          <a:p>
            <a:pPr algn="l" indent="0" marL="0">
              <a:buNone/>
            </a:pPr>
            <a:endParaRPr lang="en-US" sz="2000" dirty="0"/>
          </a:p>
        </p:txBody>
      </p:sp>
      <p:sp>
        <p:nvSpPr>
          <p:cNvPr id="4" name="Text 0"/>
          <p:cNvSpPr/>
          <p:nvPr>
            <p:ph idx="102" type="body" hasCustomPrompt="1"/>
          </p:nvPr>
        </p:nvSpPr>
        <p:spPr>
          <a:xfrm>
            <a:off x="457200" y="6382512"/>
            <a:ext cx="10454335" cy="274320"/>
          </a:xfrm>
          <a:prstGeom prst="rect">
            <a:avLst/>
          </a:prstGeom>
          <a:noFill/>
          <a:ln/>
        </p:spPr>
        <p:txBody>
          <a:bodyPr wrap="square" rtlCol="0"/>
          <a:lstStyle>
            <a:lvl1pPr indent="0" marL="0">
              <a:buNone/>
              <a:defRPr lang="en-US" sz="750" dirty="0">
                <a:solidFill>
                  <a:srgbClr val="5B7089"/>
                </a:solidFill>
                <a:latin typeface="Arial" pitchFamily="34" charset="0"/>
                <a:ea typeface="Arial" pitchFamily="34" charset="-122"/>
                <a:cs typeface="Arial" pitchFamily="34" charset="-120"/>
              </a:defRPr>
            </a:lvl1pPr>
          </a:lstStyle>
          <a:p>
            <a:pPr indent="0" marL="0">
              <a:buNone/>
            </a:pPr>
            <a:endParaRPr lang="en-US" sz="75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731520" y="2194560"/>
            <a:ext cx="9905695" cy="1280160"/>
          </a:xfrm>
          <a:prstGeom prst="rect">
            <a:avLst/>
          </a:prstGeom>
          <a:noFill/>
          <a:ln/>
        </p:spPr>
        <p:txBody>
          <a:bodyPr wrap="square" lIns="0" tIns="0" rIns="0" bIns="0" rtlCol="0" anchor="b"/>
          <a:lstStyle/>
          <a:p>
            <a:pPr indent="0" marL="0">
              <a:buNone/>
            </a:pPr>
            <a:r>
              <a:rPr lang="en-US" sz="3400" b="1" dirty="0">
                <a:solidFill>
                  <a:srgbClr val="FFFFFF"/>
                </a:solidFill>
                <a:latin typeface="Arial" pitchFamily="34" charset="0"/>
                <a:ea typeface="Arial" pitchFamily="34" charset="-122"/>
                <a:cs typeface="Arial" pitchFamily="34" charset="-120"/>
              </a:rPr>
              <a:t>Project Heron: strategic alternatives review</a:t>
            </a:r>
            <a:endParaRPr lang="en-US" sz="3400" dirty="0"/>
          </a:p>
        </p:txBody>
      </p:sp>
      <p:sp>
        <p:nvSpPr>
          <p:cNvPr id="3" name="Text 1"/>
          <p:cNvSpPr/>
          <p:nvPr/>
        </p:nvSpPr>
        <p:spPr>
          <a:xfrm>
            <a:off x="731520" y="3611880"/>
            <a:ext cx="9905695" cy="548640"/>
          </a:xfrm>
          <a:prstGeom prst="rect">
            <a:avLst/>
          </a:prstGeom>
          <a:noFill/>
          <a:ln/>
        </p:spPr>
        <p:txBody>
          <a:bodyPr wrap="square" lIns="0" tIns="0" rIns="0" bIns="0" rtlCol="0" anchor="t"/>
          <a:lstStyle/>
          <a:p>
            <a:pPr indent="0" marL="0">
              <a:buNone/>
            </a:pPr>
            <a:r>
              <a:rPr lang="en-US" sz="1600" dirty="0">
                <a:solidFill>
                  <a:srgbClr val="EDF1F6"/>
                </a:solidFill>
                <a:latin typeface="Arial" pitchFamily="34" charset="0"/>
                <a:ea typeface="Arial" pitchFamily="34" charset="-122"/>
                <a:cs typeface="Arial" pitchFamily="34" charset="-120"/>
              </a:rPr>
              <a:t>Discussion materials for the Board of Halden Freight Systems</a:t>
            </a:r>
            <a:endParaRPr lang="en-US" sz="1600" dirty="0"/>
          </a:p>
        </p:txBody>
      </p:sp>
      <p:sp>
        <p:nvSpPr>
          <p:cNvPr id="4" name="Text 2"/>
          <p:cNvSpPr/>
          <p:nvPr/>
        </p:nvSpPr>
        <p:spPr>
          <a:xfrm>
            <a:off x="731520" y="5943600"/>
            <a:ext cx="10362895" cy="365760"/>
          </a:xfrm>
          <a:prstGeom prst="rect">
            <a:avLst/>
          </a:prstGeom>
          <a:noFill/>
          <a:ln/>
        </p:spPr>
        <p:txBody>
          <a:bodyPr wrap="square" lIns="0" tIns="0" rIns="0" bIns="0" rtlCol="0" anchor="t"/>
          <a:lstStyle/>
          <a:p>
            <a:pPr indent="0" marL="0">
              <a:buNone/>
            </a:pPr>
            <a:r>
              <a:rPr lang="en-US" sz="1100" dirty="0">
                <a:solidFill>
                  <a:srgbClr val="EDF1F6"/>
                </a:solidFill>
                <a:latin typeface="Arial" pitchFamily="34" charset="0"/>
                <a:ea typeface="Arial" pitchFamily="34" charset="-122"/>
                <a:cs typeface="Arial" pitchFamily="34" charset="-120"/>
              </a:rPr>
              <a:t>Fictional sample · deck-studio</a:t>
            </a:r>
            <a:endParaRPr lang="en-US" sz="1100" dirty="0"/>
          </a:p>
        </p:txBody>
      </p:sp>
      <p:sp>
        <p:nvSpPr>
          <p:cNvPr id="5" name="Text 3"/>
          <p:cNvSpPr/>
          <p:nvPr/>
        </p:nvSpPr>
        <p:spPr>
          <a:xfrm>
            <a:off x="8716975" y="365760"/>
            <a:ext cx="2743200" cy="274320"/>
          </a:xfrm>
          <a:prstGeom prst="rect">
            <a:avLst/>
          </a:prstGeom>
          <a:noFill/>
          <a:ln/>
        </p:spPr>
        <p:txBody>
          <a:bodyPr wrap="square" lIns="0" tIns="0" rIns="0" bIns="0" rtlCol="0" anchor="t"/>
          <a:lstStyle/>
          <a:p>
            <a:pPr algn="r" indent="0" marL="0">
              <a:buNone/>
            </a:pPr>
            <a:r>
              <a:rPr lang="en-US" sz="1000" dirty="0">
                <a:solidFill>
                  <a:srgbClr val="EDF1F6"/>
                </a:solidFill>
                <a:latin typeface="Arial" pitchFamily="34" charset="0"/>
                <a:ea typeface="Arial" pitchFamily="34" charset="-122"/>
                <a:cs typeface="Arial" pitchFamily="34" charset="-120"/>
              </a:rPr>
              <a:t>Confidential · Preliminary draft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Key considerations</a:t>
            </a:r>
            <a:endParaRPr lang="en-US" sz="2000" dirty="0"/>
          </a:p>
        </p:txBody>
      </p:sp>
      <p:sp>
        <p:nvSpPr>
          <p:cNvPr id="3" name="Text 1"/>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sp>
        <p:nvSpPr>
          <p:cNvPr id="4" name="Shape 2"/>
          <p:cNvSpPr/>
          <p:nvPr/>
        </p:nvSpPr>
        <p:spPr>
          <a:xfrm>
            <a:off x="457200" y="1645920"/>
            <a:ext cx="11277295" cy="980694"/>
          </a:xfrm>
          <a:prstGeom prst="rect">
            <a:avLst/>
          </a:prstGeom>
          <a:solidFill>
            <a:srgbClr val="EDF1F6"/>
          </a:solidFill>
          <a:ln/>
        </p:spPr>
      </p:sp>
      <p:sp>
        <p:nvSpPr>
          <p:cNvPr id="5" name="Text 3"/>
          <p:cNvSpPr/>
          <p:nvPr/>
        </p:nvSpPr>
        <p:spPr>
          <a:xfrm>
            <a:off x="640080" y="1719072"/>
            <a:ext cx="10911535" cy="834390"/>
          </a:xfrm>
          <a:prstGeom prst="rect">
            <a:avLst/>
          </a:prstGeom>
          <a:noFill/>
          <a:ln/>
        </p:spPr>
        <p:txBody>
          <a:bodyPr wrap="square" lIns="0" tIns="0" rIns="0" bIns="0" rtlCol="0" anchor="ctr"/>
          <a:lstStyle/>
          <a:p>
            <a:pPr indent="0" marL="0">
              <a:spcAft>
                <a:spcPts val="200"/>
              </a:spcAft>
              <a:buNone/>
            </a:pPr>
            <a:r>
              <a:rPr lang="en-US" sz="1100" b="1" dirty="0">
                <a:solidFill>
                  <a:srgbClr val="111827"/>
                </a:solidFill>
                <a:latin typeface="Arial" pitchFamily="34" charset="0"/>
                <a:ea typeface="Arial" pitchFamily="34" charset="-122"/>
                <a:cs typeface="Arial" pitchFamily="34" charset="-120"/>
              </a:rPr>
              <a:t>Is the plan worth more than a sale?</a:t>
            </a:r>
            <a:endParaRPr lang="en-US" sz="1100" dirty="0"/>
          </a:p>
        </p:txBody>
      </p:sp>
      <p:sp>
        <p:nvSpPr>
          <p:cNvPr id="6" name="Shape 4"/>
          <p:cNvSpPr/>
          <p:nvPr/>
        </p:nvSpPr>
        <p:spPr>
          <a:xfrm>
            <a:off x="457200" y="2736342"/>
            <a:ext cx="11277295" cy="980694"/>
          </a:xfrm>
          <a:prstGeom prst="rect">
            <a:avLst/>
          </a:prstGeom>
          <a:solidFill>
            <a:srgbClr val="EDF1F6"/>
          </a:solidFill>
          <a:ln/>
        </p:spPr>
      </p:sp>
      <p:sp>
        <p:nvSpPr>
          <p:cNvPr id="7" name="Text 5"/>
          <p:cNvSpPr/>
          <p:nvPr/>
        </p:nvSpPr>
        <p:spPr>
          <a:xfrm>
            <a:off x="640080" y="2809494"/>
            <a:ext cx="10911535" cy="834390"/>
          </a:xfrm>
          <a:prstGeom prst="rect">
            <a:avLst/>
          </a:prstGeom>
          <a:noFill/>
          <a:ln/>
        </p:spPr>
        <p:txBody>
          <a:bodyPr wrap="square" lIns="0" tIns="0" rIns="0" bIns="0" rtlCol="0" anchor="ctr"/>
          <a:lstStyle/>
          <a:p>
            <a:pPr indent="0" marL="0">
              <a:spcAft>
                <a:spcPts val="200"/>
              </a:spcAft>
              <a:buNone/>
            </a:pPr>
            <a:r>
              <a:rPr lang="en-US" sz="1100" b="1" dirty="0">
                <a:solidFill>
                  <a:srgbClr val="111827"/>
                </a:solidFill>
                <a:latin typeface="Arial" pitchFamily="34" charset="0"/>
                <a:ea typeface="Arial" pitchFamily="34" charset="-122"/>
                <a:cs typeface="Arial" pitchFamily="34" charset="-120"/>
              </a:rPr>
              <a:t>Who could pay the most?</a:t>
            </a:r>
            <a:endParaRPr lang="en-US" sz="1100" dirty="0"/>
          </a:p>
        </p:txBody>
      </p:sp>
      <p:sp>
        <p:nvSpPr>
          <p:cNvPr id="8" name="Shape 6"/>
          <p:cNvSpPr/>
          <p:nvPr/>
        </p:nvSpPr>
        <p:spPr>
          <a:xfrm>
            <a:off x="457200" y="3826764"/>
            <a:ext cx="11277295" cy="980694"/>
          </a:xfrm>
          <a:prstGeom prst="rect">
            <a:avLst/>
          </a:prstGeom>
          <a:solidFill>
            <a:srgbClr val="EDF1F6"/>
          </a:solidFill>
          <a:ln/>
        </p:spPr>
      </p:sp>
      <p:sp>
        <p:nvSpPr>
          <p:cNvPr id="9" name="Text 7"/>
          <p:cNvSpPr/>
          <p:nvPr/>
        </p:nvSpPr>
        <p:spPr>
          <a:xfrm>
            <a:off x="640080" y="3899916"/>
            <a:ext cx="10911535" cy="834390"/>
          </a:xfrm>
          <a:prstGeom prst="rect">
            <a:avLst/>
          </a:prstGeom>
          <a:noFill/>
          <a:ln/>
        </p:spPr>
        <p:txBody>
          <a:bodyPr wrap="square" lIns="0" tIns="0" rIns="0" bIns="0" rtlCol="0" anchor="ctr"/>
          <a:lstStyle/>
          <a:p>
            <a:pPr indent="0" marL="0">
              <a:spcAft>
                <a:spcPts val="200"/>
              </a:spcAft>
              <a:buNone/>
            </a:pPr>
            <a:r>
              <a:rPr lang="en-US" sz="1100" b="1" dirty="0">
                <a:solidFill>
                  <a:srgbClr val="111827"/>
                </a:solidFill>
                <a:latin typeface="Arial" pitchFamily="34" charset="0"/>
                <a:ea typeface="Arial" pitchFamily="34" charset="-122"/>
                <a:cs typeface="Arial" pitchFamily="34" charset="-120"/>
              </a:rPr>
              <a:t>How much certainty does the Board need?</a:t>
            </a:r>
            <a:endParaRPr lang="en-US" sz="1100" dirty="0"/>
          </a:p>
        </p:txBody>
      </p:sp>
      <p:sp>
        <p:nvSpPr>
          <p:cNvPr id="10" name="Shape 8"/>
          <p:cNvSpPr/>
          <p:nvPr/>
        </p:nvSpPr>
        <p:spPr>
          <a:xfrm>
            <a:off x="457200" y="4917186"/>
            <a:ext cx="11277295" cy="980694"/>
          </a:xfrm>
          <a:prstGeom prst="rect">
            <a:avLst/>
          </a:prstGeom>
          <a:solidFill>
            <a:srgbClr val="EDF1F6"/>
          </a:solidFill>
          <a:ln/>
        </p:spPr>
      </p:sp>
      <p:sp>
        <p:nvSpPr>
          <p:cNvPr id="11" name="Text 9"/>
          <p:cNvSpPr/>
          <p:nvPr/>
        </p:nvSpPr>
        <p:spPr>
          <a:xfrm>
            <a:off x="640080" y="4990338"/>
            <a:ext cx="10911535" cy="834390"/>
          </a:xfrm>
          <a:prstGeom prst="rect">
            <a:avLst/>
          </a:prstGeom>
          <a:noFill/>
          <a:ln/>
        </p:spPr>
        <p:txBody>
          <a:bodyPr wrap="square" lIns="0" tIns="0" rIns="0" bIns="0" rtlCol="0" anchor="ctr"/>
          <a:lstStyle/>
          <a:p>
            <a:pPr indent="0" marL="0">
              <a:spcAft>
                <a:spcPts val="200"/>
              </a:spcAft>
              <a:buNone/>
            </a:pPr>
            <a:r>
              <a:rPr lang="en-US" sz="1100" b="1" dirty="0">
                <a:solidFill>
                  <a:srgbClr val="111827"/>
                </a:solidFill>
                <a:latin typeface="Arial" pitchFamily="34" charset="0"/>
                <a:ea typeface="Arial" pitchFamily="34" charset="-122"/>
                <a:cs typeface="Arial" pitchFamily="34" charset="-120"/>
              </a:rPr>
              <a:t>What would a process cost the business?</a:t>
            </a:r>
            <a:endParaRPr lang="en-US" sz="1100" dirty="0"/>
          </a:p>
        </p:txBody>
      </p:sp>
      <p:sp>
        <p:nvSpPr>
          <p:cNvPr id="1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endParaRPr lang="en-US" sz="850" dirty="0"/>
          </a:p>
        </p:txBody>
      </p:sp>
      <p:sp>
        <p:nvSpPr>
          <p:cNvPr id="13"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endParaRPr lang="en-US" sz="750" dirty="0"/>
          </a:p>
        </p:txBody>
      </p:sp>
      <p:sp>
        <p:nvSpPr>
          <p:cNvPr id="14"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b="1" dirty="0">
                <a:solidFill>
                  <a:srgbClr val="0B2545"/>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Alternatives   ·   </a:t>
            </a:r>
            <a:pPr indent="0" marL="0">
              <a:buNone/>
            </a:pPr>
            <a:r>
              <a:rPr lang="en-US" sz="850" dirty="0">
                <a:solidFill>
                  <a:srgbClr val="5B7089"/>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Market snapshot: $18.60 per share, 9.5x LTM EBITDA</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 in millions, except per-share values)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Company capitalization table; weekly closing prices to 1 Sep 2026; management projections (August 2026)</a:t>
            </a:r>
            <a:endParaRPr lang="en-US" sz="750" dirty="0"/>
          </a:p>
        </p:txBody>
      </p:sp>
      <p:sp>
        <p:nvSpPr>
          <p:cNvPr id="6" name="Text 4"/>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4754880"/>
                <a:gridCol w="2011680"/>
                <a:gridCol w="4480560"/>
              </a:tblGrid>
              <a:tr h="457200">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Basis</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457200">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Share price (1 Sep 2026)</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$18.60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Market close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52-week low / high</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$16.04 / $20.02</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Weekly closes</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Diluted shares</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86.0M</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Capitalization table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Equity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1,600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Price × diluted shares</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Net debt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410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Capitalization table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Enterprise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2,010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Equity value + net debt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EV / LTM EBITDA ($212M)</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EV / LTM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EV / FY26E EBITDA ($228M)</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Management case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bl>
          </a:graphicData>
        </a:graphic>
      </p:graphicFrame>
      <p:sp>
        <p:nvSpPr>
          <p:cNvPr id="8"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b="1" dirty="0">
                <a:solidFill>
                  <a:srgbClr val="0B2545"/>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Alternatives   ·   </a:t>
            </a:r>
            <a:pPr indent="0" marL="0">
              <a:buNone/>
            </a:pPr>
            <a:r>
              <a:rPr lang="en-US" sz="850" dirty="0">
                <a:solidFill>
                  <a:srgbClr val="5B7089"/>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Illustrative analysis at various prices</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 in millions, except per-share values)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Company capitalization table; management projections (August 2026)</a:t>
            </a:r>
            <a:endParaRPr lang="en-US" sz="750" dirty="0"/>
          </a:p>
        </p:txBody>
      </p:sp>
      <p:sp>
        <p:nvSpPr>
          <p:cNvPr id="6" name="Text 4"/>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3566160"/>
                <a:gridCol w="1920240"/>
                <a:gridCol w="1920240"/>
                <a:gridCol w="1920240"/>
                <a:gridCol w="1920240"/>
              </a:tblGrid>
              <a:tr h="457200">
                <a:tc>
                  <a:txBody>
                    <a:bodyPr/>
                    <a:lstStyle/>
                    <a:p>
                      <a:pPr algn="l" indent="0" marL="0">
                        <a:buNone/>
                      </a:pP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Current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Illustrative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Illustrative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Illustrative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457200">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Price per share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$18.60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$21.00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$23.00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$25.00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Premium to current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12.9%</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23.7%</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34.4%</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Equity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1,600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1,806</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1,978</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2,150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Enterprise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2,010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2,216</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2,388</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2,560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EV / LTM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11.3x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12.1x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EV / FY26E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9.7x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11.2x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bl>
          </a:graphicData>
        </a:graphic>
      </p:graphicFrame>
      <p:sp>
        <p:nvSpPr>
          <p:cNvPr id="8"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b="1" dirty="0">
                <a:solidFill>
                  <a:srgbClr val="0B2545"/>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Alternatives   ·   </a:t>
            </a:r>
            <a:pPr indent="0" marL="0">
              <a:buNone/>
            </a:pPr>
            <a:r>
              <a:rPr lang="en-US" sz="850" dirty="0">
                <a:solidFill>
                  <a:srgbClr val="5B7089"/>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Illustrative valuation: 1 of 4 ranges sit above $18.60</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(Implied value per share, $) (1)</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Management projections (August 2026); peer company filings; precedent transaction announcements; weekly closing prices to 1 Sep 2026</a:t>
            </a:r>
            <a:endParaRPr lang="en-US" sz="750" dirty="0"/>
          </a:p>
        </p:txBody>
      </p:sp>
      <p:sp>
        <p:nvSpPr>
          <p:cNvPr id="6" name="Text 4"/>
          <p:cNvSpPr/>
          <p:nvPr/>
        </p:nvSpPr>
        <p:spPr>
          <a:xfrm>
            <a:off x="457200" y="5943600"/>
            <a:ext cx="10454335" cy="41148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(1) Per-share values use 86.0M diluted shares and $410M net debt. Comps drop the lowest and highest multiple. DCF discounts FY26E–FY30E unlevered FCF, end-year convention.</a:t>
            </a:r>
            <a:endParaRPr lang="en-US" sz="750" dirty="0"/>
          </a:p>
        </p:txBody>
      </p:sp>
      <p:sp>
        <p:nvSpPr>
          <p:cNvPr id="7" name="Text 5"/>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8" name="Chart 0" descr="Illustrative valuation: 1 of 4 ranges sit above $18.60"/>
          <p:cNvGraphicFramePr/>
          <p:nvPr/>
        </p:nvGraphicFramePr>
        <p:xfrm>
          <a:off x="457200" y="1965960"/>
          <a:ext cx="11277295"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415888" y="4884496"/>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$18.30</a:t>
            </a:r>
            <a:endParaRPr lang="en-US" sz="1000" dirty="0"/>
          </a:p>
        </p:txBody>
      </p:sp>
      <p:sp>
        <p:nvSpPr>
          <p:cNvPr id="10" name="Text 7"/>
          <p:cNvSpPr/>
          <p:nvPr/>
        </p:nvSpPr>
        <p:spPr>
          <a:xfrm>
            <a:off x="9892283" y="4884496"/>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$25.89</a:t>
            </a:r>
            <a:endParaRPr lang="en-US" sz="1000" dirty="0"/>
          </a:p>
        </p:txBody>
      </p:sp>
      <p:sp>
        <p:nvSpPr>
          <p:cNvPr id="11" name="Text 8"/>
          <p:cNvSpPr/>
          <p:nvPr/>
        </p:nvSpPr>
        <p:spPr>
          <a:xfrm>
            <a:off x="6625646" y="4039133"/>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$18.90</a:t>
            </a:r>
            <a:endParaRPr lang="en-US" sz="1000" dirty="0"/>
          </a:p>
        </p:txBody>
      </p:sp>
      <p:sp>
        <p:nvSpPr>
          <p:cNvPr id="12" name="Text 9"/>
          <p:cNvSpPr/>
          <p:nvPr/>
        </p:nvSpPr>
        <p:spPr>
          <a:xfrm>
            <a:off x="9343417" y="4039133"/>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$24.32</a:t>
            </a:r>
            <a:endParaRPr lang="en-US" sz="1000" dirty="0"/>
          </a:p>
        </p:txBody>
      </p:sp>
      <p:sp>
        <p:nvSpPr>
          <p:cNvPr id="13" name="Text 10"/>
          <p:cNvSpPr/>
          <p:nvPr/>
        </p:nvSpPr>
        <p:spPr>
          <a:xfrm>
            <a:off x="6136212" y="3193771"/>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$17.50</a:t>
            </a:r>
            <a:endParaRPr lang="en-US" sz="1000" dirty="0"/>
          </a:p>
        </p:txBody>
      </p:sp>
      <p:sp>
        <p:nvSpPr>
          <p:cNvPr id="14" name="Text 11"/>
          <p:cNvSpPr/>
          <p:nvPr/>
        </p:nvSpPr>
        <p:spPr>
          <a:xfrm>
            <a:off x="8256173" y="3193771"/>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$21.21</a:t>
            </a:r>
            <a:endParaRPr lang="en-US" sz="1000" dirty="0"/>
          </a:p>
        </p:txBody>
      </p:sp>
      <p:sp>
        <p:nvSpPr>
          <p:cNvPr id="15" name="Text 12"/>
          <p:cNvSpPr/>
          <p:nvPr/>
        </p:nvSpPr>
        <p:spPr>
          <a:xfrm>
            <a:off x="5625801" y="2348408"/>
            <a:ext cx="731520" cy="237744"/>
          </a:xfrm>
          <a:prstGeom prst="rect">
            <a:avLst/>
          </a:prstGeom>
          <a:noFill/>
          <a:ln/>
        </p:spPr>
        <p:txBody>
          <a:bodyPr wrap="square" lIns="0" tIns="0" rIns="0" bIns="0" rtlCol="0" anchor="t"/>
          <a:lstStyle/>
          <a:p>
            <a:pPr algn="r" indent="0" marL="0">
              <a:buNone/>
            </a:pPr>
            <a:r>
              <a:rPr lang="en-US" sz="1000" dirty="0">
                <a:solidFill>
                  <a:srgbClr val="111827"/>
                </a:solidFill>
                <a:latin typeface="Arial" pitchFamily="34" charset="0"/>
                <a:ea typeface="Arial" pitchFamily="34" charset="-122"/>
                <a:cs typeface="Arial" pitchFamily="34" charset="-120"/>
              </a:rPr>
              <a:t>$16.04</a:t>
            </a:r>
            <a:endParaRPr lang="en-US" sz="1000" dirty="0"/>
          </a:p>
        </p:txBody>
      </p:sp>
      <p:sp>
        <p:nvSpPr>
          <p:cNvPr id="16" name="Text 13"/>
          <p:cNvSpPr/>
          <p:nvPr/>
        </p:nvSpPr>
        <p:spPr>
          <a:xfrm>
            <a:off x="7840154" y="2348408"/>
            <a:ext cx="731520" cy="237744"/>
          </a:xfrm>
          <a:prstGeom prst="rect">
            <a:avLst/>
          </a:prstGeom>
          <a:noFill/>
          <a:ln/>
        </p:spPr>
        <p:txBody>
          <a:bodyPr wrap="square" lIns="0" tIns="0" rIns="0" bIns="0" rtlCol="0" anchor="t"/>
          <a:lstStyle/>
          <a:p>
            <a:pPr indent="0" marL="0">
              <a:buNone/>
            </a:pPr>
            <a:r>
              <a:rPr lang="en-US" sz="1000" dirty="0">
                <a:solidFill>
                  <a:srgbClr val="111827"/>
                </a:solidFill>
                <a:latin typeface="Arial" pitchFamily="34" charset="0"/>
                <a:ea typeface="Arial" pitchFamily="34" charset="-122"/>
                <a:cs typeface="Arial" pitchFamily="34" charset="-120"/>
              </a:rPr>
              <a:t>$20.02</a:t>
            </a:r>
            <a:endParaRPr lang="en-US" sz="1000" dirty="0"/>
          </a:p>
        </p:txBody>
      </p:sp>
      <p:sp>
        <p:nvSpPr>
          <p:cNvPr id="17" name="Shape 14"/>
          <p:cNvSpPr/>
          <p:nvPr/>
        </p:nvSpPr>
        <p:spPr>
          <a:xfrm>
            <a:off x="7298007" y="1984248"/>
            <a:ext cx="0" cy="3381451"/>
          </a:xfrm>
          <a:prstGeom prst="line">
            <a:avLst/>
          </a:prstGeom>
          <a:noFill/>
          <a:ln w="22225">
            <a:solidFill>
              <a:srgbClr val="8A6A00"/>
            </a:solidFill>
            <a:prstDash val="dash"/>
          </a:ln>
        </p:spPr>
      </p:sp>
      <p:sp>
        <p:nvSpPr>
          <p:cNvPr id="18" name="Text 15"/>
          <p:cNvSpPr/>
          <p:nvPr/>
        </p:nvSpPr>
        <p:spPr>
          <a:xfrm>
            <a:off x="6292167" y="1627632"/>
            <a:ext cx="2011680" cy="274320"/>
          </a:xfrm>
          <a:prstGeom prst="rect">
            <a:avLst/>
          </a:prstGeom>
          <a:noFill/>
          <a:ln/>
        </p:spPr>
        <p:txBody>
          <a:bodyPr wrap="square" lIns="0" tIns="0" rIns="0" bIns="0" rtlCol="0" anchor="t"/>
          <a:lstStyle/>
          <a:p>
            <a:pPr algn="ctr" indent="0" marL="0">
              <a:buNone/>
            </a:pPr>
            <a:r>
              <a:rPr lang="en-US" sz="1000" b="1" dirty="0">
                <a:solidFill>
                  <a:srgbClr val="8A6A00"/>
                </a:solidFill>
                <a:latin typeface="Arial" pitchFamily="34" charset="0"/>
                <a:ea typeface="Arial" pitchFamily="34" charset="-122"/>
                <a:cs typeface="Arial" pitchFamily="34" charset="-120"/>
              </a:rPr>
              <a:t>Current $18.60</a:t>
            </a:r>
            <a:endParaRPr lang="en-US" sz="1000" dirty="0"/>
          </a:p>
        </p:txBody>
      </p:sp>
      <p:sp>
        <p:nvSpPr>
          <p:cNvPr id="19"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b="1" dirty="0">
                <a:solidFill>
                  <a:srgbClr val="0B2545"/>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Alternatives   ·   </a:t>
            </a:r>
            <a:pPr indent="0" marL="0">
              <a:buNone/>
            </a:pPr>
            <a:r>
              <a:rPr lang="en-US" sz="850" dirty="0">
                <a:solidFill>
                  <a:srgbClr val="5B7089"/>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Trading comps: peers trade at a 9.2x FY26E median</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 in millions)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Peer company filings; company capitalization table as of 1 Sep 2026</a:t>
            </a:r>
            <a:endParaRPr lang="en-US" sz="750" dirty="0"/>
          </a:p>
        </p:txBody>
      </p:sp>
      <p:sp>
        <p:nvSpPr>
          <p:cNvPr id="6" name="Text 4"/>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4389120"/>
                <a:gridCol w="2286000"/>
                <a:gridCol w="2286000"/>
                <a:gridCol w="2286000"/>
              </a:tblGrid>
              <a:tr h="457200">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Company</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Enterprise value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EV / LTM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EV / NTM EBITDA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Arden</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3,900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9.7x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9.2x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Bexley</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2,650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8.9x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8.4x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Cairn</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5,200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10.4x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Dunmore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1,800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8.4x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8.0x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Peer Esker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4,400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10.5x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Median</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3,900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9.7x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9.2x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9525" cap="flat" cmpd="sng" algn="ctr">
                      <a:solidFill>
                        <a:srgbClr val="111827"/>
                      </a:solidFill>
                      <a:prstDash val="solid"/>
                      <a:round/>
                      <a:headEnd type="none" w="med" len="med"/>
                      <a:tailEnd type="none" w="med" len="med"/>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b="1" dirty="0">
                          <a:solidFill>
                            <a:srgbClr val="111827"/>
                          </a:solidFill>
                          <a:latin typeface="Arial" pitchFamily="34" charset="0"/>
                          <a:ea typeface="Arial" pitchFamily="34" charset="-122"/>
                          <a:cs typeface="Arial" pitchFamily="34" charset="-120"/>
                        </a:rPr>
                        <a:t>Halden at current</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2,010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9.5x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c>
                  <a:txBody>
                    <a:bodyPr/>
                    <a:lstStyle/>
                    <a:p>
                      <a:pPr algn="r" indent="0" marL="0">
                        <a:buNone/>
                      </a:pPr>
                      <a:r>
                        <a:rPr lang="en-US" sz="1100" b="1" dirty="0">
                          <a:solidFill>
                            <a:srgbClr val="111827"/>
                          </a:solidFill>
                          <a:latin typeface="Arial" pitchFamily="34" charset="0"/>
                          <a:ea typeface="Arial" pitchFamily="34" charset="-122"/>
                          <a:cs typeface="Arial" pitchFamily="34" charset="-120"/>
                        </a:rPr>
                        <a:t>8.8x</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solidFill>
                      <a:srgbClr val="F5EEDC"/>
                    </a:solidFill>
                  </a:tcPr>
                </a:tc>
              </a:tr>
            </a:tbl>
          </a:graphicData>
        </a:graphic>
      </p:graphicFrame>
      <p:sp>
        <p:nvSpPr>
          <p:cNvPr id="8"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b="1" dirty="0">
                <a:solidFill>
                  <a:srgbClr val="0B2545"/>
                </a:solidFill>
                <a:latin typeface="Arial" pitchFamily="34" charset="0"/>
                <a:ea typeface="Arial" pitchFamily="34" charset="-122"/>
                <a:cs typeface="Arial" pitchFamily="34" charset="-120"/>
              </a:rPr>
              <a:t>3 Alternatives   ·   </a:t>
            </a:r>
            <a:pPr indent="0" marL="0">
              <a:buNone/>
            </a:pPr>
            <a:r>
              <a:rPr lang="en-US" sz="850" dirty="0">
                <a:solidFill>
                  <a:srgbClr val="5B7089"/>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Alternatives: four paths compared on the Board's criteria</a:t>
            </a:r>
            <a:endParaRPr lang="en-US" sz="2000" dirty="0"/>
          </a:p>
        </p:txBody>
      </p:sp>
      <p:sp>
        <p:nvSpPr>
          <p:cNvPr id="4" name="Text 2"/>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sp>
        <p:nvSpPr>
          <p:cNvPr id="5" name="Text 3"/>
          <p:cNvSpPr/>
          <p:nvPr/>
        </p:nvSpPr>
        <p:spPr>
          <a:xfrm>
            <a:off x="2834640" y="1645920"/>
            <a:ext cx="2224964" cy="36576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Value to shareholders</a:t>
            </a:r>
            <a:endParaRPr lang="en-US" sz="1000" dirty="0"/>
          </a:p>
        </p:txBody>
      </p:sp>
      <p:sp>
        <p:nvSpPr>
          <p:cNvPr id="6" name="Text 4"/>
          <p:cNvSpPr/>
          <p:nvPr/>
        </p:nvSpPr>
        <p:spPr>
          <a:xfrm>
            <a:off x="5059604" y="1645920"/>
            <a:ext cx="2224964" cy="36576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Certainty of value</a:t>
            </a:r>
            <a:endParaRPr lang="en-US" sz="1000" dirty="0"/>
          </a:p>
        </p:txBody>
      </p:sp>
      <p:sp>
        <p:nvSpPr>
          <p:cNvPr id="7" name="Text 5"/>
          <p:cNvSpPr/>
          <p:nvPr/>
        </p:nvSpPr>
        <p:spPr>
          <a:xfrm>
            <a:off x="7284568" y="1645920"/>
            <a:ext cx="2224964" cy="36576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Speed to close</a:t>
            </a:r>
            <a:endParaRPr lang="en-US" sz="1000" dirty="0"/>
          </a:p>
        </p:txBody>
      </p:sp>
      <p:sp>
        <p:nvSpPr>
          <p:cNvPr id="8" name="Text 6"/>
          <p:cNvSpPr/>
          <p:nvPr/>
        </p:nvSpPr>
        <p:spPr>
          <a:xfrm>
            <a:off x="9509531" y="1645920"/>
            <a:ext cx="2224964" cy="36576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Low disruption</a:t>
            </a:r>
            <a:endParaRPr lang="en-US" sz="1000" dirty="0"/>
          </a:p>
        </p:txBody>
      </p:sp>
      <p:sp>
        <p:nvSpPr>
          <p:cNvPr id="9" name="Text 7"/>
          <p:cNvSpPr/>
          <p:nvPr/>
        </p:nvSpPr>
        <p:spPr>
          <a:xfrm>
            <a:off x="594360" y="2148840"/>
            <a:ext cx="2194560" cy="310896"/>
          </a:xfrm>
          <a:prstGeom prst="rect">
            <a:avLst/>
          </a:prstGeom>
          <a:noFill/>
          <a:ln/>
        </p:spPr>
        <p:txBody>
          <a:bodyPr wrap="square" lIns="0" tIns="0" rIns="0" bIns="0" rtlCol="0" anchor="ctr"/>
          <a:lstStyle/>
          <a:p>
            <a:pPr indent="0" marL="0">
              <a:buNone/>
            </a:pPr>
            <a:r>
              <a:rPr lang="en-US" sz="1100" dirty="0">
                <a:solidFill>
                  <a:srgbClr val="111827"/>
                </a:solidFill>
                <a:latin typeface="Arial" pitchFamily="34" charset="0"/>
                <a:ea typeface="Arial" pitchFamily="34" charset="-122"/>
                <a:cs typeface="Arial" pitchFamily="34" charset="-120"/>
              </a:rPr>
              <a:t>Stand-alone plan</a:t>
            </a:r>
            <a:endParaRPr lang="en-US" sz="1100" dirty="0"/>
          </a:p>
        </p:txBody>
      </p:sp>
      <p:sp>
        <p:nvSpPr>
          <p:cNvPr id="10" name="Shape 8"/>
          <p:cNvSpPr/>
          <p:nvPr/>
        </p:nvSpPr>
        <p:spPr>
          <a:xfrm>
            <a:off x="3791674" y="2148840"/>
            <a:ext cx="310896" cy="310896"/>
          </a:xfrm>
          <a:prstGeom prst="ellipse">
            <a:avLst/>
          </a:prstGeom>
          <a:solidFill>
            <a:srgbClr val="FFFFFF"/>
          </a:solidFill>
          <a:ln w="15875">
            <a:solidFill>
              <a:srgbClr val="0B2545"/>
            </a:solidFill>
            <a:prstDash val="solid"/>
          </a:ln>
        </p:spPr>
      </p:sp>
      <p:sp>
        <p:nvSpPr>
          <p:cNvPr id="11" name="Shape 9"/>
          <p:cNvSpPr/>
          <p:nvPr/>
        </p:nvSpPr>
        <p:spPr>
          <a:xfrm>
            <a:off x="3791674" y="2148840"/>
            <a:ext cx="310896" cy="310896"/>
          </a:xfrm>
          <a:prstGeom prst="pie">
            <a:avLst>
              <a:gd name="adj1" fmla="val 16200000"/>
              <a:gd name="adj2" fmla="val 5400000"/>
            </a:avLst>
          </a:prstGeom>
          <a:solidFill>
            <a:srgbClr val="0B2545"/>
          </a:solidFill>
          <a:ln/>
        </p:spPr>
      </p:sp>
      <p:sp>
        <p:nvSpPr>
          <p:cNvPr id="12" name="Shape 10"/>
          <p:cNvSpPr/>
          <p:nvPr/>
        </p:nvSpPr>
        <p:spPr>
          <a:xfrm>
            <a:off x="6016638" y="2148840"/>
            <a:ext cx="310896" cy="310896"/>
          </a:xfrm>
          <a:prstGeom prst="ellipse">
            <a:avLst/>
          </a:prstGeom>
          <a:solidFill>
            <a:srgbClr val="FFFFFF"/>
          </a:solidFill>
          <a:ln w="15875">
            <a:solidFill>
              <a:srgbClr val="0B2545"/>
            </a:solidFill>
            <a:prstDash val="solid"/>
          </a:ln>
        </p:spPr>
      </p:sp>
      <p:sp>
        <p:nvSpPr>
          <p:cNvPr id="13" name="Shape 11"/>
          <p:cNvSpPr/>
          <p:nvPr/>
        </p:nvSpPr>
        <p:spPr>
          <a:xfrm>
            <a:off x="6016638" y="2148840"/>
            <a:ext cx="310896" cy="310896"/>
          </a:xfrm>
          <a:prstGeom prst="pie">
            <a:avLst>
              <a:gd name="adj1" fmla="val 16200000"/>
              <a:gd name="adj2" fmla="val 21600000"/>
            </a:avLst>
          </a:prstGeom>
          <a:solidFill>
            <a:srgbClr val="0B2545"/>
          </a:solidFill>
          <a:ln/>
        </p:spPr>
      </p:sp>
      <p:sp>
        <p:nvSpPr>
          <p:cNvPr id="14" name="Shape 12"/>
          <p:cNvSpPr/>
          <p:nvPr/>
        </p:nvSpPr>
        <p:spPr>
          <a:xfrm>
            <a:off x="8241602" y="2148840"/>
            <a:ext cx="310896" cy="310896"/>
          </a:xfrm>
          <a:prstGeom prst="ellipse">
            <a:avLst/>
          </a:prstGeom>
          <a:solidFill>
            <a:srgbClr val="FFFFFF"/>
          </a:solidFill>
          <a:ln w="15875">
            <a:solidFill>
              <a:srgbClr val="0B2545"/>
            </a:solidFill>
            <a:prstDash val="solid"/>
          </a:ln>
        </p:spPr>
      </p:sp>
      <p:sp>
        <p:nvSpPr>
          <p:cNvPr id="15" name="Shape 13"/>
          <p:cNvSpPr/>
          <p:nvPr/>
        </p:nvSpPr>
        <p:spPr>
          <a:xfrm>
            <a:off x="8241602" y="2148840"/>
            <a:ext cx="310896" cy="310896"/>
          </a:xfrm>
          <a:prstGeom prst="ellipse">
            <a:avLst/>
          </a:prstGeom>
          <a:solidFill>
            <a:srgbClr val="0B2545"/>
          </a:solidFill>
          <a:ln w="15875">
            <a:solidFill>
              <a:srgbClr val="0B2545"/>
            </a:solidFill>
            <a:prstDash val="solid"/>
          </a:ln>
        </p:spPr>
      </p:sp>
      <p:sp>
        <p:nvSpPr>
          <p:cNvPr id="16" name="Shape 14"/>
          <p:cNvSpPr/>
          <p:nvPr/>
        </p:nvSpPr>
        <p:spPr>
          <a:xfrm>
            <a:off x="10466565" y="2148840"/>
            <a:ext cx="310896" cy="310896"/>
          </a:xfrm>
          <a:prstGeom prst="ellipse">
            <a:avLst/>
          </a:prstGeom>
          <a:solidFill>
            <a:srgbClr val="FFFFFF"/>
          </a:solidFill>
          <a:ln w="15875">
            <a:solidFill>
              <a:srgbClr val="0B2545"/>
            </a:solidFill>
            <a:prstDash val="solid"/>
          </a:ln>
        </p:spPr>
      </p:sp>
      <p:sp>
        <p:nvSpPr>
          <p:cNvPr id="17" name="Shape 15"/>
          <p:cNvSpPr/>
          <p:nvPr/>
        </p:nvSpPr>
        <p:spPr>
          <a:xfrm>
            <a:off x="10466565" y="2148840"/>
            <a:ext cx="310896" cy="310896"/>
          </a:xfrm>
          <a:prstGeom prst="ellipse">
            <a:avLst/>
          </a:prstGeom>
          <a:solidFill>
            <a:srgbClr val="0B2545"/>
          </a:solidFill>
          <a:ln w="15875">
            <a:solidFill>
              <a:srgbClr val="0B2545"/>
            </a:solidFill>
            <a:prstDash val="solid"/>
          </a:ln>
        </p:spPr>
      </p:sp>
      <p:sp>
        <p:nvSpPr>
          <p:cNvPr id="18" name="Text 16"/>
          <p:cNvSpPr/>
          <p:nvPr/>
        </p:nvSpPr>
        <p:spPr>
          <a:xfrm>
            <a:off x="594360" y="2862072"/>
            <a:ext cx="2194560" cy="310896"/>
          </a:xfrm>
          <a:prstGeom prst="rect">
            <a:avLst/>
          </a:prstGeom>
          <a:noFill/>
          <a:ln/>
        </p:spPr>
        <p:txBody>
          <a:bodyPr wrap="square" lIns="0" tIns="0" rIns="0" bIns="0" rtlCol="0" anchor="ctr"/>
          <a:lstStyle/>
          <a:p>
            <a:pPr indent="0" marL="0">
              <a:buNone/>
            </a:pPr>
            <a:r>
              <a:rPr lang="en-US" sz="1100" dirty="0">
                <a:solidFill>
                  <a:srgbClr val="111827"/>
                </a:solidFill>
                <a:latin typeface="Arial" pitchFamily="34" charset="0"/>
                <a:ea typeface="Arial" pitchFamily="34" charset="-122"/>
                <a:cs typeface="Arial" pitchFamily="34" charset="-120"/>
              </a:rPr>
              <a:t>Leveraged recapitalisation</a:t>
            </a:r>
            <a:endParaRPr lang="en-US" sz="1100" dirty="0"/>
          </a:p>
        </p:txBody>
      </p:sp>
      <p:sp>
        <p:nvSpPr>
          <p:cNvPr id="19" name="Shape 17"/>
          <p:cNvSpPr/>
          <p:nvPr/>
        </p:nvSpPr>
        <p:spPr>
          <a:xfrm>
            <a:off x="3791674" y="2862072"/>
            <a:ext cx="310896" cy="310896"/>
          </a:xfrm>
          <a:prstGeom prst="ellipse">
            <a:avLst/>
          </a:prstGeom>
          <a:solidFill>
            <a:srgbClr val="FFFFFF"/>
          </a:solidFill>
          <a:ln w="15875">
            <a:solidFill>
              <a:srgbClr val="0B2545"/>
            </a:solidFill>
            <a:prstDash val="solid"/>
          </a:ln>
        </p:spPr>
      </p:sp>
      <p:sp>
        <p:nvSpPr>
          <p:cNvPr id="20" name="Shape 18"/>
          <p:cNvSpPr/>
          <p:nvPr/>
        </p:nvSpPr>
        <p:spPr>
          <a:xfrm>
            <a:off x="3791674" y="2862072"/>
            <a:ext cx="310896" cy="310896"/>
          </a:xfrm>
          <a:prstGeom prst="pie">
            <a:avLst>
              <a:gd name="adj1" fmla="val 16200000"/>
              <a:gd name="adj2" fmla="val 5400000"/>
            </a:avLst>
          </a:prstGeom>
          <a:solidFill>
            <a:srgbClr val="0B2545"/>
          </a:solidFill>
          <a:ln/>
        </p:spPr>
      </p:sp>
      <p:sp>
        <p:nvSpPr>
          <p:cNvPr id="21" name="Shape 19"/>
          <p:cNvSpPr/>
          <p:nvPr/>
        </p:nvSpPr>
        <p:spPr>
          <a:xfrm>
            <a:off x="6016638" y="2862072"/>
            <a:ext cx="310896" cy="310896"/>
          </a:xfrm>
          <a:prstGeom prst="ellipse">
            <a:avLst/>
          </a:prstGeom>
          <a:solidFill>
            <a:srgbClr val="FFFFFF"/>
          </a:solidFill>
          <a:ln w="15875">
            <a:solidFill>
              <a:srgbClr val="0B2545"/>
            </a:solidFill>
            <a:prstDash val="solid"/>
          </a:ln>
        </p:spPr>
      </p:sp>
      <p:sp>
        <p:nvSpPr>
          <p:cNvPr id="22" name="Shape 20"/>
          <p:cNvSpPr/>
          <p:nvPr/>
        </p:nvSpPr>
        <p:spPr>
          <a:xfrm>
            <a:off x="6016638" y="2862072"/>
            <a:ext cx="310896" cy="310896"/>
          </a:xfrm>
          <a:prstGeom prst="pie">
            <a:avLst>
              <a:gd name="adj1" fmla="val 16200000"/>
              <a:gd name="adj2" fmla="val 5400000"/>
            </a:avLst>
          </a:prstGeom>
          <a:solidFill>
            <a:srgbClr val="0B2545"/>
          </a:solidFill>
          <a:ln/>
        </p:spPr>
      </p:sp>
      <p:sp>
        <p:nvSpPr>
          <p:cNvPr id="23" name="Shape 21"/>
          <p:cNvSpPr/>
          <p:nvPr/>
        </p:nvSpPr>
        <p:spPr>
          <a:xfrm>
            <a:off x="8241602" y="2862072"/>
            <a:ext cx="310896" cy="310896"/>
          </a:xfrm>
          <a:prstGeom prst="ellipse">
            <a:avLst/>
          </a:prstGeom>
          <a:solidFill>
            <a:srgbClr val="FFFFFF"/>
          </a:solidFill>
          <a:ln w="15875">
            <a:solidFill>
              <a:srgbClr val="0B2545"/>
            </a:solidFill>
            <a:prstDash val="solid"/>
          </a:ln>
        </p:spPr>
      </p:sp>
      <p:sp>
        <p:nvSpPr>
          <p:cNvPr id="24" name="Shape 22"/>
          <p:cNvSpPr/>
          <p:nvPr/>
        </p:nvSpPr>
        <p:spPr>
          <a:xfrm>
            <a:off x="8241602" y="2862072"/>
            <a:ext cx="310896" cy="310896"/>
          </a:xfrm>
          <a:prstGeom prst="pie">
            <a:avLst>
              <a:gd name="adj1" fmla="val 16200000"/>
              <a:gd name="adj2" fmla="val 10800000"/>
            </a:avLst>
          </a:prstGeom>
          <a:solidFill>
            <a:srgbClr val="0B2545"/>
          </a:solidFill>
          <a:ln/>
        </p:spPr>
      </p:sp>
      <p:sp>
        <p:nvSpPr>
          <p:cNvPr id="25" name="Shape 23"/>
          <p:cNvSpPr/>
          <p:nvPr/>
        </p:nvSpPr>
        <p:spPr>
          <a:xfrm>
            <a:off x="10466565" y="2862072"/>
            <a:ext cx="310896" cy="310896"/>
          </a:xfrm>
          <a:prstGeom prst="ellipse">
            <a:avLst/>
          </a:prstGeom>
          <a:solidFill>
            <a:srgbClr val="FFFFFF"/>
          </a:solidFill>
          <a:ln w="15875">
            <a:solidFill>
              <a:srgbClr val="0B2545"/>
            </a:solidFill>
            <a:prstDash val="solid"/>
          </a:ln>
        </p:spPr>
      </p:sp>
      <p:sp>
        <p:nvSpPr>
          <p:cNvPr id="26" name="Shape 24"/>
          <p:cNvSpPr/>
          <p:nvPr/>
        </p:nvSpPr>
        <p:spPr>
          <a:xfrm>
            <a:off x="10466565" y="2862072"/>
            <a:ext cx="310896" cy="310896"/>
          </a:xfrm>
          <a:prstGeom prst="pie">
            <a:avLst>
              <a:gd name="adj1" fmla="val 16200000"/>
              <a:gd name="adj2" fmla="val 10800000"/>
            </a:avLst>
          </a:prstGeom>
          <a:solidFill>
            <a:srgbClr val="0B2545"/>
          </a:solidFill>
          <a:ln/>
        </p:spPr>
      </p:sp>
      <p:sp>
        <p:nvSpPr>
          <p:cNvPr id="27" name="Text 25"/>
          <p:cNvSpPr/>
          <p:nvPr/>
        </p:nvSpPr>
        <p:spPr>
          <a:xfrm>
            <a:off x="594360" y="3575304"/>
            <a:ext cx="2194560" cy="310896"/>
          </a:xfrm>
          <a:prstGeom prst="rect">
            <a:avLst/>
          </a:prstGeom>
          <a:noFill/>
          <a:ln/>
        </p:spPr>
        <p:txBody>
          <a:bodyPr wrap="square" lIns="0" tIns="0" rIns="0" bIns="0" rtlCol="0" anchor="ctr"/>
          <a:lstStyle/>
          <a:p>
            <a:pPr indent="0" marL="0">
              <a:buNone/>
            </a:pPr>
            <a:r>
              <a:rPr lang="en-US" sz="1100" dirty="0">
                <a:solidFill>
                  <a:srgbClr val="111827"/>
                </a:solidFill>
                <a:latin typeface="Arial" pitchFamily="34" charset="0"/>
                <a:ea typeface="Arial" pitchFamily="34" charset="-122"/>
                <a:cs typeface="Arial" pitchFamily="34" charset="-120"/>
              </a:rPr>
              <a:t>Sale to a strategic</a:t>
            </a:r>
            <a:endParaRPr lang="en-US" sz="1100" dirty="0"/>
          </a:p>
        </p:txBody>
      </p:sp>
      <p:sp>
        <p:nvSpPr>
          <p:cNvPr id="28" name="Shape 26"/>
          <p:cNvSpPr/>
          <p:nvPr/>
        </p:nvSpPr>
        <p:spPr>
          <a:xfrm>
            <a:off x="3791674" y="3575304"/>
            <a:ext cx="310896" cy="310896"/>
          </a:xfrm>
          <a:prstGeom prst="ellipse">
            <a:avLst/>
          </a:prstGeom>
          <a:solidFill>
            <a:srgbClr val="FFFFFF"/>
          </a:solidFill>
          <a:ln w="15875">
            <a:solidFill>
              <a:srgbClr val="0B2545"/>
            </a:solidFill>
            <a:prstDash val="solid"/>
          </a:ln>
        </p:spPr>
      </p:sp>
      <p:sp>
        <p:nvSpPr>
          <p:cNvPr id="29" name="Shape 27"/>
          <p:cNvSpPr/>
          <p:nvPr/>
        </p:nvSpPr>
        <p:spPr>
          <a:xfrm>
            <a:off x="3791674" y="3575304"/>
            <a:ext cx="310896" cy="310896"/>
          </a:xfrm>
          <a:prstGeom prst="ellipse">
            <a:avLst/>
          </a:prstGeom>
          <a:solidFill>
            <a:srgbClr val="0B2545"/>
          </a:solidFill>
          <a:ln w="15875">
            <a:solidFill>
              <a:srgbClr val="0B2545"/>
            </a:solidFill>
            <a:prstDash val="solid"/>
          </a:ln>
        </p:spPr>
      </p:sp>
      <p:sp>
        <p:nvSpPr>
          <p:cNvPr id="30" name="Shape 28"/>
          <p:cNvSpPr/>
          <p:nvPr/>
        </p:nvSpPr>
        <p:spPr>
          <a:xfrm>
            <a:off x="6016638" y="3575304"/>
            <a:ext cx="310896" cy="310896"/>
          </a:xfrm>
          <a:prstGeom prst="ellipse">
            <a:avLst/>
          </a:prstGeom>
          <a:solidFill>
            <a:srgbClr val="FFFFFF"/>
          </a:solidFill>
          <a:ln w="15875">
            <a:solidFill>
              <a:srgbClr val="0B2545"/>
            </a:solidFill>
            <a:prstDash val="solid"/>
          </a:ln>
        </p:spPr>
      </p:sp>
      <p:sp>
        <p:nvSpPr>
          <p:cNvPr id="31" name="Shape 29"/>
          <p:cNvSpPr/>
          <p:nvPr/>
        </p:nvSpPr>
        <p:spPr>
          <a:xfrm>
            <a:off x="6016638" y="3575304"/>
            <a:ext cx="310896" cy="310896"/>
          </a:xfrm>
          <a:prstGeom prst="pie">
            <a:avLst>
              <a:gd name="adj1" fmla="val 16200000"/>
              <a:gd name="adj2" fmla="val 10800000"/>
            </a:avLst>
          </a:prstGeom>
          <a:solidFill>
            <a:srgbClr val="0B2545"/>
          </a:solidFill>
          <a:ln/>
        </p:spPr>
      </p:sp>
      <p:sp>
        <p:nvSpPr>
          <p:cNvPr id="32" name="Shape 30"/>
          <p:cNvSpPr/>
          <p:nvPr/>
        </p:nvSpPr>
        <p:spPr>
          <a:xfrm>
            <a:off x="8241602" y="3575304"/>
            <a:ext cx="310896" cy="310896"/>
          </a:xfrm>
          <a:prstGeom prst="ellipse">
            <a:avLst/>
          </a:prstGeom>
          <a:solidFill>
            <a:srgbClr val="FFFFFF"/>
          </a:solidFill>
          <a:ln w="15875">
            <a:solidFill>
              <a:srgbClr val="0B2545"/>
            </a:solidFill>
            <a:prstDash val="solid"/>
          </a:ln>
        </p:spPr>
      </p:sp>
      <p:sp>
        <p:nvSpPr>
          <p:cNvPr id="33" name="Shape 31"/>
          <p:cNvSpPr/>
          <p:nvPr/>
        </p:nvSpPr>
        <p:spPr>
          <a:xfrm>
            <a:off x="8241602" y="3575304"/>
            <a:ext cx="310896" cy="310896"/>
          </a:xfrm>
          <a:prstGeom prst="pie">
            <a:avLst>
              <a:gd name="adj1" fmla="val 16200000"/>
              <a:gd name="adj2" fmla="val 21600000"/>
            </a:avLst>
          </a:prstGeom>
          <a:solidFill>
            <a:srgbClr val="0B2545"/>
          </a:solidFill>
          <a:ln/>
        </p:spPr>
      </p:sp>
      <p:sp>
        <p:nvSpPr>
          <p:cNvPr id="34" name="Shape 32"/>
          <p:cNvSpPr/>
          <p:nvPr/>
        </p:nvSpPr>
        <p:spPr>
          <a:xfrm>
            <a:off x="10466565" y="3575304"/>
            <a:ext cx="310896" cy="310896"/>
          </a:xfrm>
          <a:prstGeom prst="ellipse">
            <a:avLst/>
          </a:prstGeom>
          <a:solidFill>
            <a:srgbClr val="FFFFFF"/>
          </a:solidFill>
          <a:ln w="15875">
            <a:solidFill>
              <a:srgbClr val="0B2545"/>
            </a:solidFill>
            <a:prstDash val="solid"/>
          </a:ln>
        </p:spPr>
      </p:sp>
      <p:sp>
        <p:nvSpPr>
          <p:cNvPr id="35" name="Shape 33"/>
          <p:cNvSpPr/>
          <p:nvPr/>
        </p:nvSpPr>
        <p:spPr>
          <a:xfrm>
            <a:off x="10466565" y="3575304"/>
            <a:ext cx="310896" cy="310896"/>
          </a:xfrm>
          <a:prstGeom prst="pie">
            <a:avLst>
              <a:gd name="adj1" fmla="val 16200000"/>
              <a:gd name="adj2" fmla="val 5400000"/>
            </a:avLst>
          </a:prstGeom>
          <a:solidFill>
            <a:srgbClr val="0B2545"/>
          </a:solidFill>
          <a:ln/>
        </p:spPr>
      </p:sp>
      <p:sp>
        <p:nvSpPr>
          <p:cNvPr id="36" name="Text 34"/>
          <p:cNvSpPr/>
          <p:nvPr/>
        </p:nvSpPr>
        <p:spPr>
          <a:xfrm>
            <a:off x="594360" y="4288536"/>
            <a:ext cx="2194560" cy="310896"/>
          </a:xfrm>
          <a:prstGeom prst="rect">
            <a:avLst/>
          </a:prstGeom>
          <a:noFill/>
          <a:ln/>
        </p:spPr>
        <p:txBody>
          <a:bodyPr wrap="square" lIns="0" tIns="0" rIns="0" bIns="0" rtlCol="0" anchor="ctr"/>
          <a:lstStyle/>
          <a:p>
            <a:pPr indent="0" marL="0">
              <a:buNone/>
            </a:pPr>
            <a:r>
              <a:rPr lang="en-US" sz="1100" dirty="0">
                <a:solidFill>
                  <a:srgbClr val="111827"/>
                </a:solidFill>
                <a:latin typeface="Arial" pitchFamily="34" charset="0"/>
                <a:ea typeface="Arial" pitchFamily="34" charset="-122"/>
                <a:cs typeface="Arial" pitchFamily="34" charset="-120"/>
              </a:rPr>
              <a:t>Sale to a sponsor</a:t>
            </a:r>
            <a:endParaRPr lang="en-US" sz="1100" dirty="0"/>
          </a:p>
        </p:txBody>
      </p:sp>
      <p:sp>
        <p:nvSpPr>
          <p:cNvPr id="37" name="Shape 35"/>
          <p:cNvSpPr/>
          <p:nvPr/>
        </p:nvSpPr>
        <p:spPr>
          <a:xfrm>
            <a:off x="3791674" y="4288536"/>
            <a:ext cx="310896" cy="310896"/>
          </a:xfrm>
          <a:prstGeom prst="ellipse">
            <a:avLst/>
          </a:prstGeom>
          <a:solidFill>
            <a:srgbClr val="FFFFFF"/>
          </a:solidFill>
          <a:ln w="15875">
            <a:solidFill>
              <a:srgbClr val="0B2545"/>
            </a:solidFill>
            <a:prstDash val="solid"/>
          </a:ln>
        </p:spPr>
      </p:sp>
      <p:sp>
        <p:nvSpPr>
          <p:cNvPr id="38" name="Shape 36"/>
          <p:cNvSpPr/>
          <p:nvPr/>
        </p:nvSpPr>
        <p:spPr>
          <a:xfrm>
            <a:off x="3791674" y="4288536"/>
            <a:ext cx="310896" cy="310896"/>
          </a:xfrm>
          <a:prstGeom prst="pie">
            <a:avLst>
              <a:gd name="adj1" fmla="val 16200000"/>
              <a:gd name="adj2" fmla="val 10800000"/>
            </a:avLst>
          </a:prstGeom>
          <a:solidFill>
            <a:srgbClr val="0B2545"/>
          </a:solidFill>
          <a:ln/>
        </p:spPr>
      </p:sp>
      <p:sp>
        <p:nvSpPr>
          <p:cNvPr id="39" name="Shape 37"/>
          <p:cNvSpPr/>
          <p:nvPr/>
        </p:nvSpPr>
        <p:spPr>
          <a:xfrm>
            <a:off x="6016638" y="4288536"/>
            <a:ext cx="310896" cy="310896"/>
          </a:xfrm>
          <a:prstGeom prst="ellipse">
            <a:avLst/>
          </a:prstGeom>
          <a:solidFill>
            <a:srgbClr val="FFFFFF"/>
          </a:solidFill>
          <a:ln w="15875">
            <a:solidFill>
              <a:srgbClr val="0B2545"/>
            </a:solidFill>
            <a:prstDash val="solid"/>
          </a:ln>
        </p:spPr>
      </p:sp>
      <p:sp>
        <p:nvSpPr>
          <p:cNvPr id="40" name="Shape 38"/>
          <p:cNvSpPr/>
          <p:nvPr/>
        </p:nvSpPr>
        <p:spPr>
          <a:xfrm>
            <a:off x="6016638" y="4288536"/>
            <a:ext cx="310896" cy="310896"/>
          </a:xfrm>
          <a:prstGeom prst="pie">
            <a:avLst>
              <a:gd name="adj1" fmla="val 16200000"/>
              <a:gd name="adj2" fmla="val 10800000"/>
            </a:avLst>
          </a:prstGeom>
          <a:solidFill>
            <a:srgbClr val="0B2545"/>
          </a:solidFill>
          <a:ln/>
        </p:spPr>
      </p:sp>
      <p:sp>
        <p:nvSpPr>
          <p:cNvPr id="41" name="Shape 39"/>
          <p:cNvSpPr/>
          <p:nvPr/>
        </p:nvSpPr>
        <p:spPr>
          <a:xfrm>
            <a:off x="8241602" y="4288536"/>
            <a:ext cx="310896" cy="310896"/>
          </a:xfrm>
          <a:prstGeom prst="ellipse">
            <a:avLst/>
          </a:prstGeom>
          <a:solidFill>
            <a:srgbClr val="FFFFFF"/>
          </a:solidFill>
          <a:ln w="15875">
            <a:solidFill>
              <a:srgbClr val="0B2545"/>
            </a:solidFill>
            <a:prstDash val="solid"/>
          </a:ln>
        </p:spPr>
      </p:sp>
      <p:sp>
        <p:nvSpPr>
          <p:cNvPr id="42" name="Shape 40"/>
          <p:cNvSpPr/>
          <p:nvPr/>
        </p:nvSpPr>
        <p:spPr>
          <a:xfrm>
            <a:off x="8241602" y="4288536"/>
            <a:ext cx="310896" cy="310896"/>
          </a:xfrm>
          <a:prstGeom prst="pie">
            <a:avLst>
              <a:gd name="adj1" fmla="val 16200000"/>
              <a:gd name="adj2" fmla="val 10800000"/>
            </a:avLst>
          </a:prstGeom>
          <a:solidFill>
            <a:srgbClr val="0B2545"/>
          </a:solidFill>
          <a:ln/>
        </p:spPr>
      </p:sp>
      <p:sp>
        <p:nvSpPr>
          <p:cNvPr id="43" name="Shape 41"/>
          <p:cNvSpPr/>
          <p:nvPr/>
        </p:nvSpPr>
        <p:spPr>
          <a:xfrm>
            <a:off x="10466565" y="4288536"/>
            <a:ext cx="310896" cy="310896"/>
          </a:xfrm>
          <a:prstGeom prst="ellipse">
            <a:avLst/>
          </a:prstGeom>
          <a:solidFill>
            <a:srgbClr val="FFFFFF"/>
          </a:solidFill>
          <a:ln w="15875">
            <a:solidFill>
              <a:srgbClr val="0B2545"/>
            </a:solidFill>
            <a:prstDash val="solid"/>
          </a:ln>
        </p:spPr>
      </p:sp>
      <p:sp>
        <p:nvSpPr>
          <p:cNvPr id="44" name="Shape 42"/>
          <p:cNvSpPr/>
          <p:nvPr/>
        </p:nvSpPr>
        <p:spPr>
          <a:xfrm>
            <a:off x="10466565" y="4288536"/>
            <a:ext cx="310896" cy="310896"/>
          </a:xfrm>
          <a:prstGeom prst="pie">
            <a:avLst>
              <a:gd name="adj1" fmla="val 16200000"/>
              <a:gd name="adj2" fmla="val 10800000"/>
            </a:avLst>
          </a:prstGeom>
          <a:solidFill>
            <a:srgbClr val="0B2545"/>
          </a:solidFill>
          <a:ln/>
        </p:spPr>
      </p:sp>
      <p:sp>
        <p:nvSpPr>
          <p:cNvPr id="45" name="Text 43"/>
          <p:cNvSpPr/>
          <p:nvPr/>
        </p:nvSpPr>
        <p:spPr>
          <a:xfrm>
            <a:off x="457200" y="5943600"/>
            <a:ext cx="5486400" cy="274320"/>
          </a:xfrm>
          <a:prstGeom prst="rect">
            <a:avLst/>
          </a:prstGeom>
          <a:noFill/>
          <a:ln/>
        </p:spPr>
        <p:txBody>
          <a:bodyPr wrap="square" lIns="0" tIns="0" rIns="0" bIns="0" rtlCol="0" anchor="t"/>
          <a:lstStyle/>
          <a:p>
            <a:pPr indent="0" marL="0">
              <a:buNone/>
            </a:pPr>
            <a:r>
              <a:rPr lang="en-US" sz="750" dirty="0">
                <a:solidFill>
                  <a:srgbClr val="5B7089"/>
                </a:solidFill>
                <a:latin typeface="Arial" pitchFamily="34" charset="0"/>
                <a:ea typeface="Arial" pitchFamily="34" charset="-122"/>
                <a:cs typeface="Arial" pitchFamily="34" charset="-120"/>
              </a:rPr>
              <a:t>Scale:  ○ none   ◔ low   ◑ medium   ◕ high   ● full</a:t>
            </a:r>
            <a:endParaRPr lang="en-US" sz="750" dirty="0"/>
          </a:p>
        </p:txBody>
      </p:sp>
      <p:sp>
        <p:nvSpPr>
          <p:cNvPr id="46"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endParaRPr lang="en-US" sz="750" dirty="0"/>
          </a:p>
        </p:txBody>
      </p:sp>
      <p:sp>
        <p:nvSpPr>
          <p:cNvPr id="47"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b="1" dirty="0">
                <a:solidFill>
                  <a:srgbClr val="0B2545"/>
                </a:solidFill>
                <a:latin typeface="Arial" pitchFamily="34" charset="0"/>
                <a:ea typeface="Arial" pitchFamily="34" charset="-122"/>
                <a:cs typeface="Arial" pitchFamily="34" charset="-120"/>
              </a:rPr>
              <a:t>3 Alternatives   ·   </a:t>
            </a:r>
            <a:pPr indent="0" marL="0">
              <a:buNone/>
            </a:pPr>
            <a:r>
              <a:rPr lang="en-US" sz="850" dirty="0">
                <a:solidFill>
                  <a:srgbClr val="5B7089"/>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Buyer universe: three strategics and two sponsors, tiered</a:t>
            </a:r>
            <a:endParaRPr lang="en-US" sz="2000" dirty="0"/>
          </a:p>
        </p:txBody>
      </p:sp>
      <p:sp>
        <p:nvSpPr>
          <p:cNvPr id="4" name="Text 2"/>
          <p:cNvSpPr/>
          <p:nvPr/>
        </p:nvSpPr>
        <p:spPr>
          <a:xfrm>
            <a:off x="457200" y="1298448"/>
            <a:ext cx="11277295" cy="256032"/>
          </a:xfrm>
          <a:prstGeom prst="rect">
            <a:avLst/>
          </a:prstGeom>
          <a:noFill/>
          <a:ln/>
        </p:spPr>
        <p:txBody>
          <a:bodyPr wrap="square" lIns="0" tIns="0" rIns="0" bIns="0" rtlCol="0" anchor="t"/>
          <a:lstStyle/>
          <a:p>
            <a:pPr indent="0" marL="0">
              <a:buNone/>
            </a:pPr>
            <a:r>
              <a:rPr lang="en-US" sz="1000" i="1" dirty="0">
                <a:solidFill>
                  <a:srgbClr val="5B7089"/>
                </a:solidFill>
                <a:latin typeface="Arial" pitchFamily="34" charset="0"/>
                <a:ea typeface="Arial" pitchFamily="34" charset="-122"/>
                <a:cs typeface="Arial" pitchFamily="34" charset="-120"/>
              </a:rPr>
              <a:t>(Capacity: market capitalisation or fund size, $ in billions)</a:t>
            </a:r>
            <a:endParaRPr lang="en-US" sz="1000" dirty="0"/>
          </a:p>
        </p:txBody>
      </p:sp>
      <p:sp>
        <p:nvSpPr>
          <p:cNvPr id="5"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r>
              <a:rPr lang="en-US" sz="750" dirty="0">
                <a:solidFill>
                  <a:srgbClr val="5B7089"/>
                </a:solidFill>
                <a:latin typeface="Arial" pitchFamily="34" charset="0"/>
                <a:ea typeface="Arial" pitchFamily="34" charset="-122"/>
                <a:cs typeface="Arial" pitchFamily="34" charset="-120"/>
              </a:rPr>
              <a:t>Source: Advisor buyer screen; public filings and fund announcements</a:t>
            </a:r>
            <a:endParaRPr lang="en-US" sz="750" dirty="0"/>
          </a:p>
        </p:txBody>
      </p:sp>
      <p:sp>
        <p:nvSpPr>
          <p:cNvPr id="6" name="Text 4"/>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2377440"/>
                <a:gridCol w="2011680"/>
                <a:gridCol w="1463040"/>
                <a:gridCol w="5394960"/>
              </a:tblGrid>
              <a:tr h="457200">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Tier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Buyer</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r" indent="0" marL="0">
                        <a:buNone/>
                      </a:pPr>
                      <a:r>
                        <a:rPr lang="en-US" sz="1100" b="1" dirty="0">
                          <a:solidFill>
                            <a:srgbClr val="5B7089"/>
                          </a:solidFill>
                          <a:latin typeface="Arial" pitchFamily="34" charset="0"/>
                          <a:ea typeface="Arial" pitchFamily="34" charset="-122"/>
                          <a:cs typeface="Arial" pitchFamily="34" charset="-120"/>
                        </a:rPr>
                        <a:t>Capacity</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c>
                  <a:txBody>
                    <a:bodyPr/>
                    <a:lstStyle/>
                    <a:p>
                      <a:pPr algn="l" indent="0" marL="0">
                        <a:buNone/>
                      </a:pPr>
                      <a:r>
                        <a:rPr lang="en-US" sz="1100" b="1" dirty="0">
                          <a:solidFill>
                            <a:srgbClr val="5B7089"/>
                          </a:solidFill>
                          <a:latin typeface="Arial" pitchFamily="34" charset="0"/>
                          <a:ea typeface="Arial" pitchFamily="34" charset="-122"/>
                          <a:cs typeface="Arial" pitchFamily="34" charset="-120"/>
                        </a:rPr>
                        <a:t>Rationale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111827"/>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 tier 1</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A</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14.2</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Adds cross-border lanes; overlap in three hubs</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 tier 1</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B</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9.8</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Fills its cold-chain gap</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 tier 2</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Strategic C</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4.1</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Regional consolidation</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Sponsor · tier 1</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Sponsor D</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18.0</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Logistics platform in its current fund</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r h="457200">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Sponsor · tier 2</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Sponsor E</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r" indent="0" marL="0">
                        <a:buNone/>
                      </a:pPr>
                      <a:r>
                        <a:rPr lang="en-US" sz="1100" dirty="0">
                          <a:solidFill>
                            <a:srgbClr val="111827"/>
                          </a:solidFill>
                          <a:latin typeface="Arial" pitchFamily="34" charset="0"/>
                          <a:ea typeface="Arial" pitchFamily="34" charset="-122"/>
                          <a:cs typeface="Arial" pitchFamily="34" charset="-120"/>
                        </a:rPr>
                        <a:t>6.5</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c>
                  <a:txBody>
                    <a:bodyPr/>
                    <a:lstStyle/>
                    <a:p>
                      <a:pPr algn="l" indent="0" marL="0">
                        <a:buNone/>
                      </a:pPr>
                      <a:r>
                        <a:rPr lang="en-US" sz="1100" dirty="0">
                          <a:solidFill>
                            <a:srgbClr val="111827"/>
                          </a:solidFill>
                          <a:latin typeface="Arial" pitchFamily="34" charset="0"/>
                          <a:ea typeface="Arial" pitchFamily="34" charset="-122"/>
                          <a:cs typeface="Arial" pitchFamily="34" charset="-120"/>
                        </a:rPr>
                        <a:t>Prior freight investments</a:t>
                      </a:r>
                      <a:endParaRPr lang="en-US" sz="11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EDF1F6"/>
                      </a:solidFill>
                      <a:prstDash val="solid"/>
                      <a:round/>
                      <a:headEnd type="none" w="med" len="med"/>
                      <a:tailEnd type="none" w="med" len="med"/>
                    </a:lnB>
                  </a:tcPr>
                </a:tc>
              </a:tr>
            </a:tbl>
          </a:graphicData>
        </a:graphic>
      </p:graphicFrame>
      <p:sp>
        <p:nvSpPr>
          <p:cNvPr id="8"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Alternatives   ·   </a:t>
            </a:r>
            <a:pPr indent="0" marL="0">
              <a:buNone/>
            </a:pPr>
            <a:r>
              <a:rPr lang="en-US" sz="850" b="1" dirty="0">
                <a:solidFill>
                  <a:srgbClr val="0B2545"/>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Illustrative process: launch in September, signing in December</a:t>
            </a:r>
            <a:endParaRPr lang="en-US" sz="2000" dirty="0"/>
          </a:p>
        </p:txBody>
      </p:sp>
      <p:sp>
        <p:nvSpPr>
          <p:cNvPr id="4" name="Text 2"/>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sp>
        <p:nvSpPr>
          <p:cNvPr id="5" name="Text 3"/>
          <p:cNvSpPr/>
          <p:nvPr/>
        </p:nvSpPr>
        <p:spPr>
          <a:xfrm>
            <a:off x="3017520" y="1645920"/>
            <a:ext cx="2179244" cy="27432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Sep 2026</a:t>
            </a:r>
            <a:endParaRPr lang="en-US" sz="1000" dirty="0"/>
          </a:p>
        </p:txBody>
      </p:sp>
      <p:sp>
        <p:nvSpPr>
          <p:cNvPr id="6" name="Text 4"/>
          <p:cNvSpPr/>
          <p:nvPr/>
        </p:nvSpPr>
        <p:spPr>
          <a:xfrm>
            <a:off x="5196764" y="1645920"/>
            <a:ext cx="2179244" cy="27432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Oct 2026</a:t>
            </a:r>
            <a:endParaRPr lang="en-US" sz="1000" dirty="0"/>
          </a:p>
        </p:txBody>
      </p:sp>
      <p:sp>
        <p:nvSpPr>
          <p:cNvPr id="7" name="Text 5"/>
          <p:cNvSpPr/>
          <p:nvPr/>
        </p:nvSpPr>
        <p:spPr>
          <a:xfrm>
            <a:off x="7376008" y="1645920"/>
            <a:ext cx="2179244" cy="27432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Nov 2026</a:t>
            </a:r>
            <a:endParaRPr lang="en-US" sz="1000" dirty="0"/>
          </a:p>
        </p:txBody>
      </p:sp>
      <p:sp>
        <p:nvSpPr>
          <p:cNvPr id="8" name="Text 6"/>
          <p:cNvSpPr/>
          <p:nvPr/>
        </p:nvSpPr>
        <p:spPr>
          <a:xfrm>
            <a:off x="9555251" y="1645920"/>
            <a:ext cx="2179244" cy="274320"/>
          </a:xfrm>
          <a:prstGeom prst="rect">
            <a:avLst/>
          </a:prstGeom>
          <a:noFill/>
          <a:ln/>
        </p:spPr>
        <p:txBody>
          <a:bodyPr wrap="square" lIns="0" tIns="0" rIns="0" bIns="0" rtlCol="0" anchor="t"/>
          <a:lstStyle/>
          <a:p>
            <a:pPr algn="ctr" indent="0" marL="0">
              <a:buNone/>
            </a:pPr>
            <a:r>
              <a:rPr lang="en-US" sz="1000" b="1" dirty="0">
                <a:solidFill>
                  <a:srgbClr val="5B7089"/>
                </a:solidFill>
                <a:latin typeface="Arial" pitchFamily="34" charset="0"/>
                <a:ea typeface="Arial" pitchFamily="34" charset="-122"/>
                <a:cs typeface="Arial" pitchFamily="34" charset="-120"/>
              </a:rPr>
              <a:t>Dec 2026</a:t>
            </a:r>
            <a:endParaRPr lang="en-US" sz="1000" dirty="0"/>
          </a:p>
        </p:txBody>
      </p:sp>
      <p:sp>
        <p:nvSpPr>
          <p:cNvPr id="9" name="Text 7"/>
          <p:cNvSpPr/>
          <p:nvPr/>
        </p:nvSpPr>
        <p:spPr>
          <a:xfrm>
            <a:off x="457200" y="2450592"/>
            <a:ext cx="2423160" cy="420624"/>
          </a:xfrm>
          <a:prstGeom prst="rect">
            <a:avLst/>
          </a:prstGeom>
          <a:noFill/>
          <a:ln/>
        </p:spPr>
        <p:txBody>
          <a:bodyPr wrap="square" lIns="0" tIns="0" rIns="0" bIns="0" rtlCol="0" anchor="ctr"/>
          <a:lstStyle/>
          <a:p>
            <a:pPr indent="0" marL="0">
              <a:buNone/>
            </a:pPr>
            <a:r>
              <a:rPr lang="en-US" sz="1000" dirty="0">
                <a:solidFill>
                  <a:srgbClr val="111827"/>
                </a:solidFill>
                <a:latin typeface="Arial" pitchFamily="34" charset="0"/>
                <a:ea typeface="Arial" pitchFamily="34" charset="-122"/>
                <a:cs typeface="Arial" pitchFamily="34" charset="-120"/>
              </a:rPr>
              <a:t>Preparation and buyer outreach</a:t>
            </a:r>
            <a:endParaRPr lang="en-US" sz="1000" dirty="0"/>
          </a:p>
        </p:txBody>
      </p:sp>
      <p:sp>
        <p:nvSpPr>
          <p:cNvPr id="10" name="Shape 8"/>
          <p:cNvSpPr/>
          <p:nvPr/>
        </p:nvSpPr>
        <p:spPr>
          <a:xfrm>
            <a:off x="3054096" y="2505456"/>
            <a:ext cx="1234394" cy="310896"/>
          </a:xfrm>
          <a:prstGeom prst="rect">
            <a:avLst/>
          </a:prstGeom>
          <a:solidFill>
            <a:srgbClr val="0B2545"/>
          </a:solidFill>
          <a:ln/>
        </p:spPr>
      </p:sp>
      <p:sp>
        <p:nvSpPr>
          <p:cNvPr id="11" name="Text 9"/>
          <p:cNvSpPr/>
          <p:nvPr/>
        </p:nvSpPr>
        <p:spPr>
          <a:xfrm>
            <a:off x="457200" y="3319272"/>
            <a:ext cx="2423160" cy="420624"/>
          </a:xfrm>
          <a:prstGeom prst="rect">
            <a:avLst/>
          </a:prstGeom>
          <a:noFill/>
          <a:ln/>
        </p:spPr>
        <p:txBody>
          <a:bodyPr wrap="square" lIns="0" tIns="0" rIns="0" bIns="0" rtlCol="0" anchor="ctr"/>
          <a:lstStyle/>
          <a:p>
            <a:pPr indent="0" marL="0">
              <a:buNone/>
            </a:pPr>
            <a:r>
              <a:rPr lang="en-US" sz="1000" dirty="0">
                <a:solidFill>
                  <a:srgbClr val="111827"/>
                </a:solidFill>
                <a:latin typeface="Arial" pitchFamily="34" charset="0"/>
                <a:ea typeface="Arial" pitchFamily="34" charset="-122"/>
                <a:cs typeface="Arial" pitchFamily="34" charset="-120"/>
              </a:rPr>
              <a:t>First round: indications</a:t>
            </a:r>
            <a:endParaRPr lang="en-US" sz="1000" dirty="0"/>
          </a:p>
        </p:txBody>
      </p:sp>
      <p:sp>
        <p:nvSpPr>
          <p:cNvPr id="12" name="Shape 10"/>
          <p:cNvSpPr/>
          <p:nvPr/>
        </p:nvSpPr>
        <p:spPr>
          <a:xfrm>
            <a:off x="4361642" y="3374136"/>
            <a:ext cx="2106092" cy="310896"/>
          </a:xfrm>
          <a:prstGeom prst="rect">
            <a:avLst/>
          </a:prstGeom>
          <a:solidFill>
            <a:srgbClr val="0B2545"/>
          </a:solidFill>
          <a:ln/>
        </p:spPr>
      </p:sp>
      <p:sp>
        <p:nvSpPr>
          <p:cNvPr id="13" name="Shape 11"/>
          <p:cNvSpPr/>
          <p:nvPr/>
        </p:nvSpPr>
        <p:spPr>
          <a:xfrm>
            <a:off x="6403726" y="3429000"/>
            <a:ext cx="201168" cy="201168"/>
          </a:xfrm>
          <a:prstGeom prst="diamond">
            <a:avLst/>
          </a:prstGeom>
          <a:solidFill>
            <a:srgbClr val="111827"/>
          </a:solidFill>
          <a:ln w="12700">
            <a:solidFill>
              <a:srgbClr val="FFFFFF"/>
            </a:solidFill>
            <a:prstDash val="solid"/>
          </a:ln>
        </p:spPr>
      </p:sp>
      <p:sp>
        <p:nvSpPr>
          <p:cNvPr id="14" name="Text 12"/>
          <p:cNvSpPr/>
          <p:nvPr/>
        </p:nvSpPr>
        <p:spPr>
          <a:xfrm>
            <a:off x="5681350" y="3127248"/>
            <a:ext cx="1645920" cy="201168"/>
          </a:xfrm>
          <a:prstGeom prst="rect">
            <a:avLst/>
          </a:prstGeom>
          <a:noFill/>
          <a:ln/>
        </p:spPr>
        <p:txBody>
          <a:bodyPr wrap="square" lIns="0" tIns="0" rIns="0" bIns="0" rtlCol="0" anchor="t"/>
          <a:lstStyle/>
          <a:p>
            <a:pPr algn="ctr" indent="0" marL="0">
              <a:buNone/>
            </a:pPr>
            <a:r>
              <a:rPr lang="en-US" sz="750" dirty="0">
                <a:solidFill>
                  <a:srgbClr val="5B7089"/>
                </a:solidFill>
                <a:latin typeface="Arial" pitchFamily="34" charset="0"/>
                <a:ea typeface="Arial" pitchFamily="34" charset="-122"/>
                <a:cs typeface="Arial" pitchFamily="34" charset="-120"/>
              </a:rPr>
              <a:t>Board: shortlist</a:t>
            </a:r>
            <a:endParaRPr lang="en-US" sz="750" dirty="0"/>
          </a:p>
        </p:txBody>
      </p:sp>
      <p:sp>
        <p:nvSpPr>
          <p:cNvPr id="15" name="Text 13"/>
          <p:cNvSpPr/>
          <p:nvPr/>
        </p:nvSpPr>
        <p:spPr>
          <a:xfrm>
            <a:off x="457200" y="4187952"/>
            <a:ext cx="2423160" cy="420624"/>
          </a:xfrm>
          <a:prstGeom prst="rect">
            <a:avLst/>
          </a:prstGeom>
          <a:noFill/>
          <a:ln/>
        </p:spPr>
        <p:txBody>
          <a:bodyPr wrap="square" lIns="0" tIns="0" rIns="0" bIns="0" rtlCol="0" anchor="ctr"/>
          <a:lstStyle/>
          <a:p>
            <a:pPr indent="0" marL="0">
              <a:buNone/>
            </a:pPr>
            <a:r>
              <a:rPr lang="en-US" sz="1000" dirty="0">
                <a:solidFill>
                  <a:srgbClr val="111827"/>
                </a:solidFill>
                <a:latin typeface="Arial" pitchFamily="34" charset="0"/>
                <a:ea typeface="Arial" pitchFamily="34" charset="-122"/>
                <a:cs typeface="Arial" pitchFamily="34" charset="-120"/>
              </a:rPr>
              <a:t>Second round: diligence and bids</a:t>
            </a:r>
            <a:endParaRPr lang="en-US" sz="1000" dirty="0"/>
          </a:p>
        </p:txBody>
      </p:sp>
      <p:sp>
        <p:nvSpPr>
          <p:cNvPr id="16" name="Shape 14"/>
          <p:cNvSpPr/>
          <p:nvPr/>
        </p:nvSpPr>
        <p:spPr>
          <a:xfrm>
            <a:off x="6540886" y="4242816"/>
            <a:ext cx="2977789" cy="310896"/>
          </a:xfrm>
          <a:prstGeom prst="rect">
            <a:avLst/>
          </a:prstGeom>
          <a:solidFill>
            <a:srgbClr val="8A6A00"/>
          </a:solidFill>
          <a:ln/>
        </p:spPr>
      </p:sp>
      <p:sp>
        <p:nvSpPr>
          <p:cNvPr id="17" name="Text 15"/>
          <p:cNvSpPr/>
          <p:nvPr/>
        </p:nvSpPr>
        <p:spPr>
          <a:xfrm>
            <a:off x="457200" y="5056632"/>
            <a:ext cx="2423160" cy="420624"/>
          </a:xfrm>
          <a:prstGeom prst="rect">
            <a:avLst/>
          </a:prstGeom>
          <a:noFill/>
          <a:ln/>
        </p:spPr>
        <p:txBody>
          <a:bodyPr wrap="square" lIns="0" tIns="0" rIns="0" bIns="0" rtlCol="0" anchor="ctr"/>
          <a:lstStyle/>
          <a:p>
            <a:pPr indent="0" marL="0">
              <a:buNone/>
            </a:pPr>
            <a:r>
              <a:rPr lang="en-US" sz="1000" dirty="0">
                <a:solidFill>
                  <a:srgbClr val="111827"/>
                </a:solidFill>
                <a:latin typeface="Arial" pitchFamily="34" charset="0"/>
                <a:ea typeface="Arial" pitchFamily="34" charset="-122"/>
                <a:cs typeface="Arial" pitchFamily="34" charset="-120"/>
              </a:rPr>
              <a:t>Negotiation and signing</a:t>
            </a:r>
            <a:endParaRPr lang="en-US" sz="1000" dirty="0"/>
          </a:p>
        </p:txBody>
      </p:sp>
      <p:sp>
        <p:nvSpPr>
          <p:cNvPr id="18" name="Shape 16"/>
          <p:cNvSpPr/>
          <p:nvPr/>
        </p:nvSpPr>
        <p:spPr>
          <a:xfrm>
            <a:off x="9591827" y="5111496"/>
            <a:ext cx="1016470" cy="310896"/>
          </a:xfrm>
          <a:prstGeom prst="rect">
            <a:avLst/>
          </a:prstGeom>
          <a:solidFill>
            <a:srgbClr val="0B2545"/>
          </a:solidFill>
          <a:ln/>
        </p:spPr>
      </p:sp>
      <p:sp>
        <p:nvSpPr>
          <p:cNvPr id="19" name="Shape 17"/>
          <p:cNvSpPr/>
          <p:nvPr/>
        </p:nvSpPr>
        <p:spPr>
          <a:xfrm>
            <a:off x="10544289" y="5166360"/>
            <a:ext cx="201168" cy="201168"/>
          </a:xfrm>
          <a:prstGeom prst="diamond">
            <a:avLst/>
          </a:prstGeom>
          <a:solidFill>
            <a:srgbClr val="111827"/>
          </a:solidFill>
          <a:ln w="12700">
            <a:solidFill>
              <a:srgbClr val="FFFFFF"/>
            </a:solidFill>
            <a:prstDash val="solid"/>
          </a:ln>
        </p:spPr>
      </p:sp>
      <p:sp>
        <p:nvSpPr>
          <p:cNvPr id="20" name="Text 18"/>
          <p:cNvSpPr/>
          <p:nvPr/>
        </p:nvSpPr>
        <p:spPr>
          <a:xfrm>
            <a:off x="9821913" y="4864608"/>
            <a:ext cx="1645920" cy="201168"/>
          </a:xfrm>
          <a:prstGeom prst="rect">
            <a:avLst/>
          </a:prstGeom>
          <a:noFill/>
          <a:ln/>
        </p:spPr>
        <p:txBody>
          <a:bodyPr wrap="square" lIns="0" tIns="0" rIns="0" bIns="0" rtlCol="0" anchor="t"/>
          <a:lstStyle/>
          <a:p>
            <a:pPr algn="ctr" indent="0" marL="0">
              <a:buNone/>
            </a:pPr>
            <a:r>
              <a:rPr lang="en-US" sz="750" dirty="0">
                <a:solidFill>
                  <a:srgbClr val="5B7089"/>
                </a:solidFill>
                <a:latin typeface="Arial" pitchFamily="34" charset="0"/>
                <a:ea typeface="Arial" pitchFamily="34" charset="-122"/>
                <a:cs typeface="Arial" pitchFamily="34" charset="-120"/>
              </a:rPr>
              <a:t>Board: approve</a:t>
            </a:r>
            <a:endParaRPr lang="en-US" sz="750" dirty="0"/>
          </a:p>
        </p:txBody>
      </p:sp>
      <p:sp>
        <p:nvSpPr>
          <p:cNvPr id="21"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endParaRPr lang="en-US" sz="750" dirty="0"/>
          </a:p>
        </p:txBody>
      </p:sp>
      <p:sp>
        <p:nvSpPr>
          <p:cNvPr id="22"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r>
              <a:rPr lang="en-US" sz="850" dirty="0">
                <a:solidFill>
                  <a:srgbClr val="5B7089"/>
                </a:solidFill>
                <a:latin typeface="Arial" pitchFamily="34" charset="0"/>
                <a:ea typeface="Arial" pitchFamily="34" charset="-122"/>
                <a:cs typeface="Arial" pitchFamily="34" charset="-120"/>
              </a:rPr>
              <a:t>1 Situation   ·   </a:t>
            </a:r>
            <a:pPr indent="0" marL="0">
              <a:buNone/>
            </a:pPr>
            <a:r>
              <a:rPr lang="en-US" sz="850" dirty="0">
                <a:solidFill>
                  <a:srgbClr val="5B7089"/>
                </a:solidFill>
                <a:latin typeface="Arial" pitchFamily="34" charset="0"/>
                <a:ea typeface="Arial" pitchFamily="34" charset="-122"/>
                <a:cs typeface="Arial" pitchFamily="34" charset="-120"/>
              </a:rPr>
              <a:t>2 Valuation   ·   </a:t>
            </a:r>
            <a:pPr indent="0" marL="0">
              <a:buNone/>
            </a:pPr>
            <a:r>
              <a:rPr lang="en-US" sz="850" dirty="0">
                <a:solidFill>
                  <a:srgbClr val="5B7089"/>
                </a:solidFill>
                <a:latin typeface="Arial" pitchFamily="34" charset="0"/>
                <a:ea typeface="Arial" pitchFamily="34" charset="-122"/>
                <a:cs typeface="Arial" pitchFamily="34" charset="-120"/>
              </a:rPr>
              <a:t>3 Alternatives   ·   </a:t>
            </a:r>
            <a:pPr indent="0" marL="0">
              <a:buNone/>
            </a:pPr>
            <a:r>
              <a:rPr lang="en-US" sz="850" b="1" dirty="0">
                <a:solidFill>
                  <a:srgbClr val="0B2545"/>
                </a:solidFill>
                <a:latin typeface="Arial" pitchFamily="34" charset="0"/>
                <a:ea typeface="Arial" pitchFamily="34" charset="-122"/>
                <a:cs typeface="Arial" pitchFamily="34" charset="-120"/>
              </a:rPr>
              <a:t>4 Process</a:t>
            </a:r>
            <a:endParaRPr lang="en-US" sz="850" dirty="0"/>
          </a:p>
        </p:txBody>
      </p:sp>
      <p:sp>
        <p:nvSpPr>
          <p:cNvPr id="3"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Recommendation and next steps</a:t>
            </a:r>
            <a:endParaRPr lang="en-US" sz="2000" dirty="0"/>
          </a:p>
        </p:txBody>
      </p:sp>
      <p:sp>
        <p:nvSpPr>
          <p:cNvPr id="4" name="Text 2"/>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sp>
        <p:nvSpPr>
          <p:cNvPr id="5" name="Shape 3"/>
          <p:cNvSpPr/>
          <p:nvPr/>
        </p:nvSpPr>
        <p:spPr>
          <a:xfrm>
            <a:off x="457200" y="1645920"/>
            <a:ext cx="11277295" cy="1264920"/>
          </a:xfrm>
          <a:prstGeom prst="rect">
            <a:avLst/>
          </a:prstGeom>
          <a:solidFill>
            <a:srgbClr val="EDF1F6"/>
          </a:solidFill>
          <a:ln/>
        </p:spPr>
      </p:sp>
      <p:sp>
        <p:nvSpPr>
          <p:cNvPr id="6" name="Text 4"/>
          <p:cNvSpPr/>
          <p:nvPr/>
        </p:nvSpPr>
        <p:spPr>
          <a:xfrm>
            <a:off x="685800" y="1755648"/>
            <a:ext cx="10820095" cy="1045464"/>
          </a:xfrm>
          <a:prstGeom prst="rect">
            <a:avLst/>
          </a:prstGeom>
          <a:noFill/>
          <a:ln/>
        </p:spPr>
        <p:txBody>
          <a:bodyPr wrap="square" lIns="0" tIns="0" rIns="0" bIns="0" rtlCol="0" anchor="ctr"/>
          <a:lstStyle/>
          <a:p>
            <a:pPr indent="0" marL="0">
              <a:spcAft>
                <a:spcPts val="400"/>
              </a:spcAft>
              <a:buNone/>
            </a:pPr>
            <a:r>
              <a:rPr lang="en-US" sz="1200" b="1" dirty="0">
                <a:solidFill>
                  <a:srgbClr val="0B2545"/>
                </a:solidFill>
                <a:latin typeface="Arial" pitchFamily="34" charset="0"/>
                <a:ea typeface="Arial" pitchFamily="34" charset="-122"/>
                <a:cs typeface="Arial" pitchFamily="34" charset="-120"/>
              </a:rPr>
              <a:t>Recommendation.</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Run a targeted sale process to the two tier-1 strategics and Sponsor D, keeping the stand-alone plan as the walk-away.</a:t>
            </a:r>
            <a:endParaRPr lang="en-US" sz="1100" dirty="0"/>
          </a:p>
        </p:txBody>
      </p:sp>
      <p:sp>
        <p:nvSpPr>
          <p:cNvPr id="7" name="Shape 5"/>
          <p:cNvSpPr/>
          <p:nvPr/>
        </p:nvSpPr>
        <p:spPr>
          <a:xfrm>
            <a:off x="457200" y="3139440"/>
            <a:ext cx="11277295" cy="1264920"/>
          </a:xfrm>
          <a:prstGeom prst="rect">
            <a:avLst/>
          </a:prstGeom>
          <a:solidFill>
            <a:srgbClr val="EDF1F6"/>
          </a:solidFill>
          <a:ln/>
        </p:spPr>
      </p:sp>
      <p:sp>
        <p:nvSpPr>
          <p:cNvPr id="8" name="Text 6"/>
          <p:cNvSpPr/>
          <p:nvPr/>
        </p:nvSpPr>
        <p:spPr>
          <a:xfrm>
            <a:off x="685800" y="3249168"/>
            <a:ext cx="10820095" cy="1045464"/>
          </a:xfrm>
          <a:prstGeom prst="rect">
            <a:avLst/>
          </a:prstGeom>
          <a:noFill/>
          <a:ln/>
        </p:spPr>
        <p:txBody>
          <a:bodyPr wrap="square" lIns="0" tIns="0" rIns="0" bIns="0" rtlCol="0" anchor="ctr"/>
          <a:lstStyle/>
          <a:p>
            <a:pPr indent="0" marL="0">
              <a:spcAft>
                <a:spcPts val="400"/>
              </a:spcAft>
              <a:buNone/>
            </a:pPr>
            <a:r>
              <a:rPr lang="en-US" sz="1200" b="1" dirty="0">
                <a:solidFill>
                  <a:srgbClr val="0B2545"/>
                </a:solidFill>
                <a:latin typeface="Arial" pitchFamily="34" charset="0"/>
                <a:ea typeface="Arial" pitchFamily="34" charset="-122"/>
                <a:cs typeface="Arial" pitchFamily="34" charset="-120"/>
              </a:rPr>
              <a:t>Why.</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Most valuation ranges sit above today's price, the tier-1 strategics can pay for hub savings, and a tiered list limits disruption.</a:t>
            </a:r>
            <a:endParaRPr lang="en-US" sz="1100" dirty="0"/>
          </a:p>
        </p:txBody>
      </p:sp>
      <p:sp>
        <p:nvSpPr>
          <p:cNvPr id="9" name="Shape 7"/>
          <p:cNvSpPr/>
          <p:nvPr/>
        </p:nvSpPr>
        <p:spPr>
          <a:xfrm>
            <a:off x="457200" y="4632960"/>
            <a:ext cx="11277295" cy="1264920"/>
          </a:xfrm>
          <a:prstGeom prst="rect">
            <a:avLst/>
          </a:prstGeom>
          <a:solidFill>
            <a:srgbClr val="EDF1F6"/>
          </a:solidFill>
          <a:ln/>
        </p:spPr>
      </p:sp>
      <p:sp>
        <p:nvSpPr>
          <p:cNvPr id="10" name="Text 8"/>
          <p:cNvSpPr/>
          <p:nvPr/>
        </p:nvSpPr>
        <p:spPr>
          <a:xfrm>
            <a:off x="685800" y="4742688"/>
            <a:ext cx="10820095" cy="1045464"/>
          </a:xfrm>
          <a:prstGeom prst="rect">
            <a:avLst/>
          </a:prstGeom>
          <a:noFill/>
          <a:ln/>
        </p:spPr>
        <p:txBody>
          <a:bodyPr wrap="square" lIns="0" tIns="0" rIns="0" bIns="0" rtlCol="0" anchor="ctr"/>
          <a:lstStyle/>
          <a:p>
            <a:pPr indent="0" marL="0">
              <a:spcAft>
                <a:spcPts val="400"/>
              </a:spcAft>
              <a:buNone/>
            </a:pPr>
            <a:r>
              <a:rPr lang="en-US" sz="1200" b="1" dirty="0">
                <a:solidFill>
                  <a:srgbClr val="0B2545"/>
                </a:solidFill>
                <a:latin typeface="Arial" pitchFamily="34" charset="0"/>
                <a:ea typeface="Arial" pitchFamily="34" charset="-122"/>
                <a:cs typeface="Arial" pitchFamily="34" charset="-120"/>
              </a:rPr>
              <a:t>Next steps.</a:t>
            </a:r>
            <a:endParaRPr lang="en-US" sz="1100" dirty="0"/>
          </a:p>
          <a:p>
            <a:pPr indent="0" marL="0">
              <a:spcAft>
                <a:spcPts val="400"/>
              </a:spcAft>
              <a:buNone/>
            </a:pPr>
            <a:r>
              <a:rPr lang="en-US" sz="1100" dirty="0">
                <a:solidFill>
                  <a:srgbClr val="111827"/>
                </a:solidFill>
                <a:latin typeface="Arial" pitchFamily="34" charset="0"/>
                <a:ea typeface="Arial" pitchFamily="34" charset="-122"/>
                <a:cs typeface="Arial" pitchFamily="34" charset="-120"/>
              </a:rPr>
              <a:t>Board approval of the process; advisers prepare the teaser and management presentation; outreach starts in September.</a:t>
            </a:r>
            <a:endParaRPr lang="en-US" sz="1100" dirty="0"/>
          </a:p>
        </p:txBody>
      </p:sp>
      <p:sp>
        <p:nvSpPr>
          <p:cNvPr id="11"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endParaRPr lang="en-US" sz="750" dirty="0"/>
          </a:p>
        </p:txBody>
      </p:sp>
      <p:sp>
        <p:nvSpPr>
          <p:cNvPr id="12"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457200"/>
            <a:ext cx="11277295" cy="822960"/>
          </a:xfrm>
          <a:prstGeom prst="rect">
            <a:avLst/>
          </a:prstGeom>
          <a:noFill/>
          <a:ln/>
        </p:spPr>
        <p:txBody>
          <a:bodyPr wrap="square" lIns="0" tIns="0" rIns="0" bIns="0" rtlCol="0" anchor="t"/>
          <a:lstStyle/>
          <a:p>
            <a:pPr algn="l" indent="0" marL="0">
              <a:buNone/>
            </a:pPr>
            <a:r>
              <a:rPr lang="en-US" sz="2000" b="1" dirty="0">
                <a:solidFill>
                  <a:srgbClr val="111827"/>
                </a:solidFill>
                <a:latin typeface="Arial" pitchFamily="34" charset="0"/>
                <a:ea typeface="Arial" pitchFamily="34" charset="-122"/>
                <a:cs typeface="Arial" pitchFamily="34" charset="-120"/>
              </a:rPr>
              <a:t>Disclaimer</a:t>
            </a:r>
            <a:endParaRPr lang="en-US" sz="2000" dirty="0"/>
          </a:p>
        </p:txBody>
      </p:sp>
      <p:sp>
        <p:nvSpPr>
          <p:cNvPr id="3" name="Text 1"/>
          <p:cNvSpPr/>
          <p:nvPr/>
        </p:nvSpPr>
        <p:spPr>
          <a:xfrm>
            <a:off x="8991295" y="201168"/>
            <a:ext cx="2743200" cy="219456"/>
          </a:xfrm>
          <a:prstGeom prst="rect">
            <a:avLst/>
          </a:prstGeom>
          <a:noFill/>
          <a:ln/>
        </p:spPr>
        <p:txBody>
          <a:bodyPr wrap="square" lIns="0" tIns="0" rIns="0" bIns="0" rtlCol="0" anchor="t"/>
          <a:lstStyle/>
          <a:p>
            <a:pPr algn="r" indent="0" marL="0">
              <a:buNone/>
            </a:pPr>
            <a:r>
              <a:rPr lang="en-US" sz="850" dirty="0">
                <a:solidFill>
                  <a:srgbClr val="5B7089"/>
                </a:solidFill>
                <a:latin typeface="Arial" pitchFamily="34" charset="0"/>
                <a:ea typeface="Arial" pitchFamily="34" charset="-122"/>
                <a:cs typeface="Arial" pitchFamily="34" charset="-120"/>
              </a:rPr>
              <a:t>Confidential · Preliminary draft</a:t>
            </a:r>
            <a:endParaRPr lang="en-US" sz="850" dirty="0"/>
          </a:p>
        </p:txBody>
      </p:sp>
      <p:sp>
        <p:nvSpPr>
          <p:cNvPr id="4" name="Text 2"/>
          <p:cNvSpPr/>
          <p:nvPr/>
        </p:nvSpPr>
        <p:spPr>
          <a:xfrm>
            <a:off x="457200" y="1645920"/>
            <a:ext cx="8457971" cy="4023360"/>
          </a:xfrm>
          <a:prstGeom prst="rect">
            <a:avLst/>
          </a:prstGeom>
          <a:noFill/>
          <a:ln/>
        </p:spPr>
        <p:txBody>
          <a:bodyPr wrap="square" lIns="0" tIns="0" rIns="0" bIns="0" rtlCol="0" anchor="t"/>
          <a:lstStyle/>
          <a:p>
            <a:pPr indent="0" marL="0">
              <a:buNone/>
            </a:pPr>
            <a:r>
              <a:rPr lang="en-US" sz="1000" dirty="0">
                <a:solidFill>
                  <a:srgbClr val="5B7089"/>
                </a:solidFill>
                <a:latin typeface="Arial" pitchFamily="34" charset="0"/>
                <a:ea typeface="Arial" pitchFamily="34" charset="-122"/>
                <a:cs typeface="Arial" pitchFamily="34" charset="-120"/>
              </a:rPr>
              <a:t>These materials were prepared for the Board's use in reviewing strategic alternatives. They rely on public information and on projections prepared by management, which we have not verified independently. They are preliminary and illustrative, are not a valuation opinion, and are not a recommendation to any shareholder. The company and figures are fictional.</a:t>
            </a:r>
            <a:endParaRPr lang="en-US" sz="1000" dirty="0"/>
          </a:p>
        </p:txBody>
      </p:sp>
      <p:sp>
        <p:nvSpPr>
          <p:cNvPr id="5" name="Text 0"/>
          <p:cNvSpPr/>
          <p:nvPr>
            <p:ph idx="100" type="body" hasCustomPrompt="1"/>
          </p:nvPr>
        </p:nvSpPr>
        <p:spPr>
          <a:xfrm>
            <a:off x="457200" y="201168"/>
            <a:ext cx="11277295" cy="219456"/>
          </a:xfrm>
          <a:prstGeom prst="rect">
            <a:avLst/>
          </a:prstGeom>
          <a:noFill/>
          <a:ln/>
        </p:spPr>
        <p:txBody>
          <a:bodyPr wrap="square" lIns="0" tIns="0" rIns="0" bIns="0" rtlCol="0" anchor="t"/>
          <a:lstStyle/>
          <a:p>
            <a:pPr indent="0" marL="0">
              <a:buNone/>
            </a:pPr>
            <a:endParaRPr lang="en-US" sz="850" dirty="0"/>
          </a:p>
        </p:txBody>
      </p:sp>
      <p:sp>
        <p:nvSpPr>
          <p:cNvPr id="6" name="Text 0"/>
          <p:cNvSpPr/>
          <p:nvPr>
            <p:ph idx="102" type="body" hasCustomPrompt="1"/>
          </p:nvPr>
        </p:nvSpPr>
        <p:spPr>
          <a:xfrm>
            <a:off x="457200" y="6382512"/>
            <a:ext cx="10454335" cy="274320"/>
          </a:xfrm>
          <a:prstGeom prst="rect">
            <a:avLst/>
          </a:prstGeom>
          <a:noFill/>
          <a:ln/>
        </p:spPr>
        <p:txBody>
          <a:bodyPr wrap="square" lIns="0" tIns="0" rIns="0" bIns="0" rtlCol="0" anchor="b"/>
          <a:lstStyle/>
          <a:p>
            <a:pPr indent="0" marL="0">
              <a:buNone/>
            </a:pPr>
            <a:endParaRPr lang="en-US" sz="750" dirty="0"/>
          </a:p>
        </p:txBody>
      </p:sp>
      <p:sp>
        <p:nvSpPr>
          <p:cNvPr id="7"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750">
                <a:solidFill>
                  <a:srgbClr val="5B7089"/>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Heron — strategic alternatives review</dc:title>
  <dc:subject>PptxGenJS Presentation</dc:subject>
  <dc:creator>Advisor team</dc:creator>
  <cp:lastModifiedBy>Advisor team</cp:lastModifiedBy>
  <cp:revision>1</cp:revision>
  <dcterms:created xsi:type="dcterms:W3CDTF">2026-09-24T04:33:22Z</dcterms:created>
  <dcterms:modified xsi:type="dcterms:W3CDTF">2026-09-24T04:33:22Z</dcterms:modified>
</cp:coreProperties>
</file>