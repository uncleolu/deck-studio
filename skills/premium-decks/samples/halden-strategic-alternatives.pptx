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34"/>
          <c:y val="0.02"/>
          <c:w val="0.62"/>
          <c:h val="0.86"/>
        </c:manualLayout>
      </c:layout>
      <c:barChart>
        <c:barDir val="bar"/>
        <c:grouping val="stacked"/>
        <c:varyColors val="0"/>
        <c:ser>
          <c:idx val="0"/>
          <c:order val="0"/>
          <c:tx>
            <c:strRef>
              <c:f>Sheet1!$B$1</c:f>
              <c:strCache>
                <c:ptCount val="1"/>
                <c:pt idx="0">
                  <c:v>low</c:v>
                </c:pt>
              </c:strCache>
            </c:strRef>
          </c:tx>
          <c:spPr>
            <a:solidFill>
              <a:srgbClr val="FFFF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DCF (WACC 8.5%–9.5%, TGR 2.0%–3.0%)</c:v>
                  </c:pt>
                  <c:pt idx="1">
                    <c:v>Precedent transactions (9.6x–11.8x LTM EBITDA)</c:v>
                  </c:pt>
                  <c:pt idx="2">
                    <c:v>Trading comps (8.4x–9.8x FY26E EBITDA)</c:v>
                  </c:pt>
                  <c:pt idx="3">
                    <c:v>52-week trading range</c:v>
                  </c:pt>
                </c:lvl>
              </c:multiLvlStrCache>
            </c:multiLvlStrRef>
          </c:cat>
          <c:val>
            <c:numRef>
              <c:f>Sheet1!$B$2:$B$5</c:f>
              <c:numCache>
                <c:formatCode>General</c:formatCode>
                <c:ptCount val="4"/>
                <c:pt idx="0">
                  <c:v>18.3</c:v>
                </c:pt>
                <c:pt idx="1">
                  <c:v>18.9</c:v>
                </c:pt>
                <c:pt idx="2">
                  <c:v>17.5</c:v>
                </c:pt>
                <c:pt idx="3">
                  <c:v>16.04</c:v>
                </c:pt>
              </c:numCache>
            </c:numRef>
          </c:val>
        </c:ser>
        <c:ser>
          <c:idx val="1"/>
          <c:order val="1"/>
          <c:tx>
            <c:strRef>
              <c:f>Sheet1!$C$1</c:f>
              <c:strCache>
                <c:ptCount val="1"/>
                <c:pt idx="0">
                  <c:v>range</c:v>
                </c:pt>
              </c:strCache>
            </c:strRef>
          </c:tx>
          <c:spPr>
            <a:solidFill>
              <a:srgbClr val="9AA8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DCF (WACC 8.5%–9.5%, TGR 2.0%–3.0%)</c:v>
                  </c:pt>
                  <c:pt idx="1">
                    <c:v>Precedent transactions (9.6x–11.8x LTM EBITDA)</c:v>
                  </c:pt>
                  <c:pt idx="2">
                    <c:v>Trading comps (8.4x–9.8x FY26E EBITDA)</c:v>
                  </c:pt>
                  <c:pt idx="3">
                    <c:v>52-week trading range</c:v>
                  </c:pt>
                </c:lvl>
              </c:multiLvlStrCache>
            </c:multiLvlStrRef>
          </c:cat>
          <c:val>
            <c:numRef>
              <c:f>Sheet1!$C$2:$C$5</c:f>
              <c:numCache>
                <c:formatCode>General</c:formatCode>
                <c:ptCount val="4"/>
                <c:pt idx="0">
                  <c:v>7.59</c:v>
                </c:pt>
                <c:pt idx="1">
                  <c:v>5.420000000000002</c:v>
                </c:pt>
                <c:pt idx="2">
                  <c:v>3.710000000000001</c:v>
                </c:pt>
                <c:pt idx="3">
                  <c:v>3.9800000000000004</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11827"/>
                </a:solidFill>
                <a:latin typeface="Arial"/>
              </a:defRPr>
            </a:pPr>
            <a:endParaRPr lang="en-US"/>
          </a:p>
        </c:txPr>
        <c:crossAx val="2094734552"/>
        <c:crosses val="autoZero"/>
        <c:auto val="1"/>
        <c:lblAlgn val="ctr"/>
        <c:noMultiLvlLbl val="1"/>
      </c:catAx>
      <c:valAx>
        <c:axId val="2094734552"/>
        <c:scaling>
          <c:orientation val="minMax"/>
          <c:max val="30"/>
          <c:min val="10"/>
        </c:scaling>
        <c:delete val="0"/>
        <c:axPos val="b"/>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7089"/>
                </a:solidFill>
                <a:latin typeface="Arial"/>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Fictional company and data. Built from samples/source/halden-freight/input via scripts/ingest.py.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page: questions for the Board, no figures. Answers follow the analysis (valuation, alternatives, buyers, process) and the recommendation comes after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[F0011]; low [F0064]; high [F0045]; shares [F0012]; net debt [F0013]; LTM EBITDA [F0014]; FY26E EBITDA [F0021]. calc: 1,600 = 18.6 x 86.0 [F0011, F0012]. calc: 2,010 = 1,600 + 410 [F0013]. calc: 9.5x = 2,010 / 212 [F0014]. calc: 8.8x = 2,010 / 228 [F0021].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calc: illustrative prices $21.00, $23.00, $25.00 = steps chosen for discussion [F0011]. calc: at $18.60: premium 0.0% = 18.6 / 18.6 - 1; equity 1,600 = 18.6 x 86.0; EV 2,010 = 1,600 + 410; 9.5x = 2,010 / 212; 8.8x = 2,010 / 228 [F0011, F0012, F0013, F0014, F0021]. calc: at $21.00: premium 12.9% = 21.0 / 18.6 - 1; equity 1,806 = 21.0 x 86.0; EV 2,216 = 1,806 + 410; 10.5x = 2,216 / 212; 9.7x = 2,216 / 228 [F0011, F0012, F0013, F0014, F0021]. calc: at $23.00: premium 23.7% = 23.0 / 18.6 - 1; equity 1,978 = 23.0 x 86.0; EV 2,388 = 1,978 + 410; 11.3x = 2,388 / 212; 10.5x = 2,388 / 228 [F0011, F0012, F0013, F0014, F0021]. calc: at $25.00: premium 34.4% = 25.0 / 18.6 - 1; equity 2,150 = 25.0 x 86.0; EV 2,560 = 2,150 + 410; 12.1x = 2,560 / 212; 11.2x = 2,560 / 228 [F0011, F0012, F0013, F0014, F0021].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52-week range $16.04 [F0064] to $20.02 [F0045]. calc: Trading comps (8.4x–9.8x FY26E EBITDA): $17.50 to $21.21 per share = (multiple x EBITDA - 410) / 86.0 [F0021, F0014, F0013, F0012, F0096-F0110, F0036-F0043]. calc: Precedent transactions (9.6x–11.8x LTM EBITDA): $18.90 to $24.32 per share = (multiple x EBITDA - 410) / 86.0 [F0021, F0014, F0013, F0012, F0096-F0110, F0036-F0043]. calc: DCF $18.30 to $25.89 = 3 x 3 grid of WACC and TGR [F0026, F0027, F0028, F0029, F0030, F0031, F0032, F0033, F0034]. calc: 1 of 4 ranges start above $18.60 [F0011]. calc: comps range 8.4x–9.8x = second-lowest and second-highest of 8.0x, 8.4x, 9.2x, 9.8x, 9.8x [F0096-F0110].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calc: Peer Arden 9.7x = 3,900 / 402 and 9.2x = 3,900 / 425 [F0096-F0110]. calc: Peer Bexley 8.9x = 2,650 / 298 and 8.4x = 2,650 / 315 [F0096-F0110]. calc: Peer Cairn 10.4x = 5,200 / 498 and 9.8x = 5,200 / 530 [F0096-F0110]. calc: Peer Dunmore 8.4x = 1,800 / 214 and 8.0x = 1,800 / 226 [F0096-F0110]. calc: Peer Esker 10.5x = 4,400 / 418 and 9.8x = 4,400 / 447 [F0096-F0110]. calc: medians = middle of five values [F0096-F0110]. calc: Halden 2,010, 9.5x, 8.8x [F0011, F0012, F0013, F0014, F0021].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Qualitative advisor scoring for discussion; no figures on this page. No option is marked recommended here: the recommendation follows the buyer and process 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Capacities [F0002, F0004, F0006, F0008, F0010]. Buyer names are code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dates for discussion, not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Recommendation in the advisor's voice, after the analysis (research/pitchbook-findings.md rule 4). It restates earlier pages and adds no new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Disclaimer written for this sample and placed at the back, as in 5 of 8 coded pitch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7295" cy="219456"/>
          </a:xfrm>
          <a:prstGeom prst="rect">
            <a:avLst/>
          </a:prstGeom>
          <a:noFill/>
          <a:ln/>
        </p:spPr>
        <p:txBody>
          <a:bodyPr wrap="square" rtlCol="0"/>
          <a:lstStyle>
            <a:lvl1pPr indent="0" marL="0">
              <a:buNone/>
              <a:defRPr lang="en-US" sz="850" dirty="0">
                <a:solidFill>
                  <a:srgbClr val="5B7089"/>
                </a:solidFill>
                <a:latin typeface="Arial" pitchFamily="34" charset="0"/>
                <a:ea typeface="Arial" pitchFamily="34" charset="-122"/>
                <a:cs typeface="Arial" pitchFamily="34" charset="-120"/>
              </a:defRPr>
            </a:lvl1pPr>
          </a:lstStyle>
          <a:p>
            <a:pPr indent="0" marL="0">
              <a:buNone/>
            </a:pPr>
            <a:endParaRPr lang="en-US" sz="850" dirty="0"/>
          </a:p>
        </p:txBody>
      </p:sp>
      <p:sp>
        <p:nvSpPr>
          <p:cNvPr id="3" name="Text 0"/>
          <p:cNvSpPr/>
          <p:nvPr>
            <p:ph idx="101" type="title" hasCustomPrompt="1"/>
          </p:nvPr>
        </p:nvSpPr>
        <p:spPr>
          <a:xfrm>
            <a:off x="457200" y="457200"/>
            <a:ext cx="11277295" cy="822960"/>
          </a:xfrm>
          <a:prstGeom prst="rect">
            <a:avLst/>
          </a:prstGeom>
          <a:noFill/>
          <a:ln/>
        </p:spPr>
        <p:txBody>
          <a:bodyPr wrap="square" rtlCol="0"/>
          <a:lstStyle>
            <a:lvl1pPr algn="l" indent="0" marL="0">
              <a:buNone/>
              <a:defRPr lang="en-US" sz="2000" b="1" dirty="0">
                <a:solidFill>
                  <a:srgbClr val="111827"/>
                </a:solidFill>
                <a:latin typeface="Arial" pitchFamily="34" charset="0"/>
                <a:ea typeface="Arial" pitchFamily="34" charset="-122"/>
                <a:cs typeface="Arial" pitchFamily="34" charset="-120"/>
              </a:defRPr>
            </a:lvl1pPr>
          </a:lstStyle>
          <a:p>
            <a:pPr algn="l" indent="0" marL="0">
              <a:buNone/>
            </a:pPr>
            <a:endParaRPr lang="en-US" sz="2000" dirty="0"/>
          </a:p>
        </p:txBody>
      </p:sp>
      <p:sp>
        <p:nvSpPr>
          <p:cNvPr id="4" name="Text 0"/>
          <p:cNvSpPr/>
          <p:nvPr>
            <p:ph idx="102" type="body" hasCustomPrompt="1"/>
          </p:nvPr>
        </p:nvSpPr>
        <p:spPr>
          <a:xfrm>
            <a:off x="457200" y="6382512"/>
            <a:ext cx="10454335" cy="274320"/>
          </a:xfrm>
          <a:prstGeom prst="rect">
            <a:avLst/>
          </a:prstGeom>
          <a:noFill/>
          <a:ln/>
        </p:spPr>
        <p:txBody>
          <a:bodyPr wrap="square" rtlCol="0"/>
          <a:lstStyle>
            <a:lvl1pPr indent="0" marL="0">
              <a:buNone/>
              <a:defRPr lang="en-US" sz="750" dirty="0">
                <a:solidFill>
                  <a:srgbClr val="5B7089"/>
                </a:solidFill>
                <a:latin typeface="Arial" pitchFamily="34" charset="0"/>
                <a:ea typeface="Arial" pitchFamily="34" charset="-122"/>
                <a:cs typeface="Arial" pitchFamily="34" charset="-120"/>
              </a:defRPr>
            </a:lvl1pPr>
          </a:lstStyle>
          <a:p>
            <a:pPr indent="0" marL="0">
              <a:buNone/>
            </a:pPr>
            <a:endParaRPr lang="en-US" sz="750" dirty="0"/>
          </a:p>
        </p:txBody>
      </p:sp>
      <p:sp>
        <p:nvSpPr>
          <p:cNvPr id="25"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750">
                <a:solidFill>
                  <a:srgbClr val="5B7089"/>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750">
                <a:solidFill>
                  <a:srgbClr val="5B7089"/>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545"/>
        </a:solidFill>
      </p:bgPr>
    </p:bg>
    <p:spTree>
      <p:nvGrpSpPr>
        <p:cNvPr id="1" name=""/>
        <p:cNvGrpSpPr/>
        <p:nvPr/>
      </p:nvGrpSpPr>
      <p:grpSpPr>
        <a:xfrm>
          <a:off x="0" y="0"/>
          <a:ext cx="0" cy="0"/>
          <a:chOff x="0" y="0"/>
          <a:chExt cx="0" cy="0"/>
        </a:xfrm>
      </p:grpSpPr>
      <p:sp>
        <p:nvSpPr>
          <p:cNvPr id="2" name="Text 0"/>
          <p:cNvSpPr/>
          <p:nvPr/>
        </p:nvSpPr>
        <p:spPr>
          <a:xfrm>
            <a:off x="731520" y="2194560"/>
            <a:ext cx="9905695" cy="1280160"/>
          </a:xfrm>
          <a:prstGeom prst="rect">
            <a:avLst/>
          </a:prstGeom>
          <a:noFill/>
          <a:ln/>
        </p:spPr>
        <p:txBody>
          <a:bodyPr wrap="square" lIns="0" tIns="0" rIns="0" bIns="0" rtlCol="0" anchor="b"/>
          <a:lstStyle/>
          <a:p>
            <a:pPr indent="0" marL="0">
              <a:buNone/>
            </a:pPr>
            <a:r>
              <a:rPr lang="en-US" sz="3400" b="1" dirty="0">
                <a:solidFill>
                  <a:srgbClr val="FFFFFF"/>
                </a:solidFill>
                <a:latin typeface="Arial" pitchFamily="34" charset="0"/>
                <a:ea typeface="Arial" pitchFamily="34" charset="-122"/>
                <a:cs typeface="Arial" pitchFamily="34" charset="-120"/>
              </a:rPr>
              <a:t>Project Heron: strategic alternatives review</a:t>
            </a:r>
            <a:endParaRPr lang="en-US" sz="3400" dirty="0"/>
          </a:p>
        </p:txBody>
      </p:sp>
      <p:sp>
        <p:nvSpPr>
          <p:cNvPr id="3" name="Text 1"/>
          <p:cNvSpPr/>
          <p:nvPr/>
        </p:nvSpPr>
        <p:spPr>
          <a:xfrm>
            <a:off x="731520" y="3611880"/>
            <a:ext cx="9905695" cy="548640"/>
          </a:xfrm>
          <a:prstGeom prst="rect">
            <a:avLst/>
          </a:prstGeom>
          <a:noFill/>
          <a:ln/>
        </p:spPr>
        <p:txBody>
          <a:bodyPr wrap="square" lIns="0" tIns="0" rIns="0" bIns="0" rtlCol="0" anchor="t"/>
          <a:lstStyle/>
          <a:p>
            <a:pPr indent="0" marL="0">
              <a:buNone/>
            </a:pPr>
            <a:r>
              <a:rPr lang="en-US" sz="1600" dirty="0">
                <a:solidFill>
                  <a:srgbClr val="EDF1F6"/>
                </a:solidFill>
                <a:latin typeface="Arial" pitchFamily="34" charset="0"/>
                <a:ea typeface="Arial" pitchFamily="34" charset="-122"/>
                <a:cs typeface="Arial" pitchFamily="34" charset="-120"/>
              </a:rPr>
              <a:t>Discussion materials for the Board of Halden Freight Systems</a:t>
            </a:r>
            <a:endParaRPr lang="en-US" sz="1600" dirty="0"/>
          </a:p>
        </p:txBody>
      </p:sp>
      <p:sp>
        <p:nvSpPr>
          <p:cNvPr id="4" name="Text 2"/>
          <p:cNvSpPr/>
          <p:nvPr/>
        </p:nvSpPr>
        <p:spPr>
          <a:xfrm>
            <a:off x="731520" y="5943600"/>
            <a:ext cx="10362895" cy="365760"/>
          </a:xfrm>
          <a:prstGeom prst="rect">
            <a:avLst/>
          </a:prstGeom>
          <a:noFill/>
          <a:ln/>
        </p:spPr>
        <p:txBody>
          <a:bodyPr wrap="square" lIns="0" tIns="0" rIns="0" bIns="0" rtlCol="0" anchor="t"/>
          <a:lstStyle/>
          <a:p>
            <a:pPr indent="0" marL="0">
              <a:buNone/>
            </a:pPr>
            <a:r>
              <a:rPr lang="en-US" sz="1100" dirty="0">
                <a:solidFill>
                  <a:srgbClr val="EDF1F6"/>
                </a:solidFill>
                <a:latin typeface="Arial" pitchFamily="34" charset="0"/>
                <a:ea typeface="Arial" pitchFamily="34" charset="-122"/>
                <a:cs typeface="Arial" pitchFamily="34" charset="-120"/>
              </a:rPr>
              <a:t>Fictional sample · deck-studio</a:t>
            </a:r>
            <a:endParaRPr lang="en-US" sz="1100" dirty="0"/>
          </a:p>
        </p:txBody>
      </p:sp>
      <p:sp>
        <p:nvSpPr>
          <p:cNvPr id="5" name="Text 3"/>
          <p:cNvSpPr/>
          <p:nvPr/>
        </p:nvSpPr>
        <p:spPr>
          <a:xfrm>
            <a:off x="8716975" y="365760"/>
            <a:ext cx="2743200" cy="274320"/>
          </a:xfrm>
          <a:prstGeom prst="rect">
            <a:avLst/>
          </a:prstGeom>
          <a:noFill/>
          <a:ln/>
        </p:spPr>
        <p:txBody>
          <a:bodyPr wrap="square" lIns="0" tIns="0" rIns="0" bIns="0" rtlCol="0" anchor="t"/>
          <a:lstStyle/>
          <a:p>
            <a:pPr algn="r" indent="0" marL="0">
              <a:buNone/>
            </a:pPr>
            <a:r>
              <a:rPr lang="en-US" sz="1000" dirty="0">
                <a:solidFill>
                  <a:srgbClr val="EDF1F6"/>
                </a:solidFill>
                <a:latin typeface="Arial" pitchFamily="34" charset="0"/>
                <a:ea typeface="Arial" pitchFamily="34" charset="-122"/>
                <a:cs typeface="Arial" pitchFamily="34" charset="-120"/>
              </a:rPr>
              <a:t>Confidential · Preliminary draft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457200" y="457200"/>
            <a:ext cx="11277295" cy="822960"/>
          </a:xfrm>
          <a:prstGeom prst="rect">
            <a:avLst/>
          </a:prstGeom>
          <a:noFill/>
          <a:ln/>
        </p:spPr>
        <p:txBody>
          <a:bodyPr wrap="square" lIns="0" tIns="0" rIns="0" bIns="0" rtlCol="0" anchor="t"/>
          <a:lstStyle/>
          <a:p>
            <a:pPr algn="l" indent="0" marL="0">
              <a:buNone/>
            </a:pPr>
            <a:r>
              <a:rPr lang="en-US" sz="2000" b="1" dirty="0">
                <a:solidFill>
                  <a:srgbClr val="111827"/>
                </a:solidFill>
                <a:latin typeface="Arial" pitchFamily="34" charset="0"/>
                <a:ea typeface="Arial" pitchFamily="34" charset="-122"/>
                <a:cs typeface="Arial" pitchFamily="34" charset="-120"/>
              </a:rPr>
              <a:t>Key considerations</a:t>
            </a:r>
            <a:endParaRPr lang="en-US" sz="2000" dirty="0"/>
          </a:p>
        </p:txBody>
      </p:sp>
      <p:sp>
        <p:nvSpPr>
          <p:cNvPr id="3" name="Text 1"/>
          <p:cNvSpPr/>
          <p:nvPr/>
        </p:nvSpPr>
        <p:spPr>
          <a:xfrm>
            <a:off x="8991295" y="201168"/>
            <a:ext cx="2743200" cy="219456"/>
          </a:xfrm>
          <a:prstGeom prst="rect">
            <a:avLst/>
          </a:prstGeom>
          <a:noFill/>
          <a:ln/>
        </p:spPr>
        <p:txBody>
          <a:bodyPr wrap="square" lIns="0" tIns="0" rIns="0" bIns="0" rtlCol="0" anchor="t"/>
          <a:lstStyle/>
          <a:p>
            <a:pPr algn="r" indent="0" marL="0">
              <a:buNone/>
            </a:pPr>
            <a:r>
              <a:rPr lang="en-US" sz="850" dirty="0">
                <a:solidFill>
                  <a:srgbClr val="5B7089"/>
                </a:solidFill>
                <a:latin typeface="Arial" pitchFamily="34" charset="0"/>
                <a:ea typeface="Arial" pitchFamily="34" charset="-122"/>
                <a:cs typeface="Arial" pitchFamily="34" charset="-120"/>
              </a:rPr>
              <a:t>Confidential · Preliminary draft</a:t>
            </a:r>
            <a:endParaRPr lang="en-US" sz="850" dirty="0"/>
          </a:p>
        </p:txBody>
      </p:sp>
      <p:sp>
        <p:nvSpPr>
          <p:cNvPr id="4" name="Shape 2"/>
          <p:cNvSpPr/>
          <p:nvPr/>
        </p:nvSpPr>
        <p:spPr>
          <a:xfrm>
            <a:off x="457200" y="1645920"/>
            <a:ext cx="11277295" cy="980694"/>
          </a:xfrm>
          <a:prstGeom prst="rect">
            <a:avLst/>
          </a:prstGeom>
          <a:solidFill>
            <a:srgbClr val="EDF1F6"/>
          </a:solidFill>
          <a:ln/>
        </p:spPr>
      </p:sp>
      <p:sp>
        <p:nvSpPr>
          <p:cNvPr id="5" name="Text 3"/>
          <p:cNvSpPr/>
          <p:nvPr/>
        </p:nvSpPr>
        <p:spPr>
          <a:xfrm>
            <a:off x="640080" y="1719072"/>
            <a:ext cx="10911535" cy="834390"/>
          </a:xfrm>
          <a:prstGeom prst="rect">
            <a:avLst/>
          </a:prstGeom>
          <a:noFill/>
          <a:ln/>
        </p:spPr>
        <p:txBody>
          <a:bodyPr wrap="square" lIns="0" tIns="0" rIns="0" bIns="0" rtlCol="0" anchor="ctr"/>
          <a:lstStyle/>
          <a:p>
            <a:pPr indent="0" marL="0">
              <a:spcAft>
                <a:spcPts val="200"/>
              </a:spcAft>
              <a:buNone/>
            </a:pPr>
            <a:r>
              <a:rPr lang="en-US" sz="1100" b="1" dirty="0">
                <a:solidFill>
                  <a:srgbClr val="111827"/>
                </a:solidFill>
                <a:latin typeface="Arial" pitchFamily="34" charset="0"/>
                <a:ea typeface="Arial" pitchFamily="34" charset="-122"/>
                <a:cs typeface="Arial" pitchFamily="34" charset="-120"/>
              </a:rPr>
              <a:t>Is the plan worth more than a sale?</a:t>
            </a:r>
            <a:endParaRPr lang="en-US" sz="1100" dirty="0"/>
          </a:p>
        </p:txBody>
      </p:sp>
      <p:sp>
        <p:nvSpPr>
          <p:cNvPr id="6" name="Shape 4"/>
          <p:cNvSpPr/>
          <p:nvPr/>
        </p:nvSpPr>
        <p:spPr>
          <a:xfrm>
            <a:off x="457200" y="2736342"/>
            <a:ext cx="11277295" cy="980694"/>
          </a:xfrm>
          <a:prstGeom prst="rect">
            <a:avLst/>
          </a:prstGeom>
          <a:solidFill>
            <a:srgbClr val="EDF1F6"/>
          </a:solidFill>
          <a:ln/>
        </p:spPr>
      </p:sp>
      <p:sp>
        <p:nvSpPr>
          <p:cNvPr id="7" name="Text 5"/>
          <p:cNvSpPr/>
          <p:nvPr/>
        </p:nvSpPr>
        <p:spPr>
          <a:xfrm>
            <a:off x="640080" y="2809494"/>
            <a:ext cx="10911535" cy="834390"/>
          </a:xfrm>
          <a:prstGeom prst="rect">
            <a:avLst/>
          </a:prstGeom>
          <a:noFill/>
          <a:ln/>
        </p:spPr>
        <p:txBody>
          <a:bodyPr wrap="square" lIns="0" tIns="0" rIns="0" bIns="0" rtlCol="0" anchor="ctr"/>
          <a:lstStyle/>
          <a:p>
            <a:pPr indent="0" marL="0">
              <a:spcAft>
                <a:spcPts val="200"/>
              </a:spcAft>
              <a:buNone/>
            </a:pPr>
            <a:r>
              <a:rPr lang="en-US" sz="1100" b="1" dirty="0">
                <a:solidFill>
                  <a:srgbClr val="111827"/>
                </a:solidFill>
                <a:latin typeface="Arial" pitchFamily="34" charset="0"/>
                <a:ea typeface="Arial" pitchFamily="34" charset="-122"/>
                <a:cs typeface="Arial" pitchFamily="34" charset="-120"/>
              </a:rPr>
              <a:t>Who could pay the most?</a:t>
            </a:r>
            <a:endParaRPr lang="en-US" sz="1100" dirty="0"/>
          </a:p>
        </p:txBody>
      </p:sp>
      <p:sp>
        <p:nvSpPr>
          <p:cNvPr id="8" name="Shape 6"/>
          <p:cNvSpPr/>
          <p:nvPr/>
        </p:nvSpPr>
        <p:spPr>
          <a:xfrm>
            <a:off x="457200" y="3826764"/>
            <a:ext cx="11277295" cy="980694"/>
          </a:xfrm>
          <a:prstGeom prst="rect">
            <a:avLst/>
          </a:prstGeom>
          <a:solidFill>
            <a:srgbClr val="EDF1F6"/>
          </a:solidFill>
          <a:ln/>
        </p:spPr>
      </p:sp>
      <p:sp>
        <p:nvSpPr>
          <p:cNvPr id="9" name="Text 7"/>
          <p:cNvSpPr/>
          <p:nvPr/>
        </p:nvSpPr>
        <p:spPr>
          <a:xfrm>
            <a:off x="640080" y="3899916"/>
            <a:ext cx="10911535" cy="834390"/>
          </a:xfrm>
          <a:prstGeom prst="rect">
            <a:avLst/>
          </a:prstGeom>
          <a:noFill/>
          <a:ln/>
        </p:spPr>
        <p:txBody>
          <a:bodyPr wrap="square" lIns="0" tIns="0" rIns="0" bIns="0" rtlCol="0" anchor="ctr"/>
          <a:lstStyle/>
          <a:p>
            <a:pPr indent="0" marL="0">
              <a:spcAft>
                <a:spcPts val="200"/>
              </a:spcAft>
              <a:buNone/>
            </a:pPr>
            <a:r>
              <a:rPr lang="en-US" sz="1100" b="1" dirty="0">
                <a:solidFill>
                  <a:srgbClr val="111827"/>
                </a:solidFill>
                <a:latin typeface="Arial" pitchFamily="34" charset="0"/>
                <a:ea typeface="Arial" pitchFamily="34" charset="-122"/>
                <a:cs typeface="Arial" pitchFamily="34" charset="-120"/>
              </a:rPr>
              <a:t>How much certainty does the Board need?</a:t>
            </a:r>
            <a:endParaRPr lang="en-US" sz="1100" dirty="0"/>
          </a:p>
        </p:txBody>
      </p:sp>
      <p:sp>
        <p:nvSpPr>
          <p:cNvPr id="10" name="Shape 8"/>
          <p:cNvSpPr/>
          <p:nvPr/>
        </p:nvSpPr>
        <p:spPr>
          <a:xfrm>
            <a:off x="457200" y="4917186"/>
            <a:ext cx="11277295" cy="980694"/>
          </a:xfrm>
          <a:prstGeom prst="rect">
            <a:avLst/>
          </a:prstGeom>
          <a:solidFill>
            <a:srgbClr val="EDF1F6"/>
          </a:solidFill>
          <a:ln/>
        </p:spPr>
      </p:sp>
      <p:sp>
        <p:nvSpPr>
          <p:cNvPr id="11" name="Text 9"/>
          <p:cNvSpPr/>
          <p:nvPr/>
        </p:nvSpPr>
        <p:spPr>
          <a:xfrm>
            <a:off x="640080" y="4990338"/>
            <a:ext cx="10911535" cy="834390"/>
          </a:xfrm>
          <a:prstGeom prst="rect">
            <a:avLst/>
          </a:prstGeom>
          <a:noFill/>
          <a:ln/>
        </p:spPr>
        <p:txBody>
          <a:bodyPr wrap="square" lIns="0" tIns="0" rIns="0" bIns="0" rtlCol="0" anchor="ctr"/>
          <a:lstStyle/>
          <a:p>
            <a:pPr indent="0" marL="0">
              <a:spcAft>
                <a:spcPts val="200"/>
              </a:spcAft>
              <a:buNone/>
            </a:pPr>
            <a:r>
              <a:rPr lang="en-US" sz="1100" b="1" dirty="0">
                <a:solidFill>
                  <a:srgbClr val="111827"/>
                </a:solidFill>
                <a:latin typeface="Arial" pitchFamily="34" charset="0"/>
                <a:ea typeface="Arial" pitchFamily="34" charset="-122"/>
                <a:cs typeface="Arial" pitchFamily="34" charset="-120"/>
              </a:rPr>
              <a:t>What would a process cost the business?</a:t>
            </a:r>
            <a:endParaRPr lang="en-US" sz="1100" dirty="0"/>
          </a:p>
        </p:txBody>
      </p:sp>
      <p:sp>
        <p:nvSpPr>
          <p:cNvPr id="12" name="Text 0"/>
          <p:cNvSpPr/>
          <p:nvPr>
            <p:ph idx="100" type="body" hasCustomPrompt="1"/>
          </p:nvPr>
        </p:nvSpPr>
        <p:spPr>
          <a:xfrm>
            <a:off x="457200" y="201168"/>
            <a:ext cx="11277295" cy="219456"/>
          </a:xfrm>
          <a:prstGeom prst="rect">
            <a:avLst/>
          </a:prstGeom>
          <a:noFill/>
          <a:ln/>
        </p:spPr>
        <p:txBody>
          <a:bodyPr wrap="square" lIns="0" tIns="0" rIns="0" bIns="0" rtlCol="0" anchor="t"/>
          <a:lstStyle/>
          <a:p>
            <a:pPr indent="0" marL="0">
              <a:buNone/>
            </a:pPr>
            <a:endParaRPr lang="en-US" sz="850" dirty="0"/>
          </a:p>
        </p:txBody>
      </p:sp>
      <p:sp>
        <p:nvSpPr>
          <p:cNvPr id="13" name="Text 0"/>
          <p:cNvSpPr/>
          <p:nvPr>
            <p:ph idx="102" type="body" hasCustomPrompt="1"/>
          </p:nvPr>
        </p:nvSpPr>
        <p:spPr>
          <a:xfrm>
            <a:off x="457200" y="6382512"/>
            <a:ext cx="10454335" cy="274320"/>
          </a:xfrm>
          <a:prstGeom prst="rect">
            <a:avLst/>
          </a:prstGeom>
          <a:noFill/>
          <a:ln/>
        </p:spPr>
        <p:txBody>
          <a:bodyPr wrap="square" lIns="0" tIns="0" rIns="0" bIns="0" rtlCol="0" anchor="b"/>
          <a:lstStyle/>
          <a:p>
            <a:pPr indent="0" marL="0">
              <a:buNone/>
            </a:pPr>
            <a:endParaRPr lang="en-US" sz="750" dirty="0"/>
          </a:p>
        </p:txBody>
      </p:sp>
      <p:sp>
        <p:nvSpPr>
          <p:cNvPr id="14"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750">
                <a:solidFill>
                  <a:srgbClr val="5B7089"/>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7295" cy="219456"/>
          </a:xfrm>
          <a:prstGeom prst="rect">
            <a:avLst/>
          </a:prstGeom>
          <a:noFill/>
          <a:ln/>
        </p:spPr>
        <p:txBody>
          <a:bodyPr wrap="square" lIns="0" tIns="0" rIns="0" bIns="0" rtlCol="0" anchor="t"/>
          <a:lstStyle/>
          <a:p>
            <a:pPr indent="0" marL="0">
              <a:buNone/>
            </a:pPr>
            <a:r>
              <a:rPr lang="en-US" sz="850" b="1" dirty="0">
                <a:solidFill>
                  <a:srgbClr val="0B2545"/>
                </a:solidFill>
                <a:latin typeface="Arial" pitchFamily="34" charset="0"/>
                <a:ea typeface="Arial" pitchFamily="34" charset="-122"/>
                <a:cs typeface="Arial" pitchFamily="34" charset="-120"/>
              </a:rPr>
              <a:t>1 Situation   ·   </a:t>
            </a:r>
            <a:pPr indent="0" marL="0">
              <a:buNone/>
            </a:pPr>
            <a:r>
              <a:rPr lang="en-US" sz="850" dirty="0">
                <a:solidFill>
                  <a:srgbClr val="5B7089"/>
                </a:solidFill>
                <a:latin typeface="Arial" pitchFamily="34" charset="0"/>
                <a:ea typeface="Arial" pitchFamily="34" charset="-122"/>
                <a:cs typeface="Arial" pitchFamily="34" charset="-120"/>
              </a:rPr>
              <a:t>2 Valuation   ·   </a:t>
            </a:r>
            <a:pPr indent="0" marL="0">
              <a:buNone/>
            </a:pPr>
            <a:r>
              <a:rPr lang="en-US" sz="850" dirty="0">
                <a:solidFill>
                  <a:srgbClr val="5B7089"/>
                </a:solidFill>
                <a:latin typeface="Arial" pitchFamily="34" charset="0"/>
                <a:ea typeface="Arial" pitchFamily="34" charset="-122"/>
                <a:cs typeface="Arial" pitchFamily="34" charset="-120"/>
              </a:rPr>
              <a:t>3 Alternatives   ·   </a:t>
            </a:r>
            <a:pPr indent="0" marL="0">
              <a:buNone/>
            </a:pPr>
            <a:r>
              <a:rPr lang="en-US" sz="850" dirty="0">
                <a:solidFill>
                  <a:srgbClr val="5B7089"/>
                </a:solidFill>
                <a:latin typeface="Arial" pitchFamily="34" charset="0"/>
                <a:ea typeface="Arial" pitchFamily="34" charset="-122"/>
                <a:cs typeface="Arial" pitchFamily="34" charset="-120"/>
              </a:rPr>
              <a:t>4 Process</a:t>
            </a:r>
            <a:endParaRPr lang="en-US" sz="850" dirty="0"/>
          </a:p>
        </p:txBody>
      </p:sp>
      <p:sp>
        <p:nvSpPr>
          <p:cNvPr id="3" name="Text 0"/>
          <p:cNvSpPr/>
          <p:nvPr>
            <p:ph idx="101" type="title" hasCustomPrompt="1"/>
          </p:nvPr>
        </p:nvSpPr>
        <p:spPr>
          <a:xfrm>
            <a:off x="457200" y="457200"/>
            <a:ext cx="11277295" cy="822960"/>
          </a:xfrm>
          <a:prstGeom prst="rect">
            <a:avLst/>
          </a:prstGeom>
          <a:noFill/>
          <a:ln/>
        </p:spPr>
        <p:txBody>
          <a:bodyPr wrap="square" lIns="0" tIns="0" rIns="0" bIns="0" rtlCol="0" anchor="t"/>
          <a:lstStyle/>
          <a:p>
            <a:pPr algn="l" indent="0" marL="0">
              <a:buNone/>
            </a:pPr>
            <a:r>
              <a:rPr lang="en-US" sz="2000" b="1" dirty="0">
                <a:solidFill>
                  <a:srgbClr val="111827"/>
                </a:solidFill>
                <a:latin typeface="Arial" pitchFamily="34" charset="0"/>
                <a:ea typeface="Arial" pitchFamily="34" charset="-122"/>
                <a:cs typeface="Arial" pitchFamily="34" charset="-120"/>
              </a:rPr>
              <a:t>Market snapshot: $18.60 per share, 9.5x LTM EBITDA</a:t>
            </a:r>
            <a:endParaRPr lang="en-US" sz="2000" dirty="0"/>
          </a:p>
        </p:txBody>
      </p:sp>
      <p:sp>
        <p:nvSpPr>
          <p:cNvPr id="4" name="Text 2"/>
          <p:cNvSpPr/>
          <p:nvPr/>
        </p:nvSpPr>
        <p:spPr>
          <a:xfrm>
            <a:off x="457200" y="1298448"/>
            <a:ext cx="11277295" cy="256032"/>
          </a:xfrm>
          <a:prstGeom prst="rect">
            <a:avLst/>
          </a:prstGeom>
          <a:noFill/>
          <a:ln/>
        </p:spPr>
        <p:txBody>
          <a:bodyPr wrap="square" lIns="0" tIns="0" rIns="0" bIns="0" rtlCol="0" anchor="t"/>
          <a:lstStyle/>
          <a:p>
            <a:pPr indent="0" marL="0">
              <a:buNone/>
            </a:pPr>
            <a:r>
              <a:rPr lang="en-US" sz="1000" i="1" dirty="0">
                <a:solidFill>
                  <a:srgbClr val="5B7089"/>
                </a:solidFill>
                <a:latin typeface="Arial" pitchFamily="34" charset="0"/>
                <a:ea typeface="Arial" pitchFamily="34" charset="-122"/>
                <a:cs typeface="Arial" pitchFamily="34" charset="-120"/>
              </a:rPr>
              <a:t>($ in millions, except per-share values)</a:t>
            </a:r>
            <a:endParaRPr lang="en-US" sz="1000" dirty="0"/>
          </a:p>
        </p:txBody>
      </p:sp>
      <p:sp>
        <p:nvSpPr>
          <p:cNvPr id="5" name="Text 0"/>
          <p:cNvSpPr/>
          <p:nvPr>
            <p:ph idx="102" type="body" hasCustomPrompt="1"/>
          </p:nvPr>
        </p:nvSpPr>
        <p:spPr>
          <a:xfrm>
            <a:off x="457200" y="6382512"/>
            <a:ext cx="10454335" cy="274320"/>
          </a:xfrm>
          <a:prstGeom prst="rect">
            <a:avLst/>
          </a:prstGeom>
          <a:noFill/>
          <a:ln/>
        </p:spPr>
        <p:txBody>
          <a:bodyPr wrap="square" lIns="0" tIns="0" rIns="0" bIns="0" rtlCol="0" anchor="b"/>
          <a:lstStyle/>
          <a:p>
            <a:pPr indent="0" marL="0">
              <a:buNone/>
            </a:pPr>
            <a:r>
              <a:rPr lang="en-US" sz="750" dirty="0">
                <a:solidFill>
                  <a:srgbClr val="5B7089"/>
                </a:solidFill>
                <a:latin typeface="Arial" pitchFamily="34" charset="0"/>
                <a:ea typeface="Arial" pitchFamily="34" charset="-122"/>
                <a:cs typeface="Arial" pitchFamily="34" charset="-120"/>
              </a:rPr>
              <a:t>Source: Company capitalization table; weekly closing prices to 1 Sep 2026; management projections (August 2026)</a:t>
            </a:r>
            <a:endParaRPr lang="en-US" sz="750" dirty="0"/>
          </a:p>
        </p:txBody>
      </p:sp>
      <p:sp>
        <p:nvSpPr>
          <p:cNvPr id="6" name="Text 4"/>
          <p:cNvSpPr/>
          <p:nvPr/>
        </p:nvSpPr>
        <p:spPr>
          <a:xfrm>
            <a:off x="8991295" y="201168"/>
            <a:ext cx="2743200" cy="219456"/>
          </a:xfrm>
          <a:prstGeom prst="rect">
            <a:avLst/>
          </a:prstGeom>
          <a:noFill/>
          <a:ln/>
        </p:spPr>
        <p:txBody>
          <a:bodyPr wrap="square" lIns="0" tIns="0" rIns="0" bIns="0" rtlCol="0" anchor="t"/>
          <a:lstStyle/>
          <a:p>
            <a:pPr algn="r" indent="0" marL="0">
              <a:buNone/>
            </a:pPr>
            <a:r>
              <a:rPr lang="en-US" sz="850" dirty="0">
                <a:solidFill>
                  <a:srgbClr val="5B7089"/>
                </a:solidFill>
                <a:latin typeface="Arial" pitchFamily="34" charset="0"/>
                <a:ea typeface="Arial" pitchFamily="34" charset="-122"/>
                <a:cs typeface="Arial" pitchFamily="34" charset="-120"/>
              </a:rPr>
              <a:t>Confidential · Preliminary draft</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7295" cy="914400"/>
        </p:xfrm>
        <a:graphic>
          <a:graphicData uri="http://schemas.openxmlformats.org/drawingml/2006/table">
            <a:tbl>
              <a:tblPr/>
              <a:tblGrid>
                <a:gridCol w="4754880"/>
                <a:gridCol w="2011680"/>
                <a:gridCol w="4480560"/>
              </a:tblGrid>
              <a:tr h="457200">
                <a:tc>
                  <a:txBody>
                    <a:bodyPr/>
                    <a:lstStyle/>
                    <a:p>
                      <a:pPr algn="l" indent="0" marL="0">
                        <a:buNone/>
                      </a:pPr>
                      <a:r>
                        <a:rPr lang="en-US" sz="1100" b="1" dirty="0">
                          <a:solidFill>
                            <a:srgbClr val="5B7089"/>
                          </a:solidFill>
                          <a:latin typeface="Arial" pitchFamily="34" charset="0"/>
                          <a:ea typeface="Arial" pitchFamily="34" charset="-122"/>
                          <a:cs typeface="Arial" pitchFamily="34" charset="-120"/>
                        </a:rPr>
                        <a:t>Metric</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111827"/>
                      </a:solidFill>
                      <a:prstDash val="solid"/>
                      <a:round/>
                      <a:headEnd type="none" w="med" len="med"/>
                      <a:tailEnd type="none" w="med" len="med"/>
                    </a:lnB>
                  </a:tcPr>
                </a:tc>
                <a:tc>
                  <a:txBody>
                    <a:bodyPr/>
                    <a:lstStyle/>
                    <a:p>
                      <a:pPr algn="r" indent="0" marL="0">
                        <a:buNone/>
                      </a:pPr>
                      <a:r>
                        <a:rPr lang="en-US" sz="1100" b="1" dirty="0">
                          <a:solidFill>
                            <a:srgbClr val="5B7089"/>
                          </a:solidFill>
                          <a:latin typeface="Arial" pitchFamily="34" charset="0"/>
                          <a:ea typeface="Arial" pitchFamily="34" charset="-122"/>
                          <a:cs typeface="Arial" pitchFamily="34" charset="-120"/>
                        </a:rPr>
                        <a:t>Value</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111827"/>
                      </a:solidFill>
                      <a:prstDash val="solid"/>
                      <a:round/>
                      <a:headEnd type="none" w="med" len="med"/>
                      <a:tailEnd type="none" w="med" len="med"/>
                    </a:lnB>
                  </a:tcPr>
                </a:tc>
                <a:tc>
                  <a:txBody>
                    <a:bodyPr/>
                    <a:lstStyle/>
                    <a:p>
                      <a:pPr algn="l" indent="0" marL="0">
                        <a:buNone/>
                      </a:pPr>
                      <a:r>
                        <a:rPr lang="en-US" sz="1100" b="1" dirty="0">
                          <a:solidFill>
                            <a:srgbClr val="5B7089"/>
                          </a:solidFill>
                          <a:latin typeface="Arial" pitchFamily="34" charset="0"/>
                          <a:ea typeface="Arial" pitchFamily="34" charset="-122"/>
                          <a:cs typeface="Arial" pitchFamily="34" charset="-120"/>
                        </a:rPr>
                        <a:t>Basis</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111827"/>
                      </a:solidFill>
                      <a:prstDash val="solid"/>
                      <a:round/>
                      <a:headEnd type="none" w="med" len="med"/>
                      <a:tailEnd type="none" w="med" len="med"/>
                    </a:lnB>
                  </a:tcPr>
                </a:tc>
              </a:tr>
              <a:tr h="457200">
                <a:tc>
                  <a:txBody>
                    <a:bodyPr/>
                    <a:lstStyle/>
                    <a:p>
                      <a:pPr algn="l" indent="0" marL="0">
                        <a:buNone/>
                      </a:pPr>
                      <a:r>
                        <a:rPr lang="en-US" sz="1100" b="1" dirty="0">
                          <a:solidFill>
                            <a:srgbClr val="111827"/>
                          </a:solidFill>
                          <a:latin typeface="Arial" pitchFamily="34" charset="0"/>
                          <a:ea typeface="Arial" pitchFamily="34" charset="-122"/>
                          <a:cs typeface="Arial" pitchFamily="34" charset="-120"/>
                        </a:rPr>
                        <a:t>Share price (1 Sep 2026)</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solidFill>
                      <a:srgbClr val="F5EEDC"/>
                    </a:solidFill>
                  </a:tcPr>
                </a:tc>
                <a:tc>
                  <a:txBody>
                    <a:bodyPr/>
                    <a:lstStyle/>
                    <a:p>
                      <a:pPr algn="r" indent="0" marL="0">
                        <a:buNone/>
                      </a:pPr>
                      <a:r>
                        <a:rPr lang="en-US" sz="1100" b="1" dirty="0">
                          <a:solidFill>
                            <a:srgbClr val="111827"/>
                          </a:solidFill>
                          <a:latin typeface="Arial" pitchFamily="34" charset="0"/>
                          <a:ea typeface="Arial" pitchFamily="34" charset="-122"/>
                          <a:cs typeface="Arial" pitchFamily="34" charset="-120"/>
                        </a:rPr>
                        <a:t>$18.60</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solidFill>
                      <a:srgbClr val="F5EEDC"/>
                    </a:solidFill>
                  </a:tcPr>
                </a:tc>
                <a:tc>
                  <a:txBody>
                    <a:bodyPr/>
                    <a:lstStyle/>
                    <a:p>
                      <a:pPr algn="l" indent="0" marL="0">
                        <a:buNone/>
                      </a:pPr>
                      <a:r>
                        <a:rPr lang="en-US" sz="1100" b="1" dirty="0">
                          <a:solidFill>
                            <a:srgbClr val="111827"/>
                          </a:solidFill>
                          <a:latin typeface="Arial" pitchFamily="34" charset="0"/>
                          <a:ea typeface="Arial" pitchFamily="34" charset="-122"/>
                          <a:cs typeface="Arial" pitchFamily="34" charset="-120"/>
                        </a:rPr>
                        <a:t>Market close</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solidFill>
                      <a:srgbClr val="F5EEDC"/>
                    </a:solidFill>
                  </a:tcPr>
                </a:tc>
              </a:tr>
              <a:tr h="457200">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52-week low / high</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$16.04 / $20.02</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Weekly closes</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457200">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Diluted shares</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86.0M</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Capitalization table</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457200">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Equity value</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1,600</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Price × diluted shares</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457200">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Net debt</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410</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Capitalization table</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457200">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Enterprise value</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2,010</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Equity value + net debt</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457200">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EV / LTM EBITDA ($212M)</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9.5x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EV / LTM EBITDA</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457200">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EV / FY26E EBITDA ($228M)</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8.8x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Management case</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bl>
          </a:graphicData>
        </a:graphic>
      </p:graphicFrame>
      <p:sp>
        <p:nvSpPr>
          <p:cNvPr id="8"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750">
                <a:solidFill>
                  <a:srgbClr val="5B7089"/>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7295" cy="219456"/>
          </a:xfrm>
          <a:prstGeom prst="rect">
            <a:avLst/>
          </a:prstGeom>
          <a:noFill/>
          <a:ln/>
        </p:spPr>
        <p:txBody>
          <a:bodyPr wrap="square" lIns="0" tIns="0" rIns="0" bIns="0" rtlCol="0" anchor="t"/>
          <a:lstStyle/>
          <a:p>
            <a:pPr indent="0" marL="0">
              <a:buNone/>
            </a:pPr>
            <a:r>
              <a:rPr lang="en-US" sz="850" dirty="0">
                <a:solidFill>
                  <a:srgbClr val="5B7089"/>
                </a:solidFill>
                <a:latin typeface="Arial" pitchFamily="34" charset="0"/>
                <a:ea typeface="Arial" pitchFamily="34" charset="-122"/>
                <a:cs typeface="Arial" pitchFamily="34" charset="-120"/>
              </a:rPr>
              <a:t>1 Situation   ·   </a:t>
            </a:r>
            <a:pPr indent="0" marL="0">
              <a:buNone/>
            </a:pPr>
            <a:r>
              <a:rPr lang="en-US" sz="850" b="1" dirty="0">
                <a:solidFill>
                  <a:srgbClr val="0B2545"/>
                </a:solidFill>
                <a:latin typeface="Arial" pitchFamily="34" charset="0"/>
                <a:ea typeface="Arial" pitchFamily="34" charset="-122"/>
                <a:cs typeface="Arial" pitchFamily="34" charset="-120"/>
              </a:rPr>
              <a:t>2 Valuation   ·   </a:t>
            </a:r>
            <a:pPr indent="0" marL="0">
              <a:buNone/>
            </a:pPr>
            <a:r>
              <a:rPr lang="en-US" sz="850" dirty="0">
                <a:solidFill>
                  <a:srgbClr val="5B7089"/>
                </a:solidFill>
                <a:latin typeface="Arial" pitchFamily="34" charset="0"/>
                <a:ea typeface="Arial" pitchFamily="34" charset="-122"/>
                <a:cs typeface="Arial" pitchFamily="34" charset="-120"/>
              </a:rPr>
              <a:t>3 Alternatives   ·   </a:t>
            </a:r>
            <a:pPr indent="0" marL="0">
              <a:buNone/>
            </a:pPr>
            <a:r>
              <a:rPr lang="en-US" sz="850" dirty="0">
                <a:solidFill>
                  <a:srgbClr val="5B7089"/>
                </a:solidFill>
                <a:latin typeface="Arial" pitchFamily="34" charset="0"/>
                <a:ea typeface="Arial" pitchFamily="34" charset="-122"/>
                <a:cs typeface="Arial" pitchFamily="34" charset="-120"/>
              </a:rPr>
              <a:t>4 Process</a:t>
            </a:r>
            <a:endParaRPr lang="en-US" sz="850" dirty="0"/>
          </a:p>
        </p:txBody>
      </p:sp>
      <p:sp>
        <p:nvSpPr>
          <p:cNvPr id="3" name="Text 0"/>
          <p:cNvSpPr/>
          <p:nvPr>
            <p:ph idx="101" type="title" hasCustomPrompt="1"/>
          </p:nvPr>
        </p:nvSpPr>
        <p:spPr>
          <a:xfrm>
            <a:off x="457200" y="457200"/>
            <a:ext cx="11277295" cy="822960"/>
          </a:xfrm>
          <a:prstGeom prst="rect">
            <a:avLst/>
          </a:prstGeom>
          <a:noFill/>
          <a:ln/>
        </p:spPr>
        <p:txBody>
          <a:bodyPr wrap="square" lIns="0" tIns="0" rIns="0" bIns="0" rtlCol="0" anchor="t"/>
          <a:lstStyle/>
          <a:p>
            <a:pPr algn="l" indent="0" marL="0">
              <a:buNone/>
            </a:pPr>
            <a:r>
              <a:rPr lang="en-US" sz="2000" b="1" dirty="0">
                <a:solidFill>
                  <a:srgbClr val="111827"/>
                </a:solidFill>
                <a:latin typeface="Arial" pitchFamily="34" charset="0"/>
                <a:ea typeface="Arial" pitchFamily="34" charset="-122"/>
                <a:cs typeface="Arial" pitchFamily="34" charset="-120"/>
              </a:rPr>
              <a:t>Illustrative analysis at various prices</a:t>
            </a:r>
            <a:endParaRPr lang="en-US" sz="2000" dirty="0"/>
          </a:p>
        </p:txBody>
      </p:sp>
      <p:sp>
        <p:nvSpPr>
          <p:cNvPr id="4" name="Text 2"/>
          <p:cNvSpPr/>
          <p:nvPr/>
        </p:nvSpPr>
        <p:spPr>
          <a:xfrm>
            <a:off x="457200" y="1298448"/>
            <a:ext cx="11277295" cy="256032"/>
          </a:xfrm>
          <a:prstGeom prst="rect">
            <a:avLst/>
          </a:prstGeom>
          <a:noFill/>
          <a:ln/>
        </p:spPr>
        <p:txBody>
          <a:bodyPr wrap="square" lIns="0" tIns="0" rIns="0" bIns="0" rtlCol="0" anchor="t"/>
          <a:lstStyle/>
          <a:p>
            <a:pPr indent="0" marL="0">
              <a:buNone/>
            </a:pPr>
            <a:r>
              <a:rPr lang="en-US" sz="1000" i="1" dirty="0">
                <a:solidFill>
                  <a:srgbClr val="5B7089"/>
                </a:solidFill>
                <a:latin typeface="Arial" pitchFamily="34" charset="0"/>
                <a:ea typeface="Arial" pitchFamily="34" charset="-122"/>
                <a:cs typeface="Arial" pitchFamily="34" charset="-120"/>
              </a:rPr>
              <a:t>($ in millions, except per-share values)</a:t>
            </a:r>
            <a:endParaRPr lang="en-US" sz="1000" dirty="0"/>
          </a:p>
        </p:txBody>
      </p:sp>
      <p:sp>
        <p:nvSpPr>
          <p:cNvPr id="5" name="Text 0"/>
          <p:cNvSpPr/>
          <p:nvPr>
            <p:ph idx="102" type="body" hasCustomPrompt="1"/>
          </p:nvPr>
        </p:nvSpPr>
        <p:spPr>
          <a:xfrm>
            <a:off x="457200" y="6382512"/>
            <a:ext cx="10454335" cy="274320"/>
          </a:xfrm>
          <a:prstGeom prst="rect">
            <a:avLst/>
          </a:prstGeom>
          <a:noFill/>
          <a:ln/>
        </p:spPr>
        <p:txBody>
          <a:bodyPr wrap="square" lIns="0" tIns="0" rIns="0" bIns="0" rtlCol="0" anchor="b"/>
          <a:lstStyle/>
          <a:p>
            <a:pPr indent="0" marL="0">
              <a:buNone/>
            </a:pPr>
            <a:r>
              <a:rPr lang="en-US" sz="750" dirty="0">
                <a:solidFill>
                  <a:srgbClr val="5B7089"/>
                </a:solidFill>
                <a:latin typeface="Arial" pitchFamily="34" charset="0"/>
                <a:ea typeface="Arial" pitchFamily="34" charset="-122"/>
                <a:cs typeface="Arial" pitchFamily="34" charset="-120"/>
              </a:rPr>
              <a:t>Source: Company capitalization table; management projections (August 2026)</a:t>
            </a:r>
            <a:endParaRPr lang="en-US" sz="750" dirty="0"/>
          </a:p>
        </p:txBody>
      </p:sp>
      <p:sp>
        <p:nvSpPr>
          <p:cNvPr id="6" name="Text 4"/>
          <p:cNvSpPr/>
          <p:nvPr/>
        </p:nvSpPr>
        <p:spPr>
          <a:xfrm>
            <a:off x="8991295" y="201168"/>
            <a:ext cx="2743200" cy="219456"/>
          </a:xfrm>
          <a:prstGeom prst="rect">
            <a:avLst/>
          </a:prstGeom>
          <a:noFill/>
          <a:ln/>
        </p:spPr>
        <p:txBody>
          <a:bodyPr wrap="square" lIns="0" tIns="0" rIns="0" bIns="0" rtlCol="0" anchor="t"/>
          <a:lstStyle/>
          <a:p>
            <a:pPr algn="r" indent="0" marL="0">
              <a:buNone/>
            </a:pPr>
            <a:r>
              <a:rPr lang="en-US" sz="850" dirty="0">
                <a:solidFill>
                  <a:srgbClr val="5B7089"/>
                </a:solidFill>
                <a:latin typeface="Arial" pitchFamily="34" charset="0"/>
                <a:ea typeface="Arial" pitchFamily="34" charset="-122"/>
                <a:cs typeface="Arial" pitchFamily="34" charset="-120"/>
              </a:rPr>
              <a:t>Confidential · Preliminary draft</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7295" cy="914400"/>
        </p:xfrm>
        <a:graphic>
          <a:graphicData uri="http://schemas.openxmlformats.org/drawingml/2006/table">
            <a:tbl>
              <a:tblPr/>
              <a:tblGrid>
                <a:gridCol w="3566160"/>
                <a:gridCol w="1920240"/>
                <a:gridCol w="1920240"/>
                <a:gridCol w="1920240"/>
                <a:gridCol w="1920240"/>
              </a:tblGrid>
              <a:tr h="457200">
                <a:tc>
                  <a:txBody>
                    <a:bodyPr/>
                    <a:lstStyle/>
                    <a:p>
                      <a:pPr algn="l" indent="0" marL="0">
                        <a:buNone/>
                      </a:pP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111827"/>
                      </a:solidFill>
                      <a:prstDash val="solid"/>
                      <a:round/>
                      <a:headEnd type="none" w="med" len="med"/>
                      <a:tailEnd type="none" w="med" len="med"/>
                    </a:lnB>
                  </a:tcPr>
                </a:tc>
                <a:tc>
                  <a:txBody>
                    <a:bodyPr/>
                    <a:lstStyle/>
                    <a:p>
                      <a:pPr algn="r" indent="0" marL="0">
                        <a:buNone/>
                      </a:pPr>
                      <a:r>
                        <a:rPr lang="en-US" sz="1100" b="1" dirty="0">
                          <a:solidFill>
                            <a:srgbClr val="5B7089"/>
                          </a:solidFill>
                          <a:latin typeface="Arial" pitchFamily="34" charset="0"/>
                          <a:ea typeface="Arial" pitchFamily="34" charset="-122"/>
                          <a:cs typeface="Arial" pitchFamily="34" charset="-120"/>
                        </a:rPr>
                        <a:t>Current</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111827"/>
                      </a:solidFill>
                      <a:prstDash val="solid"/>
                      <a:round/>
                      <a:headEnd type="none" w="med" len="med"/>
                      <a:tailEnd type="none" w="med" len="med"/>
                    </a:lnB>
                  </a:tcPr>
                </a:tc>
                <a:tc>
                  <a:txBody>
                    <a:bodyPr/>
                    <a:lstStyle/>
                    <a:p>
                      <a:pPr algn="r" indent="0" marL="0">
                        <a:buNone/>
                      </a:pPr>
                      <a:r>
                        <a:rPr lang="en-US" sz="1100" b="1" dirty="0">
                          <a:solidFill>
                            <a:srgbClr val="5B7089"/>
                          </a:solidFill>
                          <a:latin typeface="Arial" pitchFamily="34" charset="0"/>
                          <a:ea typeface="Arial" pitchFamily="34" charset="-122"/>
                          <a:cs typeface="Arial" pitchFamily="34" charset="-120"/>
                        </a:rPr>
                        <a:t>Illustrative</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111827"/>
                      </a:solidFill>
                      <a:prstDash val="solid"/>
                      <a:round/>
                      <a:headEnd type="none" w="med" len="med"/>
                      <a:tailEnd type="none" w="med" len="med"/>
                    </a:lnB>
                  </a:tcPr>
                </a:tc>
                <a:tc>
                  <a:txBody>
                    <a:bodyPr/>
                    <a:lstStyle/>
                    <a:p>
                      <a:pPr algn="r" indent="0" marL="0">
                        <a:buNone/>
                      </a:pPr>
                      <a:r>
                        <a:rPr lang="en-US" sz="1100" b="1" dirty="0">
                          <a:solidFill>
                            <a:srgbClr val="5B7089"/>
                          </a:solidFill>
                          <a:latin typeface="Arial" pitchFamily="34" charset="0"/>
                          <a:ea typeface="Arial" pitchFamily="34" charset="-122"/>
                          <a:cs typeface="Arial" pitchFamily="34" charset="-120"/>
                        </a:rPr>
                        <a:t>Illustrative</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111827"/>
                      </a:solidFill>
                      <a:prstDash val="solid"/>
                      <a:round/>
                      <a:headEnd type="none" w="med" len="med"/>
                      <a:tailEnd type="none" w="med" len="med"/>
                    </a:lnB>
                  </a:tcPr>
                </a:tc>
                <a:tc>
                  <a:txBody>
                    <a:bodyPr/>
                    <a:lstStyle/>
                    <a:p>
                      <a:pPr algn="r" indent="0" marL="0">
                        <a:buNone/>
                      </a:pPr>
                      <a:r>
                        <a:rPr lang="en-US" sz="1100" b="1" dirty="0">
                          <a:solidFill>
                            <a:srgbClr val="5B7089"/>
                          </a:solidFill>
                          <a:latin typeface="Arial" pitchFamily="34" charset="0"/>
                          <a:ea typeface="Arial" pitchFamily="34" charset="-122"/>
                          <a:cs typeface="Arial" pitchFamily="34" charset="-120"/>
                        </a:rPr>
                        <a:t>Illustrative</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111827"/>
                      </a:solidFill>
                      <a:prstDash val="solid"/>
                      <a:round/>
                      <a:headEnd type="none" w="med" len="med"/>
                      <a:tailEnd type="none" w="med" len="med"/>
                    </a:lnB>
                  </a:tcPr>
                </a:tc>
              </a:tr>
              <a:tr h="457200">
                <a:tc>
                  <a:txBody>
                    <a:bodyPr/>
                    <a:lstStyle/>
                    <a:p>
                      <a:pPr algn="l" indent="0" marL="0">
                        <a:buNone/>
                      </a:pPr>
                      <a:r>
                        <a:rPr lang="en-US" sz="1100" b="1" dirty="0">
                          <a:solidFill>
                            <a:srgbClr val="111827"/>
                          </a:solidFill>
                          <a:latin typeface="Arial" pitchFamily="34" charset="0"/>
                          <a:ea typeface="Arial" pitchFamily="34" charset="-122"/>
                          <a:cs typeface="Arial" pitchFamily="34" charset="-120"/>
                        </a:rPr>
                        <a:t>Price per share</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solidFill>
                      <a:srgbClr val="F5EEDC"/>
                    </a:solidFill>
                  </a:tcPr>
                </a:tc>
                <a:tc>
                  <a:txBody>
                    <a:bodyPr/>
                    <a:lstStyle/>
                    <a:p>
                      <a:pPr algn="r" indent="0" marL="0">
                        <a:buNone/>
                      </a:pPr>
                      <a:r>
                        <a:rPr lang="en-US" sz="1100" b="1" dirty="0">
                          <a:solidFill>
                            <a:srgbClr val="111827"/>
                          </a:solidFill>
                          <a:latin typeface="Arial" pitchFamily="34" charset="0"/>
                          <a:ea typeface="Arial" pitchFamily="34" charset="-122"/>
                          <a:cs typeface="Arial" pitchFamily="34" charset="-120"/>
                        </a:rPr>
                        <a:t>$18.60</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solidFill>
                      <a:srgbClr val="F5EEDC"/>
                    </a:solidFill>
                  </a:tcPr>
                </a:tc>
                <a:tc>
                  <a:txBody>
                    <a:bodyPr/>
                    <a:lstStyle/>
                    <a:p>
                      <a:pPr algn="r" indent="0" marL="0">
                        <a:buNone/>
                      </a:pPr>
                      <a:r>
                        <a:rPr lang="en-US" sz="1100" b="1" dirty="0">
                          <a:solidFill>
                            <a:srgbClr val="111827"/>
                          </a:solidFill>
                          <a:latin typeface="Arial" pitchFamily="34" charset="0"/>
                          <a:ea typeface="Arial" pitchFamily="34" charset="-122"/>
                          <a:cs typeface="Arial" pitchFamily="34" charset="-120"/>
                        </a:rPr>
                        <a:t>$21.00</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solidFill>
                      <a:srgbClr val="F5EEDC"/>
                    </a:solidFill>
                  </a:tcPr>
                </a:tc>
                <a:tc>
                  <a:txBody>
                    <a:bodyPr/>
                    <a:lstStyle/>
                    <a:p>
                      <a:pPr algn="r" indent="0" marL="0">
                        <a:buNone/>
                      </a:pPr>
                      <a:r>
                        <a:rPr lang="en-US" sz="1100" b="1" dirty="0">
                          <a:solidFill>
                            <a:srgbClr val="111827"/>
                          </a:solidFill>
                          <a:latin typeface="Arial" pitchFamily="34" charset="0"/>
                          <a:ea typeface="Arial" pitchFamily="34" charset="-122"/>
                          <a:cs typeface="Arial" pitchFamily="34" charset="-120"/>
                        </a:rPr>
                        <a:t>$23.00</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solidFill>
                      <a:srgbClr val="F5EEDC"/>
                    </a:solidFill>
                  </a:tcPr>
                </a:tc>
                <a:tc>
                  <a:txBody>
                    <a:bodyPr/>
                    <a:lstStyle/>
                    <a:p>
                      <a:pPr algn="r" indent="0" marL="0">
                        <a:buNone/>
                      </a:pPr>
                      <a:r>
                        <a:rPr lang="en-US" sz="1100" b="1" dirty="0">
                          <a:solidFill>
                            <a:srgbClr val="111827"/>
                          </a:solidFill>
                          <a:latin typeface="Arial" pitchFamily="34" charset="0"/>
                          <a:ea typeface="Arial" pitchFamily="34" charset="-122"/>
                          <a:cs typeface="Arial" pitchFamily="34" charset="-120"/>
                        </a:rPr>
                        <a:t>$25.00</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solidFill>
                      <a:srgbClr val="F5EEDC"/>
                    </a:solidFill>
                  </a:tcPr>
                </a:tc>
              </a:tr>
              <a:tr h="457200">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Premium to current</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12.9%</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23.7%</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34.4%</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457200">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Equity value</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1,600</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1,806</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1,978</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2,150</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457200">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Enterprise value</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2,010</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2,216</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2,388</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2,560</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457200">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EV / LTM EBITDA</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9.5x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10.5x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11.3x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12.1x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457200">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EV / FY26E EBITDA</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8.8x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9.7x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10.5x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11.2x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bl>
          </a:graphicData>
        </a:graphic>
      </p:graphicFrame>
      <p:sp>
        <p:nvSpPr>
          <p:cNvPr id="8"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750">
                <a:solidFill>
                  <a:srgbClr val="5B7089"/>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7295" cy="219456"/>
          </a:xfrm>
          <a:prstGeom prst="rect">
            <a:avLst/>
          </a:prstGeom>
          <a:noFill/>
          <a:ln/>
        </p:spPr>
        <p:txBody>
          <a:bodyPr wrap="square" lIns="0" tIns="0" rIns="0" bIns="0" rtlCol="0" anchor="t"/>
          <a:lstStyle/>
          <a:p>
            <a:pPr indent="0" marL="0">
              <a:buNone/>
            </a:pPr>
            <a:r>
              <a:rPr lang="en-US" sz="850" dirty="0">
                <a:solidFill>
                  <a:srgbClr val="5B7089"/>
                </a:solidFill>
                <a:latin typeface="Arial" pitchFamily="34" charset="0"/>
                <a:ea typeface="Arial" pitchFamily="34" charset="-122"/>
                <a:cs typeface="Arial" pitchFamily="34" charset="-120"/>
              </a:rPr>
              <a:t>1 Situation   ·   </a:t>
            </a:r>
            <a:pPr indent="0" marL="0">
              <a:buNone/>
            </a:pPr>
            <a:r>
              <a:rPr lang="en-US" sz="850" b="1" dirty="0">
                <a:solidFill>
                  <a:srgbClr val="0B2545"/>
                </a:solidFill>
                <a:latin typeface="Arial" pitchFamily="34" charset="0"/>
                <a:ea typeface="Arial" pitchFamily="34" charset="-122"/>
                <a:cs typeface="Arial" pitchFamily="34" charset="-120"/>
              </a:rPr>
              <a:t>2 Valuation   ·   </a:t>
            </a:r>
            <a:pPr indent="0" marL="0">
              <a:buNone/>
            </a:pPr>
            <a:r>
              <a:rPr lang="en-US" sz="850" dirty="0">
                <a:solidFill>
                  <a:srgbClr val="5B7089"/>
                </a:solidFill>
                <a:latin typeface="Arial" pitchFamily="34" charset="0"/>
                <a:ea typeface="Arial" pitchFamily="34" charset="-122"/>
                <a:cs typeface="Arial" pitchFamily="34" charset="-120"/>
              </a:rPr>
              <a:t>3 Alternatives   ·   </a:t>
            </a:r>
            <a:pPr indent="0" marL="0">
              <a:buNone/>
            </a:pPr>
            <a:r>
              <a:rPr lang="en-US" sz="850" dirty="0">
                <a:solidFill>
                  <a:srgbClr val="5B7089"/>
                </a:solidFill>
                <a:latin typeface="Arial" pitchFamily="34" charset="0"/>
                <a:ea typeface="Arial" pitchFamily="34" charset="-122"/>
                <a:cs typeface="Arial" pitchFamily="34" charset="-120"/>
              </a:rPr>
              <a:t>4 Process</a:t>
            </a:r>
            <a:endParaRPr lang="en-US" sz="850" dirty="0"/>
          </a:p>
        </p:txBody>
      </p:sp>
      <p:sp>
        <p:nvSpPr>
          <p:cNvPr id="3" name="Text 0"/>
          <p:cNvSpPr/>
          <p:nvPr>
            <p:ph idx="101" type="title" hasCustomPrompt="1"/>
          </p:nvPr>
        </p:nvSpPr>
        <p:spPr>
          <a:xfrm>
            <a:off x="457200" y="457200"/>
            <a:ext cx="11277295" cy="822960"/>
          </a:xfrm>
          <a:prstGeom prst="rect">
            <a:avLst/>
          </a:prstGeom>
          <a:noFill/>
          <a:ln/>
        </p:spPr>
        <p:txBody>
          <a:bodyPr wrap="square" lIns="0" tIns="0" rIns="0" bIns="0" rtlCol="0" anchor="t"/>
          <a:lstStyle/>
          <a:p>
            <a:pPr algn="l" indent="0" marL="0">
              <a:buNone/>
            </a:pPr>
            <a:r>
              <a:rPr lang="en-US" sz="2000" b="1" dirty="0">
                <a:solidFill>
                  <a:srgbClr val="111827"/>
                </a:solidFill>
                <a:latin typeface="Arial" pitchFamily="34" charset="0"/>
                <a:ea typeface="Arial" pitchFamily="34" charset="-122"/>
                <a:cs typeface="Arial" pitchFamily="34" charset="-120"/>
              </a:rPr>
              <a:t>Illustrative valuation: 1 of 4 ranges sit above $18.60</a:t>
            </a:r>
            <a:endParaRPr lang="en-US" sz="2000" dirty="0"/>
          </a:p>
        </p:txBody>
      </p:sp>
      <p:sp>
        <p:nvSpPr>
          <p:cNvPr id="4" name="Text 2"/>
          <p:cNvSpPr/>
          <p:nvPr/>
        </p:nvSpPr>
        <p:spPr>
          <a:xfrm>
            <a:off x="457200" y="1298448"/>
            <a:ext cx="11277295" cy="256032"/>
          </a:xfrm>
          <a:prstGeom prst="rect">
            <a:avLst/>
          </a:prstGeom>
          <a:noFill/>
          <a:ln/>
        </p:spPr>
        <p:txBody>
          <a:bodyPr wrap="square" lIns="0" tIns="0" rIns="0" bIns="0" rtlCol="0" anchor="t"/>
          <a:lstStyle/>
          <a:p>
            <a:pPr indent="0" marL="0">
              <a:buNone/>
            </a:pPr>
            <a:r>
              <a:rPr lang="en-US" sz="1000" i="1" dirty="0">
                <a:solidFill>
                  <a:srgbClr val="5B7089"/>
                </a:solidFill>
                <a:latin typeface="Arial" pitchFamily="34" charset="0"/>
                <a:ea typeface="Arial" pitchFamily="34" charset="-122"/>
                <a:cs typeface="Arial" pitchFamily="34" charset="-120"/>
              </a:rPr>
              <a:t>(Implied value per share, $) (1)</a:t>
            </a:r>
            <a:endParaRPr lang="en-US" sz="1000" dirty="0"/>
          </a:p>
        </p:txBody>
      </p:sp>
      <p:sp>
        <p:nvSpPr>
          <p:cNvPr id="5" name="Text 0"/>
          <p:cNvSpPr/>
          <p:nvPr>
            <p:ph idx="102" type="body" hasCustomPrompt="1"/>
          </p:nvPr>
        </p:nvSpPr>
        <p:spPr>
          <a:xfrm>
            <a:off x="457200" y="6382512"/>
            <a:ext cx="10454335" cy="274320"/>
          </a:xfrm>
          <a:prstGeom prst="rect">
            <a:avLst/>
          </a:prstGeom>
          <a:noFill/>
          <a:ln/>
        </p:spPr>
        <p:txBody>
          <a:bodyPr wrap="square" lIns="0" tIns="0" rIns="0" bIns="0" rtlCol="0" anchor="b"/>
          <a:lstStyle/>
          <a:p>
            <a:pPr indent="0" marL="0">
              <a:buNone/>
            </a:pPr>
            <a:r>
              <a:rPr lang="en-US" sz="750" dirty="0">
                <a:solidFill>
                  <a:srgbClr val="5B7089"/>
                </a:solidFill>
                <a:latin typeface="Arial" pitchFamily="34" charset="0"/>
                <a:ea typeface="Arial" pitchFamily="34" charset="-122"/>
                <a:cs typeface="Arial" pitchFamily="34" charset="-120"/>
              </a:rPr>
              <a:t>Source: Management projections (August 2026); peer company filings; precedent transaction announcements; weekly closing prices to 1 Sep 2026</a:t>
            </a:r>
            <a:endParaRPr lang="en-US" sz="750" dirty="0"/>
          </a:p>
        </p:txBody>
      </p:sp>
      <p:sp>
        <p:nvSpPr>
          <p:cNvPr id="6" name="Text 4"/>
          <p:cNvSpPr/>
          <p:nvPr/>
        </p:nvSpPr>
        <p:spPr>
          <a:xfrm>
            <a:off x="457200" y="5943600"/>
            <a:ext cx="10454335" cy="411480"/>
          </a:xfrm>
          <a:prstGeom prst="rect">
            <a:avLst/>
          </a:prstGeom>
          <a:noFill/>
          <a:ln/>
        </p:spPr>
        <p:txBody>
          <a:bodyPr wrap="square" lIns="0" tIns="0" rIns="0" bIns="0" rtlCol="0" anchor="b"/>
          <a:lstStyle/>
          <a:p>
            <a:pPr indent="0" marL="0">
              <a:buNone/>
            </a:pPr>
            <a:r>
              <a:rPr lang="en-US" sz="750" dirty="0">
                <a:solidFill>
                  <a:srgbClr val="5B7089"/>
                </a:solidFill>
                <a:latin typeface="Arial" pitchFamily="34" charset="0"/>
                <a:ea typeface="Arial" pitchFamily="34" charset="-122"/>
                <a:cs typeface="Arial" pitchFamily="34" charset="-120"/>
              </a:rPr>
              <a:t>(1) Per-share values use 86.0M diluted shares and $410M net debt. Comps drop the lowest and highest multiple. DCF discounts FY26E–FY30E unlevered FCF, end-year convention.</a:t>
            </a:r>
            <a:endParaRPr lang="en-US" sz="750" dirty="0"/>
          </a:p>
        </p:txBody>
      </p:sp>
      <p:sp>
        <p:nvSpPr>
          <p:cNvPr id="7" name="Text 5"/>
          <p:cNvSpPr/>
          <p:nvPr/>
        </p:nvSpPr>
        <p:spPr>
          <a:xfrm>
            <a:off x="8991295" y="201168"/>
            <a:ext cx="2743200" cy="219456"/>
          </a:xfrm>
          <a:prstGeom prst="rect">
            <a:avLst/>
          </a:prstGeom>
          <a:noFill/>
          <a:ln/>
        </p:spPr>
        <p:txBody>
          <a:bodyPr wrap="square" lIns="0" tIns="0" rIns="0" bIns="0" rtlCol="0" anchor="t"/>
          <a:lstStyle/>
          <a:p>
            <a:pPr algn="r" indent="0" marL="0">
              <a:buNone/>
            </a:pPr>
            <a:r>
              <a:rPr lang="en-US" sz="850" dirty="0">
                <a:solidFill>
                  <a:srgbClr val="5B7089"/>
                </a:solidFill>
                <a:latin typeface="Arial" pitchFamily="34" charset="0"/>
                <a:ea typeface="Arial" pitchFamily="34" charset="-122"/>
                <a:cs typeface="Arial" pitchFamily="34" charset="-120"/>
              </a:rPr>
              <a:t>Confidential · Preliminary draft</a:t>
            </a:r>
            <a:endParaRPr lang="en-US" sz="850" dirty="0"/>
          </a:p>
        </p:txBody>
      </p:sp>
      <p:graphicFrame>
        <p:nvGraphicFramePr>
          <p:cNvPr id="8" name="Chart 0" descr="Illustrative valuation: 1 of 4 ranges sit above $18.60"/>
          <p:cNvGraphicFramePr/>
          <p:nvPr/>
        </p:nvGraphicFramePr>
        <p:xfrm>
          <a:off x="457200" y="1965960"/>
          <a:ext cx="11277295" cy="39319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6415888" y="4884496"/>
            <a:ext cx="731520" cy="237744"/>
          </a:xfrm>
          <a:prstGeom prst="rect">
            <a:avLst/>
          </a:prstGeom>
          <a:noFill/>
          <a:ln/>
        </p:spPr>
        <p:txBody>
          <a:bodyPr wrap="square" lIns="0" tIns="0" rIns="0" bIns="0" rtlCol="0" anchor="t"/>
          <a:lstStyle/>
          <a:p>
            <a:pPr algn="r" indent="0" marL="0">
              <a:buNone/>
            </a:pPr>
            <a:r>
              <a:rPr lang="en-US" sz="1000" dirty="0">
                <a:solidFill>
                  <a:srgbClr val="111827"/>
                </a:solidFill>
                <a:latin typeface="Arial" pitchFamily="34" charset="0"/>
                <a:ea typeface="Arial" pitchFamily="34" charset="-122"/>
                <a:cs typeface="Arial" pitchFamily="34" charset="-120"/>
              </a:rPr>
              <a:t>$18.30</a:t>
            </a:r>
            <a:endParaRPr lang="en-US" sz="1000" dirty="0"/>
          </a:p>
        </p:txBody>
      </p:sp>
      <p:sp>
        <p:nvSpPr>
          <p:cNvPr id="10" name="Text 7"/>
          <p:cNvSpPr/>
          <p:nvPr/>
        </p:nvSpPr>
        <p:spPr>
          <a:xfrm>
            <a:off x="9892283" y="4884496"/>
            <a:ext cx="731520" cy="237744"/>
          </a:xfrm>
          <a:prstGeom prst="rect">
            <a:avLst/>
          </a:prstGeom>
          <a:noFill/>
          <a:ln/>
        </p:spPr>
        <p:txBody>
          <a:bodyPr wrap="square" lIns="0" tIns="0" rIns="0" bIns="0" rtlCol="0" anchor="t"/>
          <a:lstStyle/>
          <a:p>
            <a:pPr indent="0" marL="0">
              <a:buNone/>
            </a:pPr>
            <a:r>
              <a:rPr lang="en-US" sz="1000" dirty="0">
                <a:solidFill>
                  <a:srgbClr val="111827"/>
                </a:solidFill>
                <a:latin typeface="Arial" pitchFamily="34" charset="0"/>
                <a:ea typeface="Arial" pitchFamily="34" charset="-122"/>
                <a:cs typeface="Arial" pitchFamily="34" charset="-120"/>
              </a:rPr>
              <a:t>$25.89</a:t>
            </a:r>
            <a:endParaRPr lang="en-US" sz="1000" dirty="0"/>
          </a:p>
        </p:txBody>
      </p:sp>
      <p:sp>
        <p:nvSpPr>
          <p:cNvPr id="11" name="Text 8"/>
          <p:cNvSpPr/>
          <p:nvPr/>
        </p:nvSpPr>
        <p:spPr>
          <a:xfrm>
            <a:off x="6625646" y="4039133"/>
            <a:ext cx="731520" cy="237744"/>
          </a:xfrm>
          <a:prstGeom prst="rect">
            <a:avLst/>
          </a:prstGeom>
          <a:noFill/>
          <a:ln/>
        </p:spPr>
        <p:txBody>
          <a:bodyPr wrap="square" lIns="0" tIns="0" rIns="0" bIns="0" rtlCol="0" anchor="t"/>
          <a:lstStyle/>
          <a:p>
            <a:pPr algn="r" indent="0" marL="0">
              <a:buNone/>
            </a:pPr>
            <a:r>
              <a:rPr lang="en-US" sz="1000" dirty="0">
                <a:solidFill>
                  <a:srgbClr val="111827"/>
                </a:solidFill>
                <a:latin typeface="Arial" pitchFamily="34" charset="0"/>
                <a:ea typeface="Arial" pitchFamily="34" charset="-122"/>
                <a:cs typeface="Arial" pitchFamily="34" charset="-120"/>
              </a:rPr>
              <a:t>$18.90</a:t>
            </a:r>
            <a:endParaRPr lang="en-US" sz="1000" dirty="0"/>
          </a:p>
        </p:txBody>
      </p:sp>
      <p:sp>
        <p:nvSpPr>
          <p:cNvPr id="12" name="Text 9"/>
          <p:cNvSpPr/>
          <p:nvPr/>
        </p:nvSpPr>
        <p:spPr>
          <a:xfrm>
            <a:off x="9343417" y="4039133"/>
            <a:ext cx="731520" cy="237744"/>
          </a:xfrm>
          <a:prstGeom prst="rect">
            <a:avLst/>
          </a:prstGeom>
          <a:noFill/>
          <a:ln/>
        </p:spPr>
        <p:txBody>
          <a:bodyPr wrap="square" lIns="0" tIns="0" rIns="0" bIns="0" rtlCol="0" anchor="t"/>
          <a:lstStyle/>
          <a:p>
            <a:pPr indent="0" marL="0">
              <a:buNone/>
            </a:pPr>
            <a:r>
              <a:rPr lang="en-US" sz="1000" dirty="0">
                <a:solidFill>
                  <a:srgbClr val="111827"/>
                </a:solidFill>
                <a:latin typeface="Arial" pitchFamily="34" charset="0"/>
                <a:ea typeface="Arial" pitchFamily="34" charset="-122"/>
                <a:cs typeface="Arial" pitchFamily="34" charset="-120"/>
              </a:rPr>
              <a:t>$24.32</a:t>
            </a:r>
            <a:endParaRPr lang="en-US" sz="1000" dirty="0"/>
          </a:p>
        </p:txBody>
      </p:sp>
      <p:sp>
        <p:nvSpPr>
          <p:cNvPr id="13" name="Text 10"/>
          <p:cNvSpPr/>
          <p:nvPr/>
        </p:nvSpPr>
        <p:spPr>
          <a:xfrm>
            <a:off x="6136212" y="3193771"/>
            <a:ext cx="731520" cy="237744"/>
          </a:xfrm>
          <a:prstGeom prst="rect">
            <a:avLst/>
          </a:prstGeom>
          <a:noFill/>
          <a:ln/>
        </p:spPr>
        <p:txBody>
          <a:bodyPr wrap="square" lIns="0" tIns="0" rIns="0" bIns="0" rtlCol="0" anchor="t"/>
          <a:lstStyle/>
          <a:p>
            <a:pPr algn="r" indent="0" marL="0">
              <a:buNone/>
            </a:pPr>
            <a:r>
              <a:rPr lang="en-US" sz="1000" dirty="0">
                <a:solidFill>
                  <a:srgbClr val="111827"/>
                </a:solidFill>
                <a:latin typeface="Arial" pitchFamily="34" charset="0"/>
                <a:ea typeface="Arial" pitchFamily="34" charset="-122"/>
                <a:cs typeface="Arial" pitchFamily="34" charset="-120"/>
              </a:rPr>
              <a:t>$17.50</a:t>
            </a:r>
            <a:endParaRPr lang="en-US" sz="1000" dirty="0"/>
          </a:p>
        </p:txBody>
      </p:sp>
      <p:sp>
        <p:nvSpPr>
          <p:cNvPr id="14" name="Text 11"/>
          <p:cNvSpPr/>
          <p:nvPr/>
        </p:nvSpPr>
        <p:spPr>
          <a:xfrm>
            <a:off x="8256173" y="3193771"/>
            <a:ext cx="731520" cy="237744"/>
          </a:xfrm>
          <a:prstGeom prst="rect">
            <a:avLst/>
          </a:prstGeom>
          <a:noFill/>
          <a:ln/>
        </p:spPr>
        <p:txBody>
          <a:bodyPr wrap="square" lIns="0" tIns="0" rIns="0" bIns="0" rtlCol="0" anchor="t"/>
          <a:lstStyle/>
          <a:p>
            <a:pPr indent="0" marL="0">
              <a:buNone/>
            </a:pPr>
            <a:r>
              <a:rPr lang="en-US" sz="1000" dirty="0">
                <a:solidFill>
                  <a:srgbClr val="111827"/>
                </a:solidFill>
                <a:latin typeface="Arial" pitchFamily="34" charset="0"/>
                <a:ea typeface="Arial" pitchFamily="34" charset="-122"/>
                <a:cs typeface="Arial" pitchFamily="34" charset="-120"/>
              </a:rPr>
              <a:t>$21.21</a:t>
            </a:r>
            <a:endParaRPr lang="en-US" sz="1000" dirty="0"/>
          </a:p>
        </p:txBody>
      </p:sp>
      <p:sp>
        <p:nvSpPr>
          <p:cNvPr id="15" name="Text 12"/>
          <p:cNvSpPr/>
          <p:nvPr/>
        </p:nvSpPr>
        <p:spPr>
          <a:xfrm>
            <a:off x="5625801" y="2348408"/>
            <a:ext cx="731520" cy="237744"/>
          </a:xfrm>
          <a:prstGeom prst="rect">
            <a:avLst/>
          </a:prstGeom>
          <a:noFill/>
          <a:ln/>
        </p:spPr>
        <p:txBody>
          <a:bodyPr wrap="square" lIns="0" tIns="0" rIns="0" bIns="0" rtlCol="0" anchor="t"/>
          <a:lstStyle/>
          <a:p>
            <a:pPr algn="r" indent="0" marL="0">
              <a:buNone/>
            </a:pPr>
            <a:r>
              <a:rPr lang="en-US" sz="1000" dirty="0">
                <a:solidFill>
                  <a:srgbClr val="111827"/>
                </a:solidFill>
                <a:latin typeface="Arial" pitchFamily="34" charset="0"/>
                <a:ea typeface="Arial" pitchFamily="34" charset="-122"/>
                <a:cs typeface="Arial" pitchFamily="34" charset="-120"/>
              </a:rPr>
              <a:t>$16.04</a:t>
            </a:r>
            <a:endParaRPr lang="en-US" sz="1000" dirty="0"/>
          </a:p>
        </p:txBody>
      </p:sp>
      <p:sp>
        <p:nvSpPr>
          <p:cNvPr id="16" name="Text 13"/>
          <p:cNvSpPr/>
          <p:nvPr/>
        </p:nvSpPr>
        <p:spPr>
          <a:xfrm>
            <a:off x="7840154" y="2348408"/>
            <a:ext cx="731520" cy="237744"/>
          </a:xfrm>
          <a:prstGeom prst="rect">
            <a:avLst/>
          </a:prstGeom>
          <a:noFill/>
          <a:ln/>
        </p:spPr>
        <p:txBody>
          <a:bodyPr wrap="square" lIns="0" tIns="0" rIns="0" bIns="0" rtlCol="0" anchor="t"/>
          <a:lstStyle/>
          <a:p>
            <a:pPr indent="0" marL="0">
              <a:buNone/>
            </a:pPr>
            <a:r>
              <a:rPr lang="en-US" sz="1000" dirty="0">
                <a:solidFill>
                  <a:srgbClr val="111827"/>
                </a:solidFill>
                <a:latin typeface="Arial" pitchFamily="34" charset="0"/>
                <a:ea typeface="Arial" pitchFamily="34" charset="-122"/>
                <a:cs typeface="Arial" pitchFamily="34" charset="-120"/>
              </a:rPr>
              <a:t>$20.02</a:t>
            </a:r>
            <a:endParaRPr lang="en-US" sz="1000" dirty="0"/>
          </a:p>
        </p:txBody>
      </p:sp>
      <p:sp>
        <p:nvSpPr>
          <p:cNvPr id="17" name="Shape 14"/>
          <p:cNvSpPr/>
          <p:nvPr/>
        </p:nvSpPr>
        <p:spPr>
          <a:xfrm>
            <a:off x="7298007" y="1984248"/>
            <a:ext cx="0" cy="3381451"/>
          </a:xfrm>
          <a:prstGeom prst="line">
            <a:avLst/>
          </a:prstGeom>
          <a:noFill/>
          <a:ln w="22225">
            <a:solidFill>
              <a:srgbClr val="8A6A00"/>
            </a:solidFill>
            <a:prstDash val="dash"/>
          </a:ln>
        </p:spPr>
      </p:sp>
      <p:sp>
        <p:nvSpPr>
          <p:cNvPr id="18" name="Text 15"/>
          <p:cNvSpPr/>
          <p:nvPr/>
        </p:nvSpPr>
        <p:spPr>
          <a:xfrm>
            <a:off x="6292167" y="1627632"/>
            <a:ext cx="2011680" cy="274320"/>
          </a:xfrm>
          <a:prstGeom prst="rect">
            <a:avLst/>
          </a:prstGeom>
          <a:noFill/>
          <a:ln/>
        </p:spPr>
        <p:txBody>
          <a:bodyPr wrap="square" lIns="0" tIns="0" rIns="0" bIns="0" rtlCol="0" anchor="t"/>
          <a:lstStyle/>
          <a:p>
            <a:pPr algn="ctr" indent="0" marL="0">
              <a:buNone/>
            </a:pPr>
            <a:r>
              <a:rPr lang="en-US" sz="1000" b="1" dirty="0">
                <a:solidFill>
                  <a:srgbClr val="8A6A00"/>
                </a:solidFill>
                <a:latin typeface="Arial" pitchFamily="34" charset="0"/>
                <a:ea typeface="Arial" pitchFamily="34" charset="-122"/>
                <a:cs typeface="Arial" pitchFamily="34" charset="-120"/>
              </a:rPr>
              <a:t>Current $18.60</a:t>
            </a:r>
            <a:endParaRPr lang="en-US" sz="1000" dirty="0"/>
          </a:p>
        </p:txBody>
      </p:sp>
      <p:sp>
        <p:nvSpPr>
          <p:cNvPr id="19"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750">
                <a:solidFill>
                  <a:srgbClr val="5B7089"/>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7295" cy="219456"/>
          </a:xfrm>
          <a:prstGeom prst="rect">
            <a:avLst/>
          </a:prstGeom>
          <a:noFill/>
          <a:ln/>
        </p:spPr>
        <p:txBody>
          <a:bodyPr wrap="square" lIns="0" tIns="0" rIns="0" bIns="0" rtlCol="0" anchor="t"/>
          <a:lstStyle/>
          <a:p>
            <a:pPr indent="0" marL="0">
              <a:buNone/>
            </a:pPr>
            <a:r>
              <a:rPr lang="en-US" sz="850" dirty="0">
                <a:solidFill>
                  <a:srgbClr val="5B7089"/>
                </a:solidFill>
                <a:latin typeface="Arial" pitchFamily="34" charset="0"/>
                <a:ea typeface="Arial" pitchFamily="34" charset="-122"/>
                <a:cs typeface="Arial" pitchFamily="34" charset="-120"/>
              </a:rPr>
              <a:t>1 Situation   ·   </a:t>
            </a:r>
            <a:pPr indent="0" marL="0">
              <a:buNone/>
            </a:pPr>
            <a:r>
              <a:rPr lang="en-US" sz="850" b="1" dirty="0">
                <a:solidFill>
                  <a:srgbClr val="0B2545"/>
                </a:solidFill>
                <a:latin typeface="Arial" pitchFamily="34" charset="0"/>
                <a:ea typeface="Arial" pitchFamily="34" charset="-122"/>
                <a:cs typeface="Arial" pitchFamily="34" charset="-120"/>
              </a:rPr>
              <a:t>2 Valuation   ·   </a:t>
            </a:r>
            <a:pPr indent="0" marL="0">
              <a:buNone/>
            </a:pPr>
            <a:r>
              <a:rPr lang="en-US" sz="850" dirty="0">
                <a:solidFill>
                  <a:srgbClr val="5B7089"/>
                </a:solidFill>
                <a:latin typeface="Arial" pitchFamily="34" charset="0"/>
                <a:ea typeface="Arial" pitchFamily="34" charset="-122"/>
                <a:cs typeface="Arial" pitchFamily="34" charset="-120"/>
              </a:rPr>
              <a:t>3 Alternatives   ·   </a:t>
            </a:r>
            <a:pPr indent="0" marL="0">
              <a:buNone/>
            </a:pPr>
            <a:r>
              <a:rPr lang="en-US" sz="850" dirty="0">
                <a:solidFill>
                  <a:srgbClr val="5B7089"/>
                </a:solidFill>
                <a:latin typeface="Arial" pitchFamily="34" charset="0"/>
                <a:ea typeface="Arial" pitchFamily="34" charset="-122"/>
                <a:cs typeface="Arial" pitchFamily="34" charset="-120"/>
              </a:rPr>
              <a:t>4 Process</a:t>
            </a:r>
            <a:endParaRPr lang="en-US" sz="850" dirty="0"/>
          </a:p>
        </p:txBody>
      </p:sp>
      <p:sp>
        <p:nvSpPr>
          <p:cNvPr id="3" name="Text 0"/>
          <p:cNvSpPr/>
          <p:nvPr>
            <p:ph idx="101" type="title" hasCustomPrompt="1"/>
          </p:nvPr>
        </p:nvSpPr>
        <p:spPr>
          <a:xfrm>
            <a:off x="457200" y="457200"/>
            <a:ext cx="11277295" cy="822960"/>
          </a:xfrm>
          <a:prstGeom prst="rect">
            <a:avLst/>
          </a:prstGeom>
          <a:noFill/>
          <a:ln/>
        </p:spPr>
        <p:txBody>
          <a:bodyPr wrap="square" lIns="0" tIns="0" rIns="0" bIns="0" rtlCol="0" anchor="t"/>
          <a:lstStyle/>
          <a:p>
            <a:pPr algn="l" indent="0" marL="0">
              <a:buNone/>
            </a:pPr>
            <a:r>
              <a:rPr lang="en-US" sz="2000" b="1" dirty="0">
                <a:solidFill>
                  <a:srgbClr val="111827"/>
                </a:solidFill>
                <a:latin typeface="Arial" pitchFamily="34" charset="0"/>
                <a:ea typeface="Arial" pitchFamily="34" charset="-122"/>
                <a:cs typeface="Arial" pitchFamily="34" charset="-120"/>
              </a:rPr>
              <a:t>Trading comps: peers trade at a 9.2x FY26E median</a:t>
            </a:r>
            <a:endParaRPr lang="en-US" sz="2000" dirty="0"/>
          </a:p>
        </p:txBody>
      </p:sp>
      <p:sp>
        <p:nvSpPr>
          <p:cNvPr id="4" name="Text 2"/>
          <p:cNvSpPr/>
          <p:nvPr/>
        </p:nvSpPr>
        <p:spPr>
          <a:xfrm>
            <a:off x="457200" y="1298448"/>
            <a:ext cx="11277295" cy="256032"/>
          </a:xfrm>
          <a:prstGeom prst="rect">
            <a:avLst/>
          </a:prstGeom>
          <a:noFill/>
          <a:ln/>
        </p:spPr>
        <p:txBody>
          <a:bodyPr wrap="square" lIns="0" tIns="0" rIns="0" bIns="0" rtlCol="0" anchor="t"/>
          <a:lstStyle/>
          <a:p>
            <a:pPr indent="0" marL="0">
              <a:buNone/>
            </a:pPr>
            <a:r>
              <a:rPr lang="en-US" sz="1000" i="1" dirty="0">
                <a:solidFill>
                  <a:srgbClr val="5B7089"/>
                </a:solidFill>
                <a:latin typeface="Arial" pitchFamily="34" charset="0"/>
                <a:ea typeface="Arial" pitchFamily="34" charset="-122"/>
                <a:cs typeface="Arial" pitchFamily="34" charset="-120"/>
              </a:rPr>
              <a:t>($ in millions)</a:t>
            </a:r>
            <a:endParaRPr lang="en-US" sz="1000" dirty="0"/>
          </a:p>
        </p:txBody>
      </p:sp>
      <p:sp>
        <p:nvSpPr>
          <p:cNvPr id="5" name="Text 0"/>
          <p:cNvSpPr/>
          <p:nvPr>
            <p:ph idx="102" type="body" hasCustomPrompt="1"/>
          </p:nvPr>
        </p:nvSpPr>
        <p:spPr>
          <a:xfrm>
            <a:off x="457200" y="6382512"/>
            <a:ext cx="10454335" cy="274320"/>
          </a:xfrm>
          <a:prstGeom prst="rect">
            <a:avLst/>
          </a:prstGeom>
          <a:noFill/>
          <a:ln/>
        </p:spPr>
        <p:txBody>
          <a:bodyPr wrap="square" lIns="0" tIns="0" rIns="0" bIns="0" rtlCol="0" anchor="b"/>
          <a:lstStyle/>
          <a:p>
            <a:pPr indent="0" marL="0">
              <a:buNone/>
            </a:pPr>
            <a:r>
              <a:rPr lang="en-US" sz="750" dirty="0">
                <a:solidFill>
                  <a:srgbClr val="5B7089"/>
                </a:solidFill>
                <a:latin typeface="Arial" pitchFamily="34" charset="0"/>
                <a:ea typeface="Arial" pitchFamily="34" charset="-122"/>
                <a:cs typeface="Arial" pitchFamily="34" charset="-120"/>
              </a:rPr>
              <a:t>Source: Peer company filings; company capitalization table as of 1 Sep 2026</a:t>
            </a:r>
            <a:endParaRPr lang="en-US" sz="750" dirty="0"/>
          </a:p>
        </p:txBody>
      </p:sp>
      <p:sp>
        <p:nvSpPr>
          <p:cNvPr id="6" name="Text 4"/>
          <p:cNvSpPr/>
          <p:nvPr/>
        </p:nvSpPr>
        <p:spPr>
          <a:xfrm>
            <a:off x="8991295" y="201168"/>
            <a:ext cx="2743200" cy="219456"/>
          </a:xfrm>
          <a:prstGeom prst="rect">
            <a:avLst/>
          </a:prstGeom>
          <a:noFill/>
          <a:ln/>
        </p:spPr>
        <p:txBody>
          <a:bodyPr wrap="square" lIns="0" tIns="0" rIns="0" bIns="0" rtlCol="0" anchor="t"/>
          <a:lstStyle/>
          <a:p>
            <a:pPr algn="r" indent="0" marL="0">
              <a:buNone/>
            </a:pPr>
            <a:r>
              <a:rPr lang="en-US" sz="850" dirty="0">
                <a:solidFill>
                  <a:srgbClr val="5B7089"/>
                </a:solidFill>
                <a:latin typeface="Arial" pitchFamily="34" charset="0"/>
                <a:ea typeface="Arial" pitchFamily="34" charset="-122"/>
                <a:cs typeface="Arial" pitchFamily="34" charset="-120"/>
              </a:rPr>
              <a:t>Confidential · Preliminary draft</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7295" cy="914400"/>
        </p:xfrm>
        <a:graphic>
          <a:graphicData uri="http://schemas.openxmlformats.org/drawingml/2006/table">
            <a:tbl>
              <a:tblPr/>
              <a:tblGrid>
                <a:gridCol w="4389120"/>
                <a:gridCol w="2286000"/>
                <a:gridCol w="2286000"/>
                <a:gridCol w="2286000"/>
              </a:tblGrid>
              <a:tr h="457200">
                <a:tc>
                  <a:txBody>
                    <a:bodyPr/>
                    <a:lstStyle/>
                    <a:p>
                      <a:pPr algn="l" indent="0" marL="0">
                        <a:buNone/>
                      </a:pPr>
                      <a:r>
                        <a:rPr lang="en-US" sz="1100" b="1" dirty="0">
                          <a:solidFill>
                            <a:srgbClr val="5B7089"/>
                          </a:solidFill>
                          <a:latin typeface="Arial" pitchFamily="34" charset="0"/>
                          <a:ea typeface="Arial" pitchFamily="34" charset="-122"/>
                          <a:cs typeface="Arial" pitchFamily="34" charset="-120"/>
                        </a:rPr>
                        <a:t>Company</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111827"/>
                      </a:solidFill>
                      <a:prstDash val="solid"/>
                      <a:round/>
                      <a:headEnd type="none" w="med" len="med"/>
                      <a:tailEnd type="none" w="med" len="med"/>
                    </a:lnB>
                  </a:tcPr>
                </a:tc>
                <a:tc>
                  <a:txBody>
                    <a:bodyPr/>
                    <a:lstStyle/>
                    <a:p>
                      <a:pPr algn="r" indent="0" marL="0">
                        <a:buNone/>
                      </a:pPr>
                      <a:r>
                        <a:rPr lang="en-US" sz="1100" b="1" dirty="0">
                          <a:solidFill>
                            <a:srgbClr val="5B7089"/>
                          </a:solidFill>
                          <a:latin typeface="Arial" pitchFamily="34" charset="0"/>
                          <a:ea typeface="Arial" pitchFamily="34" charset="-122"/>
                          <a:cs typeface="Arial" pitchFamily="34" charset="-120"/>
                        </a:rPr>
                        <a:t>Enterprise value</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111827"/>
                      </a:solidFill>
                      <a:prstDash val="solid"/>
                      <a:round/>
                      <a:headEnd type="none" w="med" len="med"/>
                      <a:tailEnd type="none" w="med" len="med"/>
                    </a:lnB>
                  </a:tcPr>
                </a:tc>
                <a:tc>
                  <a:txBody>
                    <a:bodyPr/>
                    <a:lstStyle/>
                    <a:p>
                      <a:pPr algn="r" indent="0" marL="0">
                        <a:buNone/>
                      </a:pPr>
                      <a:r>
                        <a:rPr lang="en-US" sz="1100" b="1" dirty="0">
                          <a:solidFill>
                            <a:srgbClr val="5B7089"/>
                          </a:solidFill>
                          <a:latin typeface="Arial" pitchFamily="34" charset="0"/>
                          <a:ea typeface="Arial" pitchFamily="34" charset="-122"/>
                          <a:cs typeface="Arial" pitchFamily="34" charset="-120"/>
                        </a:rPr>
                        <a:t>EV / LTM EBITDA</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111827"/>
                      </a:solidFill>
                      <a:prstDash val="solid"/>
                      <a:round/>
                      <a:headEnd type="none" w="med" len="med"/>
                      <a:tailEnd type="none" w="med" len="med"/>
                    </a:lnB>
                  </a:tcPr>
                </a:tc>
                <a:tc>
                  <a:txBody>
                    <a:bodyPr/>
                    <a:lstStyle/>
                    <a:p>
                      <a:pPr algn="r" indent="0" marL="0">
                        <a:buNone/>
                      </a:pPr>
                      <a:r>
                        <a:rPr lang="en-US" sz="1100" b="1" dirty="0">
                          <a:solidFill>
                            <a:srgbClr val="5B7089"/>
                          </a:solidFill>
                          <a:latin typeface="Arial" pitchFamily="34" charset="0"/>
                          <a:ea typeface="Arial" pitchFamily="34" charset="-122"/>
                          <a:cs typeface="Arial" pitchFamily="34" charset="-120"/>
                        </a:rPr>
                        <a:t>EV / NTM EBITDA</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111827"/>
                      </a:solidFill>
                      <a:prstDash val="solid"/>
                      <a:round/>
                      <a:headEnd type="none" w="med" len="med"/>
                      <a:tailEnd type="none" w="med" len="med"/>
                    </a:lnB>
                  </a:tcPr>
                </a:tc>
              </a:tr>
              <a:tr h="457200">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Peer Arden</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3,900</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9.7x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9.2x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457200">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Peer Bexley</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2,650</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8.9x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8.4x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457200">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Peer Cairn</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5,200</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10.4x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9.8x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457200">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Peer Dunmore</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1,800</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8.4x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8.0x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457200">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Peer Esker</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4,400</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10.5x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9.8x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457200">
                <a:tc>
                  <a:txBody>
                    <a:bodyPr/>
                    <a:lstStyle/>
                    <a:p>
                      <a:pPr algn="l" indent="0" marL="0">
                        <a:buNone/>
                      </a:pPr>
                      <a:r>
                        <a:rPr lang="en-US" sz="1100" b="1" dirty="0">
                          <a:solidFill>
                            <a:srgbClr val="111827"/>
                          </a:solidFill>
                          <a:latin typeface="Arial" pitchFamily="34" charset="0"/>
                          <a:ea typeface="Arial" pitchFamily="34" charset="-122"/>
                          <a:cs typeface="Arial" pitchFamily="34" charset="-120"/>
                        </a:rPr>
                        <a:t>Median</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9525" cap="flat" cmpd="sng" algn="ctr">
                      <a:solidFill>
                        <a:srgbClr val="111827"/>
                      </a:solidFill>
                      <a:prstDash val="solid"/>
                      <a:round/>
                      <a:headEnd type="none" w="med" len="med"/>
                      <a:tailEnd type="none" w="med" len="med"/>
                    </a:lnT>
                    <a:lnB w="6350" cap="flat" cmpd="sng" algn="ctr">
                      <a:solidFill>
                        <a:srgbClr val="EDF1F6"/>
                      </a:solidFill>
                      <a:prstDash val="solid"/>
                      <a:round/>
                      <a:headEnd type="none" w="med" len="med"/>
                      <a:tailEnd type="none" w="med" len="med"/>
                    </a:lnB>
                  </a:tcPr>
                </a:tc>
                <a:tc>
                  <a:txBody>
                    <a:bodyPr/>
                    <a:lstStyle/>
                    <a:p>
                      <a:pPr algn="r" indent="0" marL="0">
                        <a:buNone/>
                      </a:pPr>
                      <a:r>
                        <a:rPr lang="en-US" sz="1100" b="1" dirty="0">
                          <a:solidFill>
                            <a:srgbClr val="111827"/>
                          </a:solidFill>
                          <a:latin typeface="Arial" pitchFamily="34" charset="0"/>
                          <a:ea typeface="Arial" pitchFamily="34" charset="-122"/>
                          <a:cs typeface="Arial" pitchFamily="34" charset="-120"/>
                        </a:rPr>
                        <a:t>3,900</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9525" cap="flat" cmpd="sng" algn="ctr">
                      <a:solidFill>
                        <a:srgbClr val="111827"/>
                      </a:solidFill>
                      <a:prstDash val="solid"/>
                      <a:round/>
                      <a:headEnd type="none" w="med" len="med"/>
                      <a:tailEnd type="none" w="med" len="med"/>
                    </a:lnT>
                    <a:lnB w="6350" cap="flat" cmpd="sng" algn="ctr">
                      <a:solidFill>
                        <a:srgbClr val="EDF1F6"/>
                      </a:solidFill>
                      <a:prstDash val="solid"/>
                      <a:round/>
                      <a:headEnd type="none" w="med" len="med"/>
                      <a:tailEnd type="none" w="med" len="med"/>
                    </a:lnB>
                  </a:tcPr>
                </a:tc>
                <a:tc>
                  <a:txBody>
                    <a:bodyPr/>
                    <a:lstStyle/>
                    <a:p>
                      <a:pPr algn="r" indent="0" marL="0">
                        <a:buNone/>
                      </a:pPr>
                      <a:r>
                        <a:rPr lang="en-US" sz="1100" b="1" dirty="0">
                          <a:solidFill>
                            <a:srgbClr val="111827"/>
                          </a:solidFill>
                          <a:latin typeface="Arial" pitchFamily="34" charset="0"/>
                          <a:ea typeface="Arial" pitchFamily="34" charset="-122"/>
                          <a:cs typeface="Arial" pitchFamily="34" charset="-120"/>
                        </a:rPr>
                        <a:t>9.7x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9525" cap="flat" cmpd="sng" algn="ctr">
                      <a:solidFill>
                        <a:srgbClr val="111827"/>
                      </a:solidFill>
                      <a:prstDash val="solid"/>
                      <a:round/>
                      <a:headEnd type="none" w="med" len="med"/>
                      <a:tailEnd type="none" w="med" len="med"/>
                    </a:lnT>
                    <a:lnB w="6350" cap="flat" cmpd="sng" algn="ctr">
                      <a:solidFill>
                        <a:srgbClr val="EDF1F6"/>
                      </a:solidFill>
                      <a:prstDash val="solid"/>
                      <a:round/>
                      <a:headEnd type="none" w="med" len="med"/>
                      <a:tailEnd type="none" w="med" len="med"/>
                    </a:lnB>
                  </a:tcPr>
                </a:tc>
                <a:tc>
                  <a:txBody>
                    <a:bodyPr/>
                    <a:lstStyle/>
                    <a:p>
                      <a:pPr algn="r" indent="0" marL="0">
                        <a:buNone/>
                      </a:pPr>
                      <a:r>
                        <a:rPr lang="en-US" sz="1100" b="1" dirty="0">
                          <a:solidFill>
                            <a:srgbClr val="111827"/>
                          </a:solidFill>
                          <a:latin typeface="Arial" pitchFamily="34" charset="0"/>
                          <a:ea typeface="Arial" pitchFamily="34" charset="-122"/>
                          <a:cs typeface="Arial" pitchFamily="34" charset="-120"/>
                        </a:rPr>
                        <a:t>9.2x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9525" cap="flat" cmpd="sng" algn="ctr">
                      <a:solidFill>
                        <a:srgbClr val="111827"/>
                      </a:solidFill>
                      <a:prstDash val="solid"/>
                      <a:round/>
                      <a:headEnd type="none" w="med" len="med"/>
                      <a:tailEnd type="none" w="med" len="med"/>
                    </a:lnT>
                    <a:lnB w="6350" cap="flat" cmpd="sng" algn="ctr">
                      <a:solidFill>
                        <a:srgbClr val="EDF1F6"/>
                      </a:solidFill>
                      <a:prstDash val="solid"/>
                      <a:round/>
                      <a:headEnd type="none" w="med" len="med"/>
                      <a:tailEnd type="none" w="med" len="med"/>
                    </a:lnB>
                  </a:tcPr>
                </a:tc>
              </a:tr>
              <a:tr h="457200">
                <a:tc>
                  <a:txBody>
                    <a:bodyPr/>
                    <a:lstStyle/>
                    <a:p>
                      <a:pPr algn="l" indent="0" marL="0">
                        <a:buNone/>
                      </a:pPr>
                      <a:r>
                        <a:rPr lang="en-US" sz="1100" b="1" dirty="0">
                          <a:solidFill>
                            <a:srgbClr val="111827"/>
                          </a:solidFill>
                          <a:latin typeface="Arial" pitchFamily="34" charset="0"/>
                          <a:ea typeface="Arial" pitchFamily="34" charset="-122"/>
                          <a:cs typeface="Arial" pitchFamily="34" charset="-120"/>
                        </a:rPr>
                        <a:t>Halden at current</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solidFill>
                      <a:srgbClr val="F5EEDC"/>
                    </a:solidFill>
                  </a:tcPr>
                </a:tc>
                <a:tc>
                  <a:txBody>
                    <a:bodyPr/>
                    <a:lstStyle/>
                    <a:p>
                      <a:pPr algn="r" indent="0" marL="0">
                        <a:buNone/>
                      </a:pPr>
                      <a:r>
                        <a:rPr lang="en-US" sz="1100" b="1" dirty="0">
                          <a:solidFill>
                            <a:srgbClr val="111827"/>
                          </a:solidFill>
                          <a:latin typeface="Arial" pitchFamily="34" charset="0"/>
                          <a:ea typeface="Arial" pitchFamily="34" charset="-122"/>
                          <a:cs typeface="Arial" pitchFamily="34" charset="-120"/>
                        </a:rPr>
                        <a:t>2,010</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solidFill>
                      <a:srgbClr val="F5EEDC"/>
                    </a:solidFill>
                  </a:tcPr>
                </a:tc>
                <a:tc>
                  <a:txBody>
                    <a:bodyPr/>
                    <a:lstStyle/>
                    <a:p>
                      <a:pPr algn="r" indent="0" marL="0">
                        <a:buNone/>
                      </a:pPr>
                      <a:r>
                        <a:rPr lang="en-US" sz="1100" b="1" dirty="0">
                          <a:solidFill>
                            <a:srgbClr val="111827"/>
                          </a:solidFill>
                          <a:latin typeface="Arial" pitchFamily="34" charset="0"/>
                          <a:ea typeface="Arial" pitchFamily="34" charset="-122"/>
                          <a:cs typeface="Arial" pitchFamily="34" charset="-120"/>
                        </a:rPr>
                        <a:t>9.5x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solidFill>
                      <a:srgbClr val="F5EEDC"/>
                    </a:solidFill>
                  </a:tcPr>
                </a:tc>
                <a:tc>
                  <a:txBody>
                    <a:bodyPr/>
                    <a:lstStyle/>
                    <a:p>
                      <a:pPr algn="r" indent="0" marL="0">
                        <a:buNone/>
                      </a:pPr>
                      <a:r>
                        <a:rPr lang="en-US" sz="1100" b="1" dirty="0">
                          <a:solidFill>
                            <a:srgbClr val="111827"/>
                          </a:solidFill>
                          <a:latin typeface="Arial" pitchFamily="34" charset="0"/>
                          <a:ea typeface="Arial" pitchFamily="34" charset="-122"/>
                          <a:cs typeface="Arial" pitchFamily="34" charset="-120"/>
                        </a:rPr>
                        <a:t>8.8x</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solidFill>
                      <a:srgbClr val="F5EEDC"/>
                    </a:solidFill>
                  </a:tcPr>
                </a:tc>
              </a:tr>
            </a:tbl>
          </a:graphicData>
        </a:graphic>
      </p:graphicFrame>
      <p:sp>
        <p:nvSpPr>
          <p:cNvPr id="8"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750">
                <a:solidFill>
                  <a:srgbClr val="5B7089"/>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7295" cy="219456"/>
          </a:xfrm>
          <a:prstGeom prst="rect">
            <a:avLst/>
          </a:prstGeom>
          <a:noFill/>
          <a:ln/>
        </p:spPr>
        <p:txBody>
          <a:bodyPr wrap="square" lIns="0" tIns="0" rIns="0" bIns="0" rtlCol="0" anchor="t"/>
          <a:lstStyle/>
          <a:p>
            <a:pPr indent="0" marL="0">
              <a:buNone/>
            </a:pPr>
            <a:r>
              <a:rPr lang="en-US" sz="850" dirty="0">
                <a:solidFill>
                  <a:srgbClr val="5B7089"/>
                </a:solidFill>
                <a:latin typeface="Arial" pitchFamily="34" charset="0"/>
                <a:ea typeface="Arial" pitchFamily="34" charset="-122"/>
                <a:cs typeface="Arial" pitchFamily="34" charset="-120"/>
              </a:rPr>
              <a:t>1 Situation   ·   </a:t>
            </a:r>
            <a:pPr indent="0" marL="0">
              <a:buNone/>
            </a:pPr>
            <a:r>
              <a:rPr lang="en-US" sz="850" dirty="0">
                <a:solidFill>
                  <a:srgbClr val="5B7089"/>
                </a:solidFill>
                <a:latin typeface="Arial" pitchFamily="34" charset="0"/>
                <a:ea typeface="Arial" pitchFamily="34" charset="-122"/>
                <a:cs typeface="Arial" pitchFamily="34" charset="-120"/>
              </a:rPr>
              <a:t>2 Valuation   ·   </a:t>
            </a:r>
            <a:pPr indent="0" marL="0">
              <a:buNone/>
            </a:pPr>
            <a:r>
              <a:rPr lang="en-US" sz="850" b="1" dirty="0">
                <a:solidFill>
                  <a:srgbClr val="0B2545"/>
                </a:solidFill>
                <a:latin typeface="Arial" pitchFamily="34" charset="0"/>
                <a:ea typeface="Arial" pitchFamily="34" charset="-122"/>
                <a:cs typeface="Arial" pitchFamily="34" charset="-120"/>
              </a:rPr>
              <a:t>3 Alternatives   ·   </a:t>
            </a:r>
            <a:pPr indent="0" marL="0">
              <a:buNone/>
            </a:pPr>
            <a:r>
              <a:rPr lang="en-US" sz="850" dirty="0">
                <a:solidFill>
                  <a:srgbClr val="5B7089"/>
                </a:solidFill>
                <a:latin typeface="Arial" pitchFamily="34" charset="0"/>
                <a:ea typeface="Arial" pitchFamily="34" charset="-122"/>
                <a:cs typeface="Arial" pitchFamily="34" charset="-120"/>
              </a:rPr>
              <a:t>4 Process</a:t>
            </a:r>
            <a:endParaRPr lang="en-US" sz="850" dirty="0"/>
          </a:p>
        </p:txBody>
      </p:sp>
      <p:sp>
        <p:nvSpPr>
          <p:cNvPr id="3" name="Text 0"/>
          <p:cNvSpPr/>
          <p:nvPr>
            <p:ph idx="101" type="title" hasCustomPrompt="1"/>
          </p:nvPr>
        </p:nvSpPr>
        <p:spPr>
          <a:xfrm>
            <a:off x="457200" y="457200"/>
            <a:ext cx="11277295" cy="822960"/>
          </a:xfrm>
          <a:prstGeom prst="rect">
            <a:avLst/>
          </a:prstGeom>
          <a:noFill/>
          <a:ln/>
        </p:spPr>
        <p:txBody>
          <a:bodyPr wrap="square" lIns="0" tIns="0" rIns="0" bIns="0" rtlCol="0" anchor="t"/>
          <a:lstStyle/>
          <a:p>
            <a:pPr algn="l" indent="0" marL="0">
              <a:buNone/>
            </a:pPr>
            <a:r>
              <a:rPr lang="en-US" sz="2000" b="1" dirty="0">
                <a:solidFill>
                  <a:srgbClr val="111827"/>
                </a:solidFill>
                <a:latin typeface="Arial" pitchFamily="34" charset="0"/>
                <a:ea typeface="Arial" pitchFamily="34" charset="-122"/>
                <a:cs typeface="Arial" pitchFamily="34" charset="-120"/>
              </a:rPr>
              <a:t>Alternatives: four paths compared on the Board's criteria</a:t>
            </a:r>
            <a:endParaRPr lang="en-US" sz="2000" dirty="0"/>
          </a:p>
        </p:txBody>
      </p:sp>
      <p:sp>
        <p:nvSpPr>
          <p:cNvPr id="4" name="Text 2"/>
          <p:cNvSpPr/>
          <p:nvPr/>
        </p:nvSpPr>
        <p:spPr>
          <a:xfrm>
            <a:off x="8991295" y="201168"/>
            <a:ext cx="2743200" cy="219456"/>
          </a:xfrm>
          <a:prstGeom prst="rect">
            <a:avLst/>
          </a:prstGeom>
          <a:noFill/>
          <a:ln/>
        </p:spPr>
        <p:txBody>
          <a:bodyPr wrap="square" lIns="0" tIns="0" rIns="0" bIns="0" rtlCol="0" anchor="t"/>
          <a:lstStyle/>
          <a:p>
            <a:pPr algn="r" indent="0" marL="0">
              <a:buNone/>
            </a:pPr>
            <a:r>
              <a:rPr lang="en-US" sz="850" dirty="0">
                <a:solidFill>
                  <a:srgbClr val="5B7089"/>
                </a:solidFill>
                <a:latin typeface="Arial" pitchFamily="34" charset="0"/>
                <a:ea typeface="Arial" pitchFamily="34" charset="-122"/>
                <a:cs typeface="Arial" pitchFamily="34" charset="-120"/>
              </a:rPr>
              <a:t>Confidential · Preliminary draft</a:t>
            </a:r>
            <a:endParaRPr lang="en-US" sz="850" dirty="0"/>
          </a:p>
        </p:txBody>
      </p:sp>
      <p:sp>
        <p:nvSpPr>
          <p:cNvPr id="5" name="Text 3"/>
          <p:cNvSpPr/>
          <p:nvPr/>
        </p:nvSpPr>
        <p:spPr>
          <a:xfrm>
            <a:off x="2834640" y="1645920"/>
            <a:ext cx="2224964" cy="365760"/>
          </a:xfrm>
          <a:prstGeom prst="rect">
            <a:avLst/>
          </a:prstGeom>
          <a:noFill/>
          <a:ln/>
        </p:spPr>
        <p:txBody>
          <a:bodyPr wrap="square" lIns="0" tIns="0" rIns="0" bIns="0" rtlCol="0" anchor="t"/>
          <a:lstStyle/>
          <a:p>
            <a:pPr algn="ctr" indent="0" marL="0">
              <a:buNone/>
            </a:pPr>
            <a:r>
              <a:rPr lang="en-US" sz="1000" b="1" dirty="0">
                <a:solidFill>
                  <a:srgbClr val="5B7089"/>
                </a:solidFill>
                <a:latin typeface="Arial" pitchFamily="34" charset="0"/>
                <a:ea typeface="Arial" pitchFamily="34" charset="-122"/>
                <a:cs typeface="Arial" pitchFamily="34" charset="-120"/>
              </a:rPr>
              <a:t>Value to shareholders</a:t>
            </a:r>
            <a:endParaRPr lang="en-US" sz="1000" dirty="0"/>
          </a:p>
        </p:txBody>
      </p:sp>
      <p:sp>
        <p:nvSpPr>
          <p:cNvPr id="6" name="Text 4"/>
          <p:cNvSpPr/>
          <p:nvPr/>
        </p:nvSpPr>
        <p:spPr>
          <a:xfrm>
            <a:off x="5059604" y="1645920"/>
            <a:ext cx="2224964" cy="365760"/>
          </a:xfrm>
          <a:prstGeom prst="rect">
            <a:avLst/>
          </a:prstGeom>
          <a:noFill/>
          <a:ln/>
        </p:spPr>
        <p:txBody>
          <a:bodyPr wrap="square" lIns="0" tIns="0" rIns="0" bIns="0" rtlCol="0" anchor="t"/>
          <a:lstStyle/>
          <a:p>
            <a:pPr algn="ctr" indent="0" marL="0">
              <a:buNone/>
            </a:pPr>
            <a:r>
              <a:rPr lang="en-US" sz="1000" b="1" dirty="0">
                <a:solidFill>
                  <a:srgbClr val="5B7089"/>
                </a:solidFill>
                <a:latin typeface="Arial" pitchFamily="34" charset="0"/>
                <a:ea typeface="Arial" pitchFamily="34" charset="-122"/>
                <a:cs typeface="Arial" pitchFamily="34" charset="-120"/>
              </a:rPr>
              <a:t>Certainty of value</a:t>
            </a:r>
            <a:endParaRPr lang="en-US" sz="1000" dirty="0"/>
          </a:p>
        </p:txBody>
      </p:sp>
      <p:sp>
        <p:nvSpPr>
          <p:cNvPr id="7" name="Text 5"/>
          <p:cNvSpPr/>
          <p:nvPr/>
        </p:nvSpPr>
        <p:spPr>
          <a:xfrm>
            <a:off x="7284568" y="1645920"/>
            <a:ext cx="2224964" cy="365760"/>
          </a:xfrm>
          <a:prstGeom prst="rect">
            <a:avLst/>
          </a:prstGeom>
          <a:noFill/>
          <a:ln/>
        </p:spPr>
        <p:txBody>
          <a:bodyPr wrap="square" lIns="0" tIns="0" rIns="0" bIns="0" rtlCol="0" anchor="t"/>
          <a:lstStyle/>
          <a:p>
            <a:pPr algn="ctr" indent="0" marL="0">
              <a:buNone/>
            </a:pPr>
            <a:r>
              <a:rPr lang="en-US" sz="1000" b="1" dirty="0">
                <a:solidFill>
                  <a:srgbClr val="5B7089"/>
                </a:solidFill>
                <a:latin typeface="Arial" pitchFamily="34" charset="0"/>
                <a:ea typeface="Arial" pitchFamily="34" charset="-122"/>
                <a:cs typeface="Arial" pitchFamily="34" charset="-120"/>
              </a:rPr>
              <a:t>Speed to close</a:t>
            </a:r>
            <a:endParaRPr lang="en-US" sz="1000" dirty="0"/>
          </a:p>
        </p:txBody>
      </p:sp>
      <p:sp>
        <p:nvSpPr>
          <p:cNvPr id="8" name="Text 6"/>
          <p:cNvSpPr/>
          <p:nvPr/>
        </p:nvSpPr>
        <p:spPr>
          <a:xfrm>
            <a:off x="9509531" y="1645920"/>
            <a:ext cx="2224964" cy="365760"/>
          </a:xfrm>
          <a:prstGeom prst="rect">
            <a:avLst/>
          </a:prstGeom>
          <a:noFill/>
          <a:ln/>
        </p:spPr>
        <p:txBody>
          <a:bodyPr wrap="square" lIns="0" tIns="0" rIns="0" bIns="0" rtlCol="0" anchor="t"/>
          <a:lstStyle/>
          <a:p>
            <a:pPr algn="ctr" indent="0" marL="0">
              <a:buNone/>
            </a:pPr>
            <a:r>
              <a:rPr lang="en-US" sz="1000" b="1" dirty="0">
                <a:solidFill>
                  <a:srgbClr val="5B7089"/>
                </a:solidFill>
                <a:latin typeface="Arial" pitchFamily="34" charset="0"/>
                <a:ea typeface="Arial" pitchFamily="34" charset="-122"/>
                <a:cs typeface="Arial" pitchFamily="34" charset="-120"/>
              </a:rPr>
              <a:t>Low disruption</a:t>
            </a:r>
            <a:endParaRPr lang="en-US" sz="1000" dirty="0"/>
          </a:p>
        </p:txBody>
      </p:sp>
      <p:sp>
        <p:nvSpPr>
          <p:cNvPr id="9" name="Text 7"/>
          <p:cNvSpPr/>
          <p:nvPr/>
        </p:nvSpPr>
        <p:spPr>
          <a:xfrm>
            <a:off x="594360" y="2148840"/>
            <a:ext cx="2194560" cy="310896"/>
          </a:xfrm>
          <a:prstGeom prst="rect">
            <a:avLst/>
          </a:prstGeom>
          <a:noFill/>
          <a:ln/>
        </p:spPr>
        <p:txBody>
          <a:bodyPr wrap="square" lIns="0" tIns="0" rIns="0" bIns="0" rtlCol="0" anchor="ctr"/>
          <a:lstStyle/>
          <a:p>
            <a:pPr indent="0" marL="0">
              <a:buNone/>
            </a:pPr>
            <a:r>
              <a:rPr lang="en-US" sz="1100" dirty="0">
                <a:solidFill>
                  <a:srgbClr val="111827"/>
                </a:solidFill>
                <a:latin typeface="Arial" pitchFamily="34" charset="0"/>
                <a:ea typeface="Arial" pitchFamily="34" charset="-122"/>
                <a:cs typeface="Arial" pitchFamily="34" charset="-120"/>
              </a:rPr>
              <a:t>Stand-alone plan</a:t>
            </a:r>
            <a:endParaRPr lang="en-US" sz="1100" dirty="0"/>
          </a:p>
        </p:txBody>
      </p:sp>
      <p:sp>
        <p:nvSpPr>
          <p:cNvPr id="10" name="Shape 8"/>
          <p:cNvSpPr/>
          <p:nvPr/>
        </p:nvSpPr>
        <p:spPr>
          <a:xfrm>
            <a:off x="3791674" y="2148840"/>
            <a:ext cx="310896" cy="310896"/>
          </a:xfrm>
          <a:prstGeom prst="ellipse">
            <a:avLst/>
          </a:prstGeom>
          <a:solidFill>
            <a:srgbClr val="FFFFFF"/>
          </a:solidFill>
          <a:ln w="15875">
            <a:solidFill>
              <a:srgbClr val="0B2545"/>
            </a:solidFill>
            <a:prstDash val="solid"/>
          </a:ln>
        </p:spPr>
      </p:sp>
      <p:sp>
        <p:nvSpPr>
          <p:cNvPr id="11" name="Shape 9"/>
          <p:cNvSpPr/>
          <p:nvPr/>
        </p:nvSpPr>
        <p:spPr>
          <a:xfrm>
            <a:off x="3791674" y="2148840"/>
            <a:ext cx="310896" cy="310896"/>
          </a:xfrm>
          <a:prstGeom prst="pie">
            <a:avLst>
              <a:gd name="adj1" fmla="val 16200000"/>
              <a:gd name="adj2" fmla="val 5400000"/>
            </a:avLst>
          </a:prstGeom>
          <a:solidFill>
            <a:srgbClr val="0B2545"/>
          </a:solidFill>
          <a:ln/>
        </p:spPr>
      </p:sp>
      <p:sp>
        <p:nvSpPr>
          <p:cNvPr id="12" name="Shape 10"/>
          <p:cNvSpPr/>
          <p:nvPr/>
        </p:nvSpPr>
        <p:spPr>
          <a:xfrm>
            <a:off x="6016638" y="2148840"/>
            <a:ext cx="310896" cy="310896"/>
          </a:xfrm>
          <a:prstGeom prst="ellipse">
            <a:avLst/>
          </a:prstGeom>
          <a:solidFill>
            <a:srgbClr val="FFFFFF"/>
          </a:solidFill>
          <a:ln w="15875">
            <a:solidFill>
              <a:srgbClr val="0B2545"/>
            </a:solidFill>
            <a:prstDash val="solid"/>
          </a:ln>
        </p:spPr>
      </p:sp>
      <p:sp>
        <p:nvSpPr>
          <p:cNvPr id="13" name="Shape 11"/>
          <p:cNvSpPr/>
          <p:nvPr/>
        </p:nvSpPr>
        <p:spPr>
          <a:xfrm>
            <a:off x="6016638" y="2148840"/>
            <a:ext cx="310896" cy="310896"/>
          </a:xfrm>
          <a:prstGeom prst="pie">
            <a:avLst>
              <a:gd name="adj1" fmla="val 16200000"/>
              <a:gd name="adj2" fmla="val 21600000"/>
            </a:avLst>
          </a:prstGeom>
          <a:solidFill>
            <a:srgbClr val="0B2545"/>
          </a:solidFill>
          <a:ln/>
        </p:spPr>
      </p:sp>
      <p:sp>
        <p:nvSpPr>
          <p:cNvPr id="14" name="Shape 12"/>
          <p:cNvSpPr/>
          <p:nvPr/>
        </p:nvSpPr>
        <p:spPr>
          <a:xfrm>
            <a:off x="8241602" y="2148840"/>
            <a:ext cx="310896" cy="310896"/>
          </a:xfrm>
          <a:prstGeom prst="ellipse">
            <a:avLst/>
          </a:prstGeom>
          <a:solidFill>
            <a:srgbClr val="FFFFFF"/>
          </a:solidFill>
          <a:ln w="15875">
            <a:solidFill>
              <a:srgbClr val="0B2545"/>
            </a:solidFill>
            <a:prstDash val="solid"/>
          </a:ln>
        </p:spPr>
      </p:sp>
      <p:sp>
        <p:nvSpPr>
          <p:cNvPr id="15" name="Shape 13"/>
          <p:cNvSpPr/>
          <p:nvPr/>
        </p:nvSpPr>
        <p:spPr>
          <a:xfrm>
            <a:off x="8241602" y="2148840"/>
            <a:ext cx="310896" cy="310896"/>
          </a:xfrm>
          <a:prstGeom prst="ellipse">
            <a:avLst/>
          </a:prstGeom>
          <a:solidFill>
            <a:srgbClr val="0B2545"/>
          </a:solidFill>
          <a:ln w="15875">
            <a:solidFill>
              <a:srgbClr val="0B2545"/>
            </a:solidFill>
            <a:prstDash val="solid"/>
          </a:ln>
        </p:spPr>
      </p:sp>
      <p:sp>
        <p:nvSpPr>
          <p:cNvPr id="16" name="Shape 14"/>
          <p:cNvSpPr/>
          <p:nvPr/>
        </p:nvSpPr>
        <p:spPr>
          <a:xfrm>
            <a:off x="10466565" y="2148840"/>
            <a:ext cx="310896" cy="310896"/>
          </a:xfrm>
          <a:prstGeom prst="ellipse">
            <a:avLst/>
          </a:prstGeom>
          <a:solidFill>
            <a:srgbClr val="FFFFFF"/>
          </a:solidFill>
          <a:ln w="15875">
            <a:solidFill>
              <a:srgbClr val="0B2545"/>
            </a:solidFill>
            <a:prstDash val="solid"/>
          </a:ln>
        </p:spPr>
      </p:sp>
      <p:sp>
        <p:nvSpPr>
          <p:cNvPr id="17" name="Shape 15"/>
          <p:cNvSpPr/>
          <p:nvPr/>
        </p:nvSpPr>
        <p:spPr>
          <a:xfrm>
            <a:off x="10466565" y="2148840"/>
            <a:ext cx="310896" cy="310896"/>
          </a:xfrm>
          <a:prstGeom prst="ellipse">
            <a:avLst/>
          </a:prstGeom>
          <a:solidFill>
            <a:srgbClr val="0B2545"/>
          </a:solidFill>
          <a:ln w="15875">
            <a:solidFill>
              <a:srgbClr val="0B2545"/>
            </a:solidFill>
            <a:prstDash val="solid"/>
          </a:ln>
        </p:spPr>
      </p:sp>
      <p:sp>
        <p:nvSpPr>
          <p:cNvPr id="18" name="Text 16"/>
          <p:cNvSpPr/>
          <p:nvPr/>
        </p:nvSpPr>
        <p:spPr>
          <a:xfrm>
            <a:off x="594360" y="2862072"/>
            <a:ext cx="2194560" cy="310896"/>
          </a:xfrm>
          <a:prstGeom prst="rect">
            <a:avLst/>
          </a:prstGeom>
          <a:noFill/>
          <a:ln/>
        </p:spPr>
        <p:txBody>
          <a:bodyPr wrap="square" lIns="0" tIns="0" rIns="0" bIns="0" rtlCol="0" anchor="ctr"/>
          <a:lstStyle/>
          <a:p>
            <a:pPr indent="0" marL="0">
              <a:buNone/>
            </a:pPr>
            <a:r>
              <a:rPr lang="en-US" sz="1100" dirty="0">
                <a:solidFill>
                  <a:srgbClr val="111827"/>
                </a:solidFill>
                <a:latin typeface="Arial" pitchFamily="34" charset="0"/>
                <a:ea typeface="Arial" pitchFamily="34" charset="-122"/>
                <a:cs typeface="Arial" pitchFamily="34" charset="-120"/>
              </a:rPr>
              <a:t>Leveraged recapitalisation</a:t>
            </a:r>
            <a:endParaRPr lang="en-US" sz="1100" dirty="0"/>
          </a:p>
        </p:txBody>
      </p:sp>
      <p:sp>
        <p:nvSpPr>
          <p:cNvPr id="19" name="Shape 17"/>
          <p:cNvSpPr/>
          <p:nvPr/>
        </p:nvSpPr>
        <p:spPr>
          <a:xfrm>
            <a:off x="3791674" y="2862072"/>
            <a:ext cx="310896" cy="310896"/>
          </a:xfrm>
          <a:prstGeom prst="ellipse">
            <a:avLst/>
          </a:prstGeom>
          <a:solidFill>
            <a:srgbClr val="FFFFFF"/>
          </a:solidFill>
          <a:ln w="15875">
            <a:solidFill>
              <a:srgbClr val="0B2545"/>
            </a:solidFill>
            <a:prstDash val="solid"/>
          </a:ln>
        </p:spPr>
      </p:sp>
      <p:sp>
        <p:nvSpPr>
          <p:cNvPr id="20" name="Shape 18"/>
          <p:cNvSpPr/>
          <p:nvPr/>
        </p:nvSpPr>
        <p:spPr>
          <a:xfrm>
            <a:off x="3791674" y="2862072"/>
            <a:ext cx="310896" cy="310896"/>
          </a:xfrm>
          <a:prstGeom prst="pie">
            <a:avLst>
              <a:gd name="adj1" fmla="val 16200000"/>
              <a:gd name="adj2" fmla="val 5400000"/>
            </a:avLst>
          </a:prstGeom>
          <a:solidFill>
            <a:srgbClr val="0B2545"/>
          </a:solidFill>
          <a:ln/>
        </p:spPr>
      </p:sp>
      <p:sp>
        <p:nvSpPr>
          <p:cNvPr id="21" name="Shape 19"/>
          <p:cNvSpPr/>
          <p:nvPr/>
        </p:nvSpPr>
        <p:spPr>
          <a:xfrm>
            <a:off x="6016638" y="2862072"/>
            <a:ext cx="310896" cy="310896"/>
          </a:xfrm>
          <a:prstGeom prst="ellipse">
            <a:avLst/>
          </a:prstGeom>
          <a:solidFill>
            <a:srgbClr val="FFFFFF"/>
          </a:solidFill>
          <a:ln w="15875">
            <a:solidFill>
              <a:srgbClr val="0B2545"/>
            </a:solidFill>
            <a:prstDash val="solid"/>
          </a:ln>
        </p:spPr>
      </p:sp>
      <p:sp>
        <p:nvSpPr>
          <p:cNvPr id="22" name="Shape 20"/>
          <p:cNvSpPr/>
          <p:nvPr/>
        </p:nvSpPr>
        <p:spPr>
          <a:xfrm>
            <a:off x="6016638" y="2862072"/>
            <a:ext cx="310896" cy="310896"/>
          </a:xfrm>
          <a:prstGeom prst="pie">
            <a:avLst>
              <a:gd name="adj1" fmla="val 16200000"/>
              <a:gd name="adj2" fmla="val 5400000"/>
            </a:avLst>
          </a:prstGeom>
          <a:solidFill>
            <a:srgbClr val="0B2545"/>
          </a:solidFill>
          <a:ln/>
        </p:spPr>
      </p:sp>
      <p:sp>
        <p:nvSpPr>
          <p:cNvPr id="23" name="Shape 21"/>
          <p:cNvSpPr/>
          <p:nvPr/>
        </p:nvSpPr>
        <p:spPr>
          <a:xfrm>
            <a:off x="8241602" y="2862072"/>
            <a:ext cx="310896" cy="310896"/>
          </a:xfrm>
          <a:prstGeom prst="ellipse">
            <a:avLst/>
          </a:prstGeom>
          <a:solidFill>
            <a:srgbClr val="FFFFFF"/>
          </a:solidFill>
          <a:ln w="15875">
            <a:solidFill>
              <a:srgbClr val="0B2545"/>
            </a:solidFill>
            <a:prstDash val="solid"/>
          </a:ln>
        </p:spPr>
      </p:sp>
      <p:sp>
        <p:nvSpPr>
          <p:cNvPr id="24" name="Shape 22"/>
          <p:cNvSpPr/>
          <p:nvPr/>
        </p:nvSpPr>
        <p:spPr>
          <a:xfrm>
            <a:off x="8241602" y="2862072"/>
            <a:ext cx="310896" cy="310896"/>
          </a:xfrm>
          <a:prstGeom prst="pie">
            <a:avLst>
              <a:gd name="adj1" fmla="val 16200000"/>
              <a:gd name="adj2" fmla="val 10800000"/>
            </a:avLst>
          </a:prstGeom>
          <a:solidFill>
            <a:srgbClr val="0B2545"/>
          </a:solidFill>
          <a:ln/>
        </p:spPr>
      </p:sp>
      <p:sp>
        <p:nvSpPr>
          <p:cNvPr id="25" name="Shape 23"/>
          <p:cNvSpPr/>
          <p:nvPr/>
        </p:nvSpPr>
        <p:spPr>
          <a:xfrm>
            <a:off x="10466565" y="2862072"/>
            <a:ext cx="310896" cy="310896"/>
          </a:xfrm>
          <a:prstGeom prst="ellipse">
            <a:avLst/>
          </a:prstGeom>
          <a:solidFill>
            <a:srgbClr val="FFFFFF"/>
          </a:solidFill>
          <a:ln w="15875">
            <a:solidFill>
              <a:srgbClr val="0B2545"/>
            </a:solidFill>
            <a:prstDash val="solid"/>
          </a:ln>
        </p:spPr>
      </p:sp>
      <p:sp>
        <p:nvSpPr>
          <p:cNvPr id="26" name="Shape 24"/>
          <p:cNvSpPr/>
          <p:nvPr/>
        </p:nvSpPr>
        <p:spPr>
          <a:xfrm>
            <a:off x="10466565" y="2862072"/>
            <a:ext cx="310896" cy="310896"/>
          </a:xfrm>
          <a:prstGeom prst="pie">
            <a:avLst>
              <a:gd name="adj1" fmla="val 16200000"/>
              <a:gd name="adj2" fmla="val 10800000"/>
            </a:avLst>
          </a:prstGeom>
          <a:solidFill>
            <a:srgbClr val="0B2545"/>
          </a:solidFill>
          <a:ln/>
        </p:spPr>
      </p:sp>
      <p:sp>
        <p:nvSpPr>
          <p:cNvPr id="27" name="Text 25"/>
          <p:cNvSpPr/>
          <p:nvPr/>
        </p:nvSpPr>
        <p:spPr>
          <a:xfrm>
            <a:off x="594360" y="3575304"/>
            <a:ext cx="2194560" cy="310896"/>
          </a:xfrm>
          <a:prstGeom prst="rect">
            <a:avLst/>
          </a:prstGeom>
          <a:noFill/>
          <a:ln/>
        </p:spPr>
        <p:txBody>
          <a:bodyPr wrap="square" lIns="0" tIns="0" rIns="0" bIns="0" rtlCol="0" anchor="ctr"/>
          <a:lstStyle/>
          <a:p>
            <a:pPr indent="0" marL="0">
              <a:buNone/>
            </a:pPr>
            <a:r>
              <a:rPr lang="en-US" sz="1100" dirty="0">
                <a:solidFill>
                  <a:srgbClr val="111827"/>
                </a:solidFill>
                <a:latin typeface="Arial" pitchFamily="34" charset="0"/>
                <a:ea typeface="Arial" pitchFamily="34" charset="-122"/>
                <a:cs typeface="Arial" pitchFamily="34" charset="-120"/>
              </a:rPr>
              <a:t>Sale to a strategic</a:t>
            </a:r>
            <a:endParaRPr lang="en-US" sz="1100" dirty="0"/>
          </a:p>
        </p:txBody>
      </p:sp>
      <p:sp>
        <p:nvSpPr>
          <p:cNvPr id="28" name="Shape 26"/>
          <p:cNvSpPr/>
          <p:nvPr/>
        </p:nvSpPr>
        <p:spPr>
          <a:xfrm>
            <a:off x="3791674" y="3575304"/>
            <a:ext cx="310896" cy="310896"/>
          </a:xfrm>
          <a:prstGeom prst="ellipse">
            <a:avLst/>
          </a:prstGeom>
          <a:solidFill>
            <a:srgbClr val="FFFFFF"/>
          </a:solidFill>
          <a:ln w="15875">
            <a:solidFill>
              <a:srgbClr val="0B2545"/>
            </a:solidFill>
            <a:prstDash val="solid"/>
          </a:ln>
        </p:spPr>
      </p:sp>
      <p:sp>
        <p:nvSpPr>
          <p:cNvPr id="29" name="Shape 27"/>
          <p:cNvSpPr/>
          <p:nvPr/>
        </p:nvSpPr>
        <p:spPr>
          <a:xfrm>
            <a:off x="3791674" y="3575304"/>
            <a:ext cx="310896" cy="310896"/>
          </a:xfrm>
          <a:prstGeom prst="ellipse">
            <a:avLst/>
          </a:prstGeom>
          <a:solidFill>
            <a:srgbClr val="0B2545"/>
          </a:solidFill>
          <a:ln w="15875">
            <a:solidFill>
              <a:srgbClr val="0B2545"/>
            </a:solidFill>
            <a:prstDash val="solid"/>
          </a:ln>
        </p:spPr>
      </p:sp>
      <p:sp>
        <p:nvSpPr>
          <p:cNvPr id="30" name="Shape 28"/>
          <p:cNvSpPr/>
          <p:nvPr/>
        </p:nvSpPr>
        <p:spPr>
          <a:xfrm>
            <a:off x="6016638" y="3575304"/>
            <a:ext cx="310896" cy="310896"/>
          </a:xfrm>
          <a:prstGeom prst="ellipse">
            <a:avLst/>
          </a:prstGeom>
          <a:solidFill>
            <a:srgbClr val="FFFFFF"/>
          </a:solidFill>
          <a:ln w="15875">
            <a:solidFill>
              <a:srgbClr val="0B2545"/>
            </a:solidFill>
            <a:prstDash val="solid"/>
          </a:ln>
        </p:spPr>
      </p:sp>
      <p:sp>
        <p:nvSpPr>
          <p:cNvPr id="31" name="Shape 29"/>
          <p:cNvSpPr/>
          <p:nvPr/>
        </p:nvSpPr>
        <p:spPr>
          <a:xfrm>
            <a:off x="6016638" y="3575304"/>
            <a:ext cx="310896" cy="310896"/>
          </a:xfrm>
          <a:prstGeom prst="pie">
            <a:avLst>
              <a:gd name="adj1" fmla="val 16200000"/>
              <a:gd name="adj2" fmla="val 10800000"/>
            </a:avLst>
          </a:prstGeom>
          <a:solidFill>
            <a:srgbClr val="0B2545"/>
          </a:solidFill>
          <a:ln/>
        </p:spPr>
      </p:sp>
      <p:sp>
        <p:nvSpPr>
          <p:cNvPr id="32" name="Shape 30"/>
          <p:cNvSpPr/>
          <p:nvPr/>
        </p:nvSpPr>
        <p:spPr>
          <a:xfrm>
            <a:off x="8241602" y="3575304"/>
            <a:ext cx="310896" cy="310896"/>
          </a:xfrm>
          <a:prstGeom prst="ellipse">
            <a:avLst/>
          </a:prstGeom>
          <a:solidFill>
            <a:srgbClr val="FFFFFF"/>
          </a:solidFill>
          <a:ln w="15875">
            <a:solidFill>
              <a:srgbClr val="0B2545"/>
            </a:solidFill>
            <a:prstDash val="solid"/>
          </a:ln>
        </p:spPr>
      </p:sp>
      <p:sp>
        <p:nvSpPr>
          <p:cNvPr id="33" name="Shape 31"/>
          <p:cNvSpPr/>
          <p:nvPr/>
        </p:nvSpPr>
        <p:spPr>
          <a:xfrm>
            <a:off x="8241602" y="3575304"/>
            <a:ext cx="310896" cy="310896"/>
          </a:xfrm>
          <a:prstGeom prst="pie">
            <a:avLst>
              <a:gd name="adj1" fmla="val 16200000"/>
              <a:gd name="adj2" fmla="val 21600000"/>
            </a:avLst>
          </a:prstGeom>
          <a:solidFill>
            <a:srgbClr val="0B2545"/>
          </a:solidFill>
          <a:ln/>
        </p:spPr>
      </p:sp>
      <p:sp>
        <p:nvSpPr>
          <p:cNvPr id="34" name="Shape 32"/>
          <p:cNvSpPr/>
          <p:nvPr/>
        </p:nvSpPr>
        <p:spPr>
          <a:xfrm>
            <a:off x="10466565" y="3575304"/>
            <a:ext cx="310896" cy="310896"/>
          </a:xfrm>
          <a:prstGeom prst="ellipse">
            <a:avLst/>
          </a:prstGeom>
          <a:solidFill>
            <a:srgbClr val="FFFFFF"/>
          </a:solidFill>
          <a:ln w="15875">
            <a:solidFill>
              <a:srgbClr val="0B2545"/>
            </a:solidFill>
            <a:prstDash val="solid"/>
          </a:ln>
        </p:spPr>
      </p:sp>
      <p:sp>
        <p:nvSpPr>
          <p:cNvPr id="35" name="Shape 33"/>
          <p:cNvSpPr/>
          <p:nvPr/>
        </p:nvSpPr>
        <p:spPr>
          <a:xfrm>
            <a:off x="10466565" y="3575304"/>
            <a:ext cx="310896" cy="310896"/>
          </a:xfrm>
          <a:prstGeom prst="pie">
            <a:avLst>
              <a:gd name="adj1" fmla="val 16200000"/>
              <a:gd name="adj2" fmla="val 5400000"/>
            </a:avLst>
          </a:prstGeom>
          <a:solidFill>
            <a:srgbClr val="0B2545"/>
          </a:solidFill>
          <a:ln/>
        </p:spPr>
      </p:sp>
      <p:sp>
        <p:nvSpPr>
          <p:cNvPr id="36" name="Text 34"/>
          <p:cNvSpPr/>
          <p:nvPr/>
        </p:nvSpPr>
        <p:spPr>
          <a:xfrm>
            <a:off x="594360" y="4288536"/>
            <a:ext cx="2194560" cy="310896"/>
          </a:xfrm>
          <a:prstGeom prst="rect">
            <a:avLst/>
          </a:prstGeom>
          <a:noFill/>
          <a:ln/>
        </p:spPr>
        <p:txBody>
          <a:bodyPr wrap="square" lIns="0" tIns="0" rIns="0" bIns="0" rtlCol="0" anchor="ctr"/>
          <a:lstStyle/>
          <a:p>
            <a:pPr indent="0" marL="0">
              <a:buNone/>
            </a:pPr>
            <a:r>
              <a:rPr lang="en-US" sz="1100" dirty="0">
                <a:solidFill>
                  <a:srgbClr val="111827"/>
                </a:solidFill>
                <a:latin typeface="Arial" pitchFamily="34" charset="0"/>
                <a:ea typeface="Arial" pitchFamily="34" charset="-122"/>
                <a:cs typeface="Arial" pitchFamily="34" charset="-120"/>
              </a:rPr>
              <a:t>Sale to a sponsor</a:t>
            </a:r>
            <a:endParaRPr lang="en-US" sz="1100" dirty="0"/>
          </a:p>
        </p:txBody>
      </p:sp>
      <p:sp>
        <p:nvSpPr>
          <p:cNvPr id="37" name="Shape 35"/>
          <p:cNvSpPr/>
          <p:nvPr/>
        </p:nvSpPr>
        <p:spPr>
          <a:xfrm>
            <a:off x="3791674" y="4288536"/>
            <a:ext cx="310896" cy="310896"/>
          </a:xfrm>
          <a:prstGeom prst="ellipse">
            <a:avLst/>
          </a:prstGeom>
          <a:solidFill>
            <a:srgbClr val="FFFFFF"/>
          </a:solidFill>
          <a:ln w="15875">
            <a:solidFill>
              <a:srgbClr val="0B2545"/>
            </a:solidFill>
            <a:prstDash val="solid"/>
          </a:ln>
        </p:spPr>
      </p:sp>
      <p:sp>
        <p:nvSpPr>
          <p:cNvPr id="38" name="Shape 36"/>
          <p:cNvSpPr/>
          <p:nvPr/>
        </p:nvSpPr>
        <p:spPr>
          <a:xfrm>
            <a:off x="3791674" y="4288536"/>
            <a:ext cx="310896" cy="310896"/>
          </a:xfrm>
          <a:prstGeom prst="pie">
            <a:avLst>
              <a:gd name="adj1" fmla="val 16200000"/>
              <a:gd name="adj2" fmla="val 10800000"/>
            </a:avLst>
          </a:prstGeom>
          <a:solidFill>
            <a:srgbClr val="0B2545"/>
          </a:solidFill>
          <a:ln/>
        </p:spPr>
      </p:sp>
      <p:sp>
        <p:nvSpPr>
          <p:cNvPr id="39" name="Shape 37"/>
          <p:cNvSpPr/>
          <p:nvPr/>
        </p:nvSpPr>
        <p:spPr>
          <a:xfrm>
            <a:off x="6016638" y="4288536"/>
            <a:ext cx="310896" cy="310896"/>
          </a:xfrm>
          <a:prstGeom prst="ellipse">
            <a:avLst/>
          </a:prstGeom>
          <a:solidFill>
            <a:srgbClr val="FFFFFF"/>
          </a:solidFill>
          <a:ln w="15875">
            <a:solidFill>
              <a:srgbClr val="0B2545"/>
            </a:solidFill>
            <a:prstDash val="solid"/>
          </a:ln>
        </p:spPr>
      </p:sp>
      <p:sp>
        <p:nvSpPr>
          <p:cNvPr id="40" name="Shape 38"/>
          <p:cNvSpPr/>
          <p:nvPr/>
        </p:nvSpPr>
        <p:spPr>
          <a:xfrm>
            <a:off x="6016638" y="4288536"/>
            <a:ext cx="310896" cy="310896"/>
          </a:xfrm>
          <a:prstGeom prst="pie">
            <a:avLst>
              <a:gd name="adj1" fmla="val 16200000"/>
              <a:gd name="adj2" fmla="val 10800000"/>
            </a:avLst>
          </a:prstGeom>
          <a:solidFill>
            <a:srgbClr val="0B2545"/>
          </a:solidFill>
          <a:ln/>
        </p:spPr>
      </p:sp>
      <p:sp>
        <p:nvSpPr>
          <p:cNvPr id="41" name="Shape 39"/>
          <p:cNvSpPr/>
          <p:nvPr/>
        </p:nvSpPr>
        <p:spPr>
          <a:xfrm>
            <a:off x="8241602" y="4288536"/>
            <a:ext cx="310896" cy="310896"/>
          </a:xfrm>
          <a:prstGeom prst="ellipse">
            <a:avLst/>
          </a:prstGeom>
          <a:solidFill>
            <a:srgbClr val="FFFFFF"/>
          </a:solidFill>
          <a:ln w="15875">
            <a:solidFill>
              <a:srgbClr val="0B2545"/>
            </a:solidFill>
            <a:prstDash val="solid"/>
          </a:ln>
        </p:spPr>
      </p:sp>
      <p:sp>
        <p:nvSpPr>
          <p:cNvPr id="42" name="Shape 40"/>
          <p:cNvSpPr/>
          <p:nvPr/>
        </p:nvSpPr>
        <p:spPr>
          <a:xfrm>
            <a:off x="8241602" y="4288536"/>
            <a:ext cx="310896" cy="310896"/>
          </a:xfrm>
          <a:prstGeom prst="pie">
            <a:avLst>
              <a:gd name="adj1" fmla="val 16200000"/>
              <a:gd name="adj2" fmla="val 10800000"/>
            </a:avLst>
          </a:prstGeom>
          <a:solidFill>
            <a:srgbClr val="0B2545"/>
          </a:solidFill>
          <a:ln/>
        </p:spPr>
      </p:sp>
      <p:sp>
        <p:nvSpPr>
          <p:cNvPr id="43" name="Shape 41"/>
          <p:cNvSpPr/>
          <p:nvPr/>
        </p:nvSpPr>
        <p:spPr>
          <a:xfrm>
            <a:off x="10466565" y="4288536"/>
            <a:ext cx="310896" cy="310896"/>
          </a:xfrm>
          <a:prstGeom prst="ellipse">
            <a:avLst/>
          </a:prstGeom>
          <a:solidFill>
            <a:srgbClr val="FFFFFF"/>
          </a:solidFill>
          <a:ln w="15875">
            <a:solidFill>
              <a:srgbClr val="0B2545"/>
            </a:solidFill>
            <a:prstDash val="solid"/>
          </a:ln>
        </p:spPr>
      </p:sp>
      <p:sp>
        <p:nvSpPr>
          <p:cNvPr id="44" name="Shape 42"/>
          <p:cNvSpPr/>
          <p:nvPr/>
        </p:nvSpPr>
        <p:spPr>
          <a:xfrm>
            <a:off x="10466565" y="4288536"/>
            <a:ext cx="310896" cy="310896"/>
          </a:xfrm>
          <a:prstGeom prst="pie">
            <a:avLst>
              <a:gd name="adj1" fmla="val 16200000"/>
              <a:gd name="adj2" fmla="val 10800000"/>
            </a:avLst>
          </a:prstGeom>
          <a:solidFill>
            <a:srgbClr val="0B2545"/>
          </a:solidFill>
          <a:ln/>
        </p:spPr>
      </p:sp>
      <p:sp>
        <p:nvSpPr>
          <p:cNvPr id="45" name="Text 43"/>
          <p:cNvSpPr/>
          <p:nvPr/>
        </p:nvSpPr>
        <p:spPr>
          <a:xfrm>
            <a:off x="457200" y="5943600"/>
            <a:ext cx="5486400" cy="274320"/>
          </a:xfrm>
          <a:prstGeom prst="rect">
            <a:avLst/>
          </a:prstGeom>
          <a:noFill/>
          <a:ln/>
        </p:spPr>
        <p:txBody>
          <a:bodyPr wrap="square" lIns="0" tIns="0" rIns="0" bIns="0" rtlCol="0" anchor="t"/>
          <a:lstStyle/>
          <a:p>
            <a:pPr indent="0" marL="0">
              <a:buNone/>
            </a:pPr>
            <a:r>
              <a:rPr lang="en-US" sz="750" dirty="0">
                <a:solidFill>
                  <a:srgbClr val="5B7089"/>
                </a:solidFill>
                <a:latin typeface="Arial" pitchFamily="34" charset="0"/>
                <a:ea typeface="Arial" pitchFamily="34" charset="-122"/>
                <a:cs typeface="Arial" pitchFamily="34" charset="-120"/>
              </a:rPr>
              <a:t>Scale:  ○ none   ◔ low   ◑ medium   ◕ high   ● full</a:t>
            </a:r>
            <a:endParaRPr lang="en-US" sz="750" dirty="0"/>
          </a:p>
        </p:txBody>
      </p:sp>
      <p:sp>
        <p:nvSpPr>
          <p:cNvPr id="46" name="Text 0"/>
          <p:cNvSpPr/>
          <p:nvPr>
            <p:ph idx="102" type="body" hasCustomPrompt="1"/>
          </p:nvPr>
        </p:nvSpPr>
        <p:spPr>
          <a:xfrm>
            <a:off x="457200" y="6382512"/>
            <a:ext cx="10454335" cy="274320"/>
          </a:xfrm>
          <a:prstGeom prst="rect">
            <a:avLst/>
          </a:prstGeom>
          <a:noFill/>
          <a:ln/>
        </p:spPr>
        <p:txBody>
          <a:bodyPr wrap="square" lIns="0" tIns="0" rIns="0" bIns="0" rtlCol="0" anchor="b"/>
          <a:lstStyle/>
          <a:p>
            <a:pPr indent="0" marL="0">
              <a:buNone/>
            </a:pPr>
            <a:endParaRPr lang="en-US" sz="750" dirty="0"/>
          </a:p>
        </p:txBody>
      </p:sp>
      <p:sp>
        <p:nvSpPr>
          <p:cNvPr id="47"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750">
                <a:solidFill>
                  <a:srgbClr val="5B7089"/>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7295" cy="219456"/>
          </a:xfrm>
          <a:prstGeom prst="rect">
            <a:avLst/>
          </a:prstGeom>
          <a:noFill/>
          <a:ln/>
        </p:spPr>
        <p:txBody>
          <a:bodyPr wrap="square" lIns="0" tIns="0" rIns="0" bIns="0" rtlCol="0" anchor="t"/>
          <a:lstStyle/>
          <a:p>
            <a:pPr indent="0" marL="0">
              <a:buNone/>
            </a:pPr>
            <a:r>
              <a:rPr lang="en-US" sz="850" dirty="0">
                <a:solidFill>
                  <a:srgbClr val="5B7089"/>
                </a:solidFill>
                <a:latin typeface="Arial" pitchFamily="34" charset="0"/>
                <a:ea typeface="Arial" pitchFamily="34" charset="-122"/>
                <a:cs typeface="Arial" pitchFamily="34" charset="-120"/>
              </a:rPr>
              <a:t>1 Situation   ·   </a:t>
            </a:r>
            <a:pPr indent="0" marL="0">
              <a:buNone/>
            </a:pPr>
            <a:r>
              <a:rPr lang="en-US" sz="850" dirty="0">
                <a:solidFill>
                  <a:srgbClr val="5B7089"/>
                </a:solidFill>
                <a:latin typeface="Arial" pitchFamily="34" charset="0"/>
                <a:ea typeface="Arial" pitchFamily="34" charset="-122"/>
                <a:cs typeface="Arial" pitchFamily="34" charset="-120"/>
              </a:rPr>
              <a:t>2 Valuation   ·   </a:t>
            </a:r>
            <a:pPr indent="0" marL="0">
              <a:buNone/>
            </a:pPr>
            <a:r>
              <a:rPr lang="en-US" sz="850" b="1" dirty="0">
                <a:solidFill>
                  <a:srgbClr val="0B2545"/>
                </a:solidFill>
                <a:latin typeface="Arial" pitchFamily="34" charset="0"/>
                <a:ea typeface="Arial" pitchFamily="34" charset="-122"/>
                <a:cs typeface="Arial" pitchFamily="34" charset="-120"/>
              </a:rPr>
              <a:t>3 Alternatives   ·   </a:t>
            </a:r>
            <a:pPr indent="0" marL="0">
              <a:buNone/>
            </a:pPr>
            <a:r>
              <a:rPr lang="en-US" sz="850" dirty="0">
                <a:solidFill>
                  <a:srgbClr val="5B7089"/>
                </a:solidFill>
                <a:latin typeface="Arial" pitchFamily="34" charset="0"/>
                <a:ea typeface="Arial" pitchFamily="34" charset="-122"/>
                <a:cs typeface="Arial" pitchFamily="34" charset="-120"/>
              </a:rPr>
              <a:t>4 Process</a:t>
            </a:r>
            <a:endParaRPr lang="en-US" sz="850" dirty="0"/>
          </a:p>
        </p:txBody>
      </p:sp>
      <p:sp>
        <p:nvSpPr>
          <p:cNvPr id="3" name="Text 0"/>
          <p:cNvSpPr/>
          <p:nvPr>
            <p:ph idx="101" type="title" hasCustomPrompt="1"/>
          </p:nvPr>
        </p:nvSpPr>
        <p:spPr>
          <a:xfrm>
            <a:off x="457200" y="457200"/>
            <a:ext cx="11277295" cy="822960"/>
          </a:xfrm>
          <a:prstGeom prst="rect">
            <a:avLst/>
          </a:prstGeom>
          <a:noFill/>
          <a:ln/>
        </p:spPr>
        <p:txBody>
          <a:bodyPr wrap="square" lIns="0" tIns="0" rIns="0" bIns="0" rtlCol="0" anchor="t"/>
          <a:lstStyle/>
          <a:p>
            <a:pPr algn="l" indent="0" marL="0">
              <a:buNone/>
            </a:pPr>
            <a:r>
              <a:rPr lang="en-US" sz="2000" b="1" dirty="0">
                <a:solidFill>
                  <a:srgbClr val="111827"/>
                </a:solidFill>
                <a:latin typeface="Arial" pitchFamily="34" charset="0"/>
                <a:ea typeface="Arial" pitchFamily="34" charset="-122"/>
                <a:cs typeface="Arial" pitchFamily="34" charset="-120"/>
              </a:rPr>
              <a:t>Buyer universe: three strategics and two sponsors, tiered</a:t>
            </a:r>
            <a:endParaRPr lang="en-US" sz="2000" dirty="0"/>
          </a:p>
        </p:txBody>
      </p:sp>
      <p:sp>
        <p:nvSpPr>
          <p:cNvPr id="4" name="Text 2"/>
          <p:cNvSpPr/>
          <p:nvPr/>
        </p:nvSpPr>
        <p:spPr>
          <a:xfrm>
            <a:off x="457200" y="1298448"/>
            <a:ext cx="11277295" cy="256032"/>
          </a:xfrm>
          <a:prstGeom prst="rect">
            <a:avLst/>
          </a:prstGeom>
          <a:noFill/>
          <a:ln/>
        </p:spPr>
        <p:txBody>
          <a:bodyPr wrap="square" lIns="0" tIns="0" rIns="0" bIns="0" rtlCol="0" anchor="t"/>
          <a:lstStyle/>
          <a:p>
            <a:pPr indent="0" marL="0">
              <a:buNone/>
            </a:pPr>
            <a:r>
              <a:rPr lang="en-US" sz="1000" i="1" dirty="0">
                <a:solidFill>
                  <a:srgbClr val="5B7089"/>
                </a:solidFill>
                <a:latin typeface="Arial" pitchFamily="34" charset="0"/>
                <a:ea typeface="Arial" pitchFamily="34" charset="-122"/>
                <a:cs typeface="Arial" pitchFamily="34" charset="-120"/>
              </a:rPr>
              <a:t>(Capacity: market capitalisation or fund size, $ in billions)</a:t>
            </a:r>
            <a:endParaRPr lang="en-US" sz="1000" dirty="0"/>
          </a:p>
        </p:txBody>
      </p:sp>
      <p:sp>
        <p:nvSpPr>
          <p:cNvPr id="5" name="Text 0"/>
          <p:cNvSpPr/>
          <p:nvPr>
            <p:ph idx="102" type="body" hasCustomPrompt="1"/>
          </p:nvPr>
        </p:nvSpPr>
        <p:spPr>
          <a:xfrm>
            <a:off x="457200" y="6382512"/>
            <a:ext cx="10454335" cy="274320"/>
          </a:xfrm>
          <a:prstGeom prst="rect">
            <a:avLst/>
          </a:prstGeom>
          <a:noFill/>
          <a:ln/>
        </p:spPr>
        <p:txBody>
          <a:bodyPr wrap="square" lIns="0" tIns="0" rIns="0" bIns="0" rtlCol="0" anchor="b"/>
          <a:lstStyle/>
          <a:p>
            <a:pPr indent="0" marL="0">
              <a:buNone/>
            </a:pPr>
            <a:r>
              <a:rPr lang="en-US" sz="750" dirty="0">
                <a:solidFill>
                  <a:srgbClr val="5B7089"/>
                </a:solidFill>
                <a:latin typeface="Arial" pitchFamily="34" charset="0"/>
                <a:ea typeface="Arial" pitchFamily="34" charset="-122"/>
                <a:cs typeface="Arial" pitchFamily="34" charset="-120"/>
              </a:rPr>
              <a:t>Source: Advisor buyer screen; public filings and fund announcements</a:t>
            </a:r>
            <a:endParaRPr lang="en-US" sz="750" dirty="0"/>
          </a:p>
        </p:txBody>
      </p:sp>
      <p:sp>
        <p:nvSpPr>
          <p:cNvPr id="6" name="Text 4"/>
          <p:cNvSpPr/>
          <p:nvPr/>
        </p:nvSpPr>
        <p:spPr>
          <a:xfrm>
            <a:off x="8991295" y="201168"/>
            <a:ext cx="2743200" cy="219456"/>
          </a:xfrm>
          <a:prstGeom prst="rect">
            <a:avLst/>
          </a:prstGeom>
          <a:noFill/>
          <a:ln/>
        </p:spPr>
        <p:txBody>
          <a:bodyPr wrap="square" lIns="0" tIns="0" rIns="0" bIns="0" rtlCol="0" anchor="t"/>
          <a:lstStyle/>
          <a:p>
            <a:pPr algn="r" indent="0" marL="0">
              <a:buNone/>
            </a:pPr>
            <a:r>
              <a:rPr lang="en-US" sz="850" dirty="0">
                <a:solidFill>
                  <a:srgbClr val="5B7089"/>
                </a:solidFill>
                <a:latin typeface="Arial" pitchFamily="34" charset="0"/>
                <a:ea typeface="Arial" pitchFamily="34" charset="-122"/>
                <a:cs typeface="Arial" pitchFamily="34" charset="-120"/>
              </a:rPr>
              <a:t>Confidential · Preliminary draft</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7295" cy="914400"/>
        </p:xfrm>
        <a:graphic>
          <a:graphicData uri="http://schemas.openxmlformats.org/drawingml/2006/table">
            <a:tbl>
              <a:tblPr/>
              <a:tblGrid>
                <a:gridCol w="2377440"/>
                <a:gridCol w="2011680"/>
                <a:gridCol w="1463040"/>
                <a:gridCol w="5394960"/>
              </a:tblGrid>
              <a:tr h="457200">
                <a:tc>
                  <a:txBody>
                    <a:bodyPr/>
                    <a:lstStyle/>
                    <a:p>
                      <a:pPr algn="l" indent="0" marL="0">
                        <a:buNone/>
                      </a:pPr>
                      <a:r>
                        <a:rPr lang="en-US" sz="1100" b="1" dirty="0">
                          <a:solidFill>
                            <a:srgbClr val="5B7089"/>
                          </a:solidFill>
                          <a:latin typeface="Arial" pitchFamily="34" charset="0"/>
                          <a:ea typeface="Arial" pitchFamily="34" charset="-122"/>
                          <a:cs typeface="Arial" pitchFamily="34" charset="-120"/>
                        </a:rPr>
                        <a:t>Tier</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111827"/>
                      </a:solidFill>
                      <a:prstDash val="solid"/>
                      <a:round/>
                      <a:headEnd type="none" w="med" len="med"/>
                      <a:tailEnd type="none" w="med" len="med"/>
                    </a:lnB>
                  </a:tcPr>
                </a:tc>
                <a:tc>
                  <a:txBody>
                    <a:bodyPr/>
                    <a:lstStyle/>
                    <a:p>
                      <a:pPr algn="l" indent="0" marL="0">
                        <a:buNone/>
                      </a:pPr>
                      <a:r>
                        <a:rPr lang="en-US" sz="1100" b="1" dirty="0">
                          <a:solidFill>
                            <a:srgbClr val="5B7089"/>
                          </a:solidFill>
                          <a:latin typeface="Arial" pitchFamily="34" charset="0"/>
                          <a:ea typeface="Arial" pitchFamily="34" charset="-122"/>
                          <a:cs typeface="Arial" pitchFamily="34" charset="-120"/>
                        </a:rPr>
                        <a:t>Buyer</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111827"/>
                      </a:solidFill>
                      <a:prstDash val="solid"/>
                      <a:round/>
                      <a:headEnd type="none" w="med" len="med"/>
                      <a:tailEnd type="none" w="med" len="med"/>
                    </a:lnB>
                  </a:tcPr>
                </a:tc>
                <a:tc>
                  <a:txBody>
                    <a:bodyPr/>
                    <a:lstStyle/>
                    <a:p>
                      <a:pPr algn="r" indent="0" marL="0">
                        <a:buNone/>
                      </a:pPr>
                      <a:r>
                        <a:rPr lang="en-US" sz="1100" b="1" dirty="0">
                          <a:solidFill>
                            <a:srgbClr val="5B7089"/>
                          </a:solidFill>
                          <a:latin typeface="Arial" pitchFamily="34" charset="0"/>
                          <a:ea typeface="Arial" pitchFamily="34" charset="-122"/>
                          <a:cs typeface="Arial" pitchFamily="34" charset="-120"/>
                        </a:rPr>
                        <a:t>Capacity</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111827"/>
                      </a:solidFill>
                      <a:prstDash val="solid"/>
                      <a:round/>
                      <a:headEnd type="none" w="med" len="med"/>
                      <a:tailEnd type="none" w="med" len="med"/>
                    </a:lnB>
                  </a:tcPr>
                </a:tc>
                <a:tc>
                  <a:txBody>
                    <a:bodyPr/>
                    <a:lstStyle/>
                    <a:p>
                      <a:pPr algn="l" indent="0" marL="0">
                        <a:buNone/>
                      </a:pPr>
                      <a:r>
                        <a:rPr lang="en-US" sz="1100" b="1" dirty="0">
                          <a:solidFill>
                            <a:srgbClr val="5B7089"/>
                          </a:solidFill>
                          <a:latin typeface="Arial" pitchFamily="34" charset="0"/>
                          <a:ea typeface="Arial" pitchFamily="34" charset="-122"/>
                          <a:cs typeface="Arial" pitchFamily="34" charset="-120"/>
                        </a:rPr>
                        <a:t>Rationale</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111827"/>
                      </a:solidFill>
                      <a:prstDash val="solid"/>
                      <a:round/>
                      <a:headEnd type="none" w="med" len="med"/>
                      <a:tailEnd type="none" w="med" len="med"/>
                    </a:lnB>
                  </a:tcPr>
                </a:tc>
              </a:tr>
              <a:tr h="457200">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Strategic · tier 1</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Strategic A</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14.2</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Adds cross-border lanes; overlap in three hubs</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457200">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Strategic · tier 1</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Strategic B</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9.8</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Fills its cold-chain gap</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457200">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Strategic · tier 2</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Strategic C</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4.1</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Regional consolidation</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457200">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Sponsor · tier 1</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Sponsor D</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18.0</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Logistics platform in its current fund</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r h="457200">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Sponsor · tier 2</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Sponsor E</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r" indent="0" marL="0">
                        <a:buNone/>
                      </a:pPr>
                      <a:r>
                        <a:rPr lang="en-US" sz="1100" dirty="0">
                          <a:solidFill>
                            <a:srgbClr val="111827"/>
                          </a:solidFill>
                          <a:latin typeface="Arial" pitchFamily="34" charset="0"/>
                          <a:ea typeface="Arial" pitchFamily="34" charset="-122"/>
                          <a:cs typeface="Arial" pitchFamily="34" charset="-120"/>
                        </a:rPr>
                        <a:t>6.5</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c>
                  <a:txBody>
                    <a:bodyPr/>
                    <a:lstStyle/>
                    <a:p>
                      <a:pPr algn="l" indent="0" marL="0">
                        <a:buNone/>
                      </a:pPr>
                      <a:r>
                        <a:rPr lang="en-US" sz="1100" dirty="0">
                          <a:solidFill>
                            <a:srgbClr val="111827"/>
                          </a:solidFill>
                          <a:latin typeface="Arial" pitchFamily="34" charset="0"/>
                          <a:ea typeface="Arial" pitchFamily="34" charset="-122"/>
                          <a:cs typeface="Arial" pitchFamily="34" charset="-120"/>
                        </a:rPr>
                        <a:t>Prior freight investments</a:t>
                      </a:r>
                      <a:endParaRPr lang="en-US" sz="1100" dirty="0">
                        <a:latin typeface="Arial" charset="0"/>
                        <a:ea typeface="Arial" charset="0"/>
                        <a:cs typeface="Arial"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EDF1F6"/>
                      </a:solidFill>
                      <a:prstDash val="solid"/>
                      <a:round/>
                      <a:headEnd type="none" w="med" len="med"/>
                      <a:tailEnd type="none" w="med" len="med"/>
                    </a:lnB>
                  </a:tcPr>
                </a:tc>
              </a:tr>
            </a:tbl>
          </a:graphicData>
        </a:graphic>
      </p:graphicFrame>
      <p:sp>
        <p:nvSpPr>
          <p:cNvPr id="8"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750">
                <a:solidFill>
                  <a:srgbClr val="5B7089"/>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7295" cy="219456"/>
          </a:xfrm>
          <a:prstGeom prst="rect">
            <a:avLst/>
          </a:prstGeom>
          <a:noFill/>
          <a:ln/>
        </p:spPr>
        <p:txBody>
          <a:bodyPr wrap="square" lIns="0" tIns="0" rIns="0" bIns="0" rtlCol="0" anchor="t"/>
          <a:lstStyle/>
          <a:p>
            <a:pPr indent="0" marL="0">
              <a:buNone/>
            </a:pPr>
            <a:r>
              <a:rPr lang="en-US" sz="850" dirty="0">
                <a:solidFill>
                  <a:srgbClr val="5B7089"/>
                </a:solidFill>
                <a:latin typeface="Arial" pitchFamily="34" charset="0"/>
                <a:ea typeface="Arial" pitchFamily="34" charset="-122"/>
                <a:cs typeface="Arial" pitchFamily="34" charset="-120"/>
              </a:rPr>
              <a:t>1 Situation   ·   </a:t>
            </a:r>
            <a:pPr indent="0" marL="0">
              <a:buNone/>
            </a:pPr>
            <a:r>
              <a:rPr lang="en-US" sz="850" dirty="0">
                <a:solidFill>
                  <a:srgbClr val="5B7089"/>
                </a:solidFill>
                <a:latin typeface="Arial" pitchFamily="34" charset="0"/>
                <a:ea typeface="Arial" pitchFamily="34" charset="-122"/>
                <a:cs typeface="Arial" pitchFamily="34" charset="-120"/>
              </a:rPr>
              <a:t>2 Valuation   ·   </a:t>
            </a:r>
            <a:pPr indent="0" marL="0">
              <a:buNone/>
            </a:pPr>
            <a:r>
              <a:rPr lang="en-US" sz="850" dirty="0">
                <a:solidFill>
                  <a:srgbClr val="5B7089"/>
                </a:solidFill>
                <a:latin typeface="Arial" pitchFamily="34" charset="0"/>
                <a:ea typeface="Arial" pitchFamily="34" charset="-122"/>
                <a:cs typeface="Arial" pitchFamily="34" charset="-120"/>
              </a:rPr>
              <a:t>3 Alternatives   ·   </a:t>
            </a:r>
            <a:pPr indent="0" marL="0">
              <a:buNone/>
            </a:pPr>
            <a:r>
              <a:rPr lang="en-US" sz="850" b="1" dirty="0">
                <a:solidFill>
                  <a:srgbClr val="0B2545"/>
                </a:solidFill>
                <a:latin typeface="Arial" pitchFamily="34" charset="0"/>
                <a:ea typeface="Arial" pitchFamily="34" charset="-122"/>
                <a:cs typeface="Arial" pitchFamily="34" charset="-120"/>
              </a:rPr>
              <a:t>4 Process</a:t>
            </a:r>
            <a:endParaRPr lang="en-US" sz="850" dirty="0"/>
          </a:p>
        </p:txBody>
      </p:sp>
      <p:sp>
        <p:nvSpPr>
          <p:cNvPr id="3" name="Text 0"/>
          <p:cNvSpPr/>
          <p:nvPr>
            <p:ph idx="101" type="title" hasCustomPrompt="1"/>
          </p:nvPr>
        </p:nvSpPr>
        <p:spPr>
          <a:xfrm>
            <a:off x="457200" y="457200"/>
            <a:ext cx="11277295" cy="822960"/>
          </a:xfrm>
          <a:prstGeom prst="rect">
            <a:avLst/>
          </a:prstGeom>
          <a:noFill/>
          <a:ln/>
        </p:spPr>
        <p:txBody>
          <a:bodyPr wrap="square" lIns="0" tIns="0" rIns="0" bIns="0" rtlCol="0" anchor="t"/>
          <a:lstStyle/>
          <a:p>
            <a:pPr algn="l" indent="0" marL="0">
              <a:buNone/>
            </a:pPr>
            <a:r>
              <a:rPr lang="en-US" sz="2000" b="1" dirty="0">
                <a:solidFill>
                  <a:srgbClr val="111827"/>
                </a:solidFill>
                <a:latin typeface="Arial" pitchFamily="34" charset="0"/>
                <a:ea typeface="Arial" pitchFamily="34" charset="-122"/>
                <a:cs typeface="Arial" pitchFamily="34" charset="-120"/>
              </a:rPr>
              <a:t>Illustrative process: launch in September, signing in December</a:t>
            </a:r>
            <a:endParaRPr lang="en-US" sz="2000" dirty="0"/>
          </a:p>
        </p:txBody>
      </p:sp>
      <p:sp>
        <p:nvSpPr>
          <p:cNvPr id="4" name="Text 2"/>
          <p:cNvSpPr/>
          <p:nvPr/>
        </p:nvSpPr>
        <p:spPr>
          <a:xfrm>
            <a:off x="8991295" y="201168"/>
            <a:ext cx="2743200" cy="219456"/>
          </a:xfrm>
          <a:prstGeom prst="rect">
            <a:avLst/>
          </a:prstGeom>
          <a:noFill/>
          <a:ln/>
        </p:spPr>
        <p:txBody>
          <a:bodyPr wrap="square" lIns="0" tIns="0" rIns="0" bIns="0" rtlCol="0" anchor="t"/>
          <a:lstStyle/>
          <a:p>
            <a:pPr algn="r" indent="0" marL="0">
              <a:buNone/>
            </a:pPr>
            <a:r>
              <a:rPr lang="en-US" sz="850" dirty="0">
                <a:solidFill>
                  <a:srgbClr val="5B7089"/>
                </a:solidFill>
                <a:latin typeface="Arial" pitchFamily="34" charset="0"/>
                <a:ea typeface="Arial" pitchFamily="34" charset="-122"/>
                <a:cs typeface="Arial" pitchFamily="34" charset="-120"/>
              </a:rPr>
              <a:t>Confidential · Preliminary draft</a:t>
            </a:r>
            <a:endParaRPr lang="en-US" sz="850" dirty="0"/>
          </a:p>
        </p:txBody>
      </p:sp>
      <p:sp>
        <p:nvSpPr>
          <p:cNvPr id="5" name="Text 3"/>
          <p:cNvSpPr/>
          <p:nvPr/>
        </p:nvSpPr>
        <p:spPr>
          <a:xfrm>
            <a:off x="3017520" y="1645920"/>
            <a:ext cx="2179244" cy="274320"/>
          </a:xfrm>
          <a:prstGeom prst="rect">
            <a:avLst/>
          </a:prstGeom>
          <a:noFill/>
          <a:ln/>
        </p:spPr>
        <p:txBody>
          <a:bodyPr wrap="square" lIns="0" tIns="0" rIns="0" bIns="0" rtlCol="0" anchor="t"/>
          <a:lstStyle/>
          <a:p>
            <a:pPr algn="ctr" indent="0" marL="0">
              <a:buNone/>
            </a:pPr>
            <a:r>
              <a:rPr lang="en-US" sz="1000" b="1" dirty="0">
                <a:solidFill>
                  <a:srgbClr val="5B7089"/>
                </a:solidFill>
                <a:latin typeface="Arial" pitchFamily="34" charset="0"/>
                <a:ea typeface="Arial" pitchFamily="34" charset="-122"/>
                <a:cs typeface="Arial" pitchFamily="34" charset="-120"/>
              </a:rPr>
              <a:t>Sep 2026</a:t>
            </a:r>
            <a:endParaRPr lang="en-US" sz="1000" dirty="0"/>
          </a:p>
        </p:txBody>
      </p:sp>
      <p:sp>
        <p:nvSpPr>
          <p:cNvPr id="6" name="Text 4"/>
          <p:cNvSpPr/>
          <p:nvPr/>
        </p:nvSpPr>
        <p:spPr>
          <a:xfrm>
            <a:off x="5196764" y="1645920"/>
            <a:ext cx="2179244" cy="274320"/>
          </a:xfrm>
          <a:prstGeom prst="rect">
            <a:avLst/>
          </a:prstGeom>
          <a:noFill/>
          <a:ln/>
        </p:spPr>
        <p:txBody>
          <a:bodyPr wrap="square" lIns="0" tIns="0" rIns="0" bIns="0" rtlCol="0" anchor="t"/>
          <a:lstStyle/>
          <a:p>
            <a:pPr algn="ctr" indent="0" marL="0">
              <a:buNone/>
            </a:pPr>
            <a:r>
              <a:rPr lang="en-US" sz="1000" b="1" dirty="0">
                <a:solidFill>
                  <a:srgbClr val="5B7089"/>
                </a:solidFill>
                <a:latin typeface="Arial" pitchFamily="34" charset="0"/>
                <a:ea typeface="Arial" pitchFamily="34" charset="-122"/>
                <a:cs typeface="Arial" pitchFamily="34" charset="-120"/>
              </a:rPr>
              <a:t>Oct 2026</a:t>
            </a:r>
            <a:endParaRPr lang="en-US" sz="1000" dirty="0"/>
          </a:p>
        </p:txBody>
      </p:sp>
      <p:sp>
        <p:nvSpPr>
          <p:cNvPr id="7" name="Text 5"/>
          <p:cNvSpPr/>
          <p:nvPr/>
        </p:nvSpPr>
        <p:spPr>
          <a:xfrm>
            <a:off x="7376008" y="1645920"/>
            <a:ext cx="2179244" cy="274320"/>
          </a:xfrm>
          <a:prstGeom prst="rect">
            <a:avLst/>
          </a:prstGeom>
          <a:noFill/>
          <a:ln/>
        </p:spPr>
        <p:txBody>
          <a:bodyPr wrap="square" lIns="0" tIns="0" rIns="0" bIns="0" rtlCol="0" anchor="t"/>
          <a:lstStyle/>
          <a:p>
            <a:pPr algn="ctr" indent="0" marL="0">
              <a:buNone/>
            </a:pPr>
            <a:r>
              <a:rPr lang="en-US" sz="1000" b="1" dirty="0">
                <a:solidFill>
                  <a:srgbClr val="5B7089"/>
                </a:solidFill>
                <a:latin typeface="Arial" pitchFamily="34" charset="0"/>
                <a:ea typeface="Arial" pitchFamily="34" charset="-122"/>
                <a:cs typeface="Arial" pitchFamily="34" charset="-120"/>
              </a:rPr>
              <a:t>Nov 2026</a:t>
            </a:r>
            <a:endParaRPr lang="en-US" sz="1000" dirty="0"/>
          </a:p>
        </p:txBody>
      </p:sp>
      <p:sp>
        <p:nvSpPr>
          <p:cNvPr id="8" name="Text 6"/>
          <p:cNvSpPr/>
          <p:nvPr/>
        </p:nvSpPr>
        <p:spPr>
          <a:xfrm>
            <a:off x="9555251" y="1645920"/>
            <a:ext cx="2179244" cy="274320"/>
          </a:xfrm>
          <a:prstGeom prst="rect">
            <a:avLst/>
          </a:prstGeom>
          <a:noFill/>
          <a:ln/>
        </p:spPr>
        <p:txBody>
          <a:bodyPr wrap="square" lIns="0" tIns="0" rIns="0" bIns="0" rtlCol="0" anchor="t"/>
          <a:lstStyle/>
          <a:p>
            <a:pPr algn="ctr" indent="0" marL="0">
              <a:buNone/>
            </a:pPr>
            <a:r>
              <a:rPr lang="en-US" sz="1000" b="1" dirty="0">
                <a:solidFill>
                  <a:srgbClr val="5B7089"/>
                </a:solidFill>
                <a:latin typeface="Arial" pitchFamily="34" charset="0"/>
                <a:ea typeface="Arial" pitchFamily="34" charset="-122"/>
                <a:cs typeface="Arial" pitchFamily="34" charset="-120"/>
              </a:rPr>
              <a:t>Dec 2026</a:t>
            </a:r>
            <a:endParaRPr lang="en-US" sz="1000" dirty="0"/>
          </a:p>
        </p:txBody>
      </p:sp>
      <p:sp>
        <p:nvSpPr>
          <p:cNvPr id="9" name="Text 7"/>
          <p:cNvSpPr/>
          <p:nvPr/>
        </p:nvSpPr>
        <p:spPr>
          <a:xfrm>
            <a:off x="457200" y="2450592"/>
            <a:ext cx="2423160" cy="420624"/>
          </a:xfrm>
          <a:prstGeom prst="rect">
            <a:avLst/>
          </a:prstGeom>
          <a:noFill/>
          <a:ln/>
        </p:spPr>
        <p:txBody>
          <a:bodyPr wrap="square" lIns="0" tIns="0" rIns="0" bIns="0" rtlCol="0" anchor="ctr"/>
          <a:lstStyle/>
          <a:p>
            <a:pPr indent="0" marL="0">
              <a:buNone/>
            </a:pPr>
            <a:r>
              <a:rPr lang="en-US" sz="1000" dirty="0">
                <a:solidFill>
                  <a:srgbClr val="111827"/>
                </a:solidFill>
                <a:latin typeface="Arial" pitchFamily="34" charset="0"/>
                <a:ea typeface="Arial" pitchFamily="34" charset="-122"/>
                <a:cs typeface="Arial" pitchFamily="34" charset="-120"/>
              </a:rPr>
              <a:t>Preparation and buyer outreach</a:t>
            </a:r>
            <a:endParaRPr lang="en-US" sz="1000" dirty="0"/>
          </a:p>
        </p:txBody>
      </p:sp>
      <p:sp>
        <p:nvSpPr>
          <p:cNvPr id="10" name="Shape 8"/>
          <p:cNvSpPr/>
          <p:nvPr/>
        </p:nvSpPr>
        <p:spPr>
          <a:xfrm>
            <a:off x="3054096" y="2505456"/>
            <a:ext cx="1234394" cy="310896"/>
          </a:xfrm>
          <a:prstGeom prst="rect">
            <a:avLst/>
          </a:prstGeom>
          <a:solidFill>
            <a:srgbClr val="0B2545"/>
          </a:solidFill>
          <a:ln/>
        </p:spPr>
      </p:sp>
      <p:sp>
        <p:nvSpPr>
          <p:cNvPr id="11" name="Text 9"/>
          <p:cNvSpPr/>
          <p:nvPr/>
        </p:nvSpPr>
        <p:spPr>
          <a:xfrm>
            <a:off x="457200" y="3319272"/>
            <a:ext cx="2423160" cy="420624"/>
          </a:xfrm>
          <a:prstGeom prst="rect">
            <a:avLst/>
          </a:prstGeom>
          <a:noFill/>
          <a:ln/>
        </p:spPr>
        <p:txBody>
          <a:bodyPr wrap="square" lIns="0" tIns="0" rIns="0" bIns="0" rtlCol="0" anchor="ctr"/>
          <a:lstStyle/>
          <a:p>
            <a:pPr indent="0" marL="0">
              <a:buNone/>
            </a:pPr>
            <a:r>
              <a:rPr lang="en-US" sz="1000" dirty="0">
                <a:solidFill>
                  <a:srgbClr val="111827"/>
                </a:solidFill>
                <a:latin typeface="Arial" pitchFamily="34" charset="0"/>
                <a:ea typeface="Arial" pitchFamily="34" charset="-122"/>
                <a:cs typeface="Arial" pitchFamily="34" charset="-120"/>
              </a:rPr>
              <a:t>First round: indications</a:t>
            </a:r>
            <a:endParaRPr lang="en-US" sz="1000" dirty="0"/>
          </a:p>
        </p:txBody>
      </p:sp>
      <p:sp>
        <p:nvSpPr>
          <p:cNvPr id="12" name="Shape 10"/>
          <p:cNvSpPr/>
          <p:nvPr/>
        </p:nvSpPr>
        <p:spPr>
          <a:xfrm>
            <a:off x="4361642" y="3374136"/>
            <a:ext cx="2106092" cy="310896"/>
          </a:xfrm>
          <a:prstGeom prst="rect">
            <a:avLst/>
          </a:prstGeom>
          <a:solidFill>
            <a:srgbClr val="0B2545"/>
          </a:solidFill>
          <a:ln/>
        </p:spPr>
      </p:sp>
      <p:sp>
        <p:nvSpPr>
          <p:cNvPr id="13" name="Shape 11"/>
          <p:cNvSpPr/>
          <p:nvPr/>
        </p:nvSpPr>
        <p:spPr>
          <a:xfrm>
            <a:off x="6403726" y="3429000"/>
            <a:ext cx="201168" cy="201168"/>
          </a:xfrm>
          <a:prstGeom prst="diamond">
            <a:avLst/>
          </a:prstGeom>
          <a:solidFill>
            <a:srgbClr val="111827"/>
          </a:solidFill>
          <a:ln w="12700">
            <a:solidFill>
              <a:srgbClr val="FFFFFF"/>
            </a:solidFill>
            <a:prstDash val="solid"/>
          </a:ln>
        </p:spPr>
      </p:sp>
      <p:sp>
        <p:nvSpPr>
          <p:cNvPr id="14" name="Text 12"/>
          <p:cNvSpPr/>
          <p:nvPr/>
        </p:nvSpPr>
        <p:spPr>
          <a:xfrm>
            <a:off x="5681350" y="3127248"/>
            <a:ext cx="1645920" cy="201168"/>
          </a:xfrm>
          <a:prstGeom prst="rect">
            <a:avLst/>
          </a:prstGeom>
          <a:noFill/>
          <a:ln/>
        </p:spPr>
        <p:txBody>
          <a:bodyPr wrap="square" lIns="0" tIns="0" rIns="0" bIns="0" rtlCol="0" anchor="t"/>
          <a:lstStyle/>
          <a:p>
            <a:pPr algn="ctr" indent="0" marL="0">
              <a:buNone/>
            </a:pPr>
            <a:r>
              <a:rPr lang="en-US" sz="750" dirty="0">
                <a:solidFill>
                  <a:srgbClr val="5B7089"/>
                </a:solidFill>
                <a:latin typeface="Arial" pitchFamily="34" charset="0"/>
                <a:ea typeface="Arial" pitchFamily="34" charset="-122"/>
                <a:cs typeface="Arial" pitchFamily="34" charset="-120"/>
              </a:rPr>
              <a:t>Board: shortlist</a:t>
            </a:r>
            <a:endParaRPr lang="en-US" sz="750" dirty="0"/>
          </a:p>
        </p:txBody>
      </p:sp>
      <p:sp>
        <p:nvSpPr>
          <p:cNvPr id="15" name="Text 13"/>
          <p:cNvSpPr/>
          <p:nvPr/>
        </p:nvSpPr>
        <p:spPr>
          <a:xfrm>
            <a:off x="457200" y="4187952"/>
            <a:ext cx="2423160" cy="420624"/>
          </a:xfrm>
          <a:prstGeom prst="rect">
            <a:avLst/>
          </a:prstGeom>
          <a:noFill/>
          <a:ln/>
        </p:spPr>
        <p:txBody>
          <a:bodyPr wrap="square" lIns="0" tIns="0" rIns="0" bIns="0" rtlCol="0" anchor="ctr"/>
          <a:lstStyle/>
          <a:p>
            <a:pPr indent="0" marL="0">
              <a:buNone/>
            </a:pPr>
            <a:r>
              <a:rPr lang="en-US" sz="1000" dirty="0">
                <a:solidFill>
                  <a:srgbClr val="111827"/>
                </a:solidFill>
                <a:latin typeface="Arial" pitchFamily="34" charset="0"/>
                <a:ea typeface="Arial" pitchFamily="34" charset="-122"/>
                <a:cs typeface="Arial" pitchFamily="34" charset="-120"/>
              </a:rPr>
              <a:t>Second round: diligence and bids</a:t>
            </a:r>
            <a:endParaRPr lang="en-US" sz="1000" dirty="0"/>
          </a:p>
        </p:txBody>
      </p:sp>
      <p:sp>
        <p:nvSpPr>
          <p:cNvPr id="16" name="Shape 14"/>
          <p:cNvSpPr/>
          <p:nvPr/>
        </p:nvSpPr>
        <p:spPr>
          <a:xfrm>
            <a:off x="6540886" y="4242816"/>
            <a:ext cx="2977789" cy="310896"/>
          </a:xfrm>
          <a:prstGeom prst="rect">
            <a:avLst/>
          </a:prstGeom>
          <a:solidFill>
            <a:srgbClr val="8A6A00"/>
          </a:solidFill>
          <a:ln/>
        </p:spPr>
      </p:sp>
      <p:sp>
        <p:nvSpPr>
          <p:cNvPr id="17" name="Text 15"/>
          <p:cNvSpPr/>
          <p:nvPr/>
        </p:nvSpPr>
        <p:spPr>
          <a:xfrm>
            <a:off x="457200" y="5056632"/>
            <a:ext cx="2423160" cy="420624"/>
          </a:xfrm>
          <a:prstGeom prst="rect">
            <a:avLst/>
          </a:prstGeom>
          <a:noFill/>
          <a:ln/>
        </p:spPr>
        <p:txBody>
          <a:bodyPr wrap="square" lIns="0" tIns="0" rIns="0" bIns="0" rtlCol="0" anchor="ctr"/>
          <a:lstStyle/>
          <a:p>
            <a:pPr indent="0" marL="0">
              <a:buNone/>
            </a:pPr>
            <a:r>
              <a:rPr lang="en-US" sz="1000" dirty="0">
                <a:solidFill>
                  <a:srgbClr val="111827"/>
                </a:solidFill>
                <a:latin typeface="Arial" pitchFamily="34" charset="0"/>
                <a:ea typeface="Arial" pitchFamily="34" charset="-122"/>
                <a:cs typeface="Arial" pitchFamily="34" charset="-120"/>
              </a:rPr>
              <a:t>Negotiation and signing</a:t>
            </a:r>
            <a:endParaRPr lang="en-US" sz="1000" dirty="0"/>
          </a:p>
        </p:txBody>
      </p:sp>
      <p:sp>
        <p:nvSpPr>
          <p:cNvPr id="18" name="Shape 16"/>
          <p:cNvSpPr/>
          <p:nvPr/>
        </p:nvSpPr>
        <p:spPr>
          <a:xfrm>
            <a:off x="9591827" y="5111496"/>
            <a:ext cx="1016470" cy="310896"/>
          </a:xfrm>
          <a:prstGeom prst="rect">
            <a:avLst/>
          </a:prstGeom>
          <a:solidFill>
            <a:srgbClr val="0B2545"/>
          </a:solidFill>
          <a:ln/>
        </p:spPr>
      </p:sp>
      <p:sp>
        <p:nvSpPr>
          <p:cNvPr id="19" name="Shape 17"/>
          <p:cNvSpPr/>
          <p:nvPr/>
        </p:nvSpPr>
        <p:spPr>
          <a:xfrm>
            <a:off x="10544289" y="5166360"/>
            <a:ext cx="201168" cy="201168"/>
          </a:xfrm>
          <a:prstGeom prst="diamond">
            <a:avLst/>
          </a:prstGeom>
          <a:solidFill>
            <a:srgbClr val="111827"/>
          </a:solidFill>
          <a:ln w="12700">
            <a:solidFill>
              <a:srgbClr val="FFFFFF"/>
            </a:solidFill>
            <a:prstDash val="solid"/>
          </a:ln>
        </p:spPr>
      </p:sp>
      <p:sp>
        <p:nvSpPr>
          <p:cNvPr id="20" name="Text 18"/>
          <p:cNvSpPr/>
          <p:nvPr/>
        </p:nvSpPr>
        <p:spPr>
          <a:xfrm>
            <a:off x="9821913" y="4864608"/>
            <a:ext cx="1645920" cy="201168"/>
          </a:xfrm>
          <a:prstGeom prst="rect">
            <a:avLst/>
          </a:prstGeom>
          <a:noFill/>
          <a:ln/>
        </p:spPr>
        <p:txBody>
          <a:bodyPr wrap="square" lIns="0" tIns="0" rIns="0" bIns="0" rtlCol="0" anchor="t"/>
          <a:lstStyle/>
          <a:p>
            <a:pPr algn="ctr" indent="0" marL="0">
              <a:buNone/>
            </a:pPr>
            <a:r>
              <a:rPr lang="en-US" sz="750" dirty="0">
                <a:solidFill>
                  <a:srgbClr val="5B7089"/>
                </a:solidFill>
                <a:latin typeface="Arial" pitchFamily="34" charset="0"/>
                <a:ea typeface="Arial" pitchFamily="34" charset="-122"/>
                <a:cs typeface="Arial" pitchFamily="34" charset="-120"/>
              </a:rPr>
              <a:t>Board: approve</a:t>
            </a:r>
            <a:endParaRPr lang="en-US" sz="750" dirty="0"/>
          </a:p>
        </p:txBody>
      </p:sp>
      <p:sp>
        <p:nvSpPr>
          <p:cNvPr id="21" name="Text 0"/>
          <p:cNvSpPr/>
          <p:nvPr>
            <p:ph idx="102" type="body" hasCustomPrompt="1"/>
          </p:nvPr>
        </p:nvSpPr>
        <p:spPr>
          <a:xfrm>
            <a:off x="457200" y="6382512"/>
            <a:ext cx="10454335" cy="274320"/>
          </a:xfrm>
          <a:prstGeom prst="rect">
            <a:avLst/>
          </a:prstGeom>
          <a:noFill/>
          <a:ln/>
        </p:spPr>
        <p:txBody>
          <a:bodyPr wrap="square" lIns="0" tIns="0" rIns="0" bIns="0" rtlCol="0" anchor="b"/>
          <a:lstStyle/>
          <a:p>
            <a:pPr indent="0" marL="0">
              <a:buNone/>
            </a:pPr>
            <a:endParaRPr lang="en-US" sz="750" dirty="0"/>
          </a:p>
        </p:txBody>
      </p:sp>
      <p:sp>
        <p:nvSpPr>
          <p:cNvPr id="22"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750">
                <a:solidFill>
                  <a:srgbClr val="5B7089"/>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7295" cy="219456"/>
          </a:xfrm>
          <a:prstGeom prst="rect">
            <a:avLst/>
          </a:prstGeom>
          <a:noFill/>
          <a:ln/>
        </p:spPr>
        <p:txBody>
          <a:bodyPr wrap="square" lIns="0" tIns="0" rIns="0" bIns="0" rtlCol="0" anchor="t"/>
          <a:lstStyle/>
          <a:p>
            <a:pPr indent="0" marL="0">
              <a:buNone/>
            </a:pPr>
            <a:r>
              <a:rPr lang="en-US" sz="850" dirty="0">
                <a:solidFill>
                  <a:srgbClr val="5B7089"/>
                </a:solidFill>
                <a:latin typeface="Arial" pitchFamily="34" charset="0"/>
                <a:ea typeface="Arial" pitchFamily="34" charset="-122"/>
                <a:cs typeface="Arial" pitchFamily="34" charset="-120"/>
              </a:rPr>
              <a:t>1 Situation   ·   </a:t>
            </a:r>
            <a:pPr indent="0" marL="0">
              <a:buNone/>
            </a:pPr>
            <a:r>
              <a:rPr lang="en-US" sz="850" dirty="0">
                <a:solidFill>
                  <a:srgbClr val="5B7089"/>
                </a:solidFill>
                <a:latin typeface="Arial" pitchFamily="34" charset="0"/>
                <a:ea typeface="Arial" pitchFamily="34" charset="-122"/>
                <a:cs typeface="Arial" pitchFamily="34" charset="-120"/>
              </a:rPr>
              <a:t>2 Valuation   ·   </a:t>
            </a:r>
            <a:pPr indent="0" marL="0">
              <a:buNone/>
            </a:pPr>
            <a:r>
              <a:rPr lang="en-US" sz="850" dirty="0">
                <a:solidFill>
                  <a:srgbClr val="5B7089"/>
                </a:solidFill>
                <a:latin typeface="Arial" pitchFamily="34" charset="0"/>
                <a:ea typeface="Arial" pitchFamily="34" charset="-122"/>
                <a:cs typeface="Arial" pitchFamily="34" charset="-120"/>
              </a:rPr>
              <a:t>3 Alternatives   ·   </a:t>
            </a:r>
            <a:pPr indent="0" marL="0">
              <a:buNone/>
            </a:pPr>
            <a:r>
              <a:rPr lang="en-US" sz="850" b="1" dirty="0">
                <a:solidFill>
                  <a:srgbClr val="0B2545"/>
                </a:solidFill>
                <a:latin typeface="Arial" pitchFamily="34" charset="0"/>
                <a:ea typeface="Arial" pitchFamily="34" charset="-122"/>
                <a:cs typeface="Arial" pitchFamily="34" charset="-120"/>
              </a:rPr>
              <a:t>4 Process</a:t>
            </a:r>
            <a:endParaRPr lang="en-US" sz="850" dirty="0"/>
          </a:p>
        </p:txBody>
      </p:sp>
      <p:sp>
        <p:nvSpPr>
          <p:cNvPr id="3" name="Text 0"/>
          <p:cNvSpPr/>
          <p:nvPr>
            <p:ph idx="101" type="title" hasCustomPrompt="1"/>
          </p:nvPr>
        </p:nvSpPr>
        <p:spPr>
          <a:xfrm>
            <a:off x="457200" y="457200"/>
            <a:ext cx="11277295" cy="822960"/>
          </a:xfrm>
          <a:prstGeom prst="rect">
            <a:avLst/>
          </a:prstGeom>
          <a:noFill/>
          <a:ln/>
        </p:spPr>
        <p:txBody>
          <a:bodyPr wrap="square" lIns="0" tIns="0" rIns="0" bIns="0" rtlCol="0" anchor="t"/>
          <a:lstStyle/>
          <a:p>
            <a:pPr algn="l" indent="0" marL="0">
              <a:buNone/>
            </a:pPr>
            <a:r>
              <a:rPr lang="en-US" sz="2000" b="1" dirty="0">
                <a:solidFill>
                  <a:srgbClr val="111827"/>
                </a:solidFill>
                <a:latin typeface="Arial" pitchFamily="34" charset="0"/>
                <a:ea typeface="Arial" pitchFamily="34" charset="-122"/>
                <a:cs typeface="Arial" pitchFamily="34" charset="-120"/>
              </a:rPr>
              <a:t>Recommendation and next steps</a:t>
            </a:r>
            <a:endParaRPr lang="en-US" sz="2000" dirty="0"/>
          </a:p>
        </p:txBody>
      </p:sp>
      <p:sp>
        <p:nvSpPr>
          <p:cNvPr id="4" name="Text 2"/>
          <p:cNvSpPr/>
          <p:nvPr/>
        </p:nvSpPr>
        <p:spPr>
          <a:xfrm>
            <a:off x="8991295" y="201168"/>
            <a:ext cx="2743200" cy="219456"/>
          </a:xfrm>
          <a:prstGeom prst="rect">
            <a:avLst/>
          </a:prstGeom>
          <a:noFill/>
          <a:ln/>
        </p:spPr>
        <p:txBody>
          <a:bodyPr wrap="square" lIns="0" tIns="0" rIns="0" bIns="0" rtlCol="0" anchor="t"/>
          <a:lstStyle/>
          <a:p>
            <a:pPr algn="r" indent="0" marL="0">
              <a:buNone/>
            </a:pPr>
            <a:r>
              <a:rPr lang="en-US" sz="850" dirty="0">
                <a:solidFill>
                  <a:srgbClr val="5B7089"/>
                </a:solidFill>
                <a:latin typeface="Arial" pitchFamily="34" charset="0"/>
                <a:ea typeface="Arial" pitchFamily="34" charset="-122"/>
                <a:cs typeface="Arial" pitchFamily="34" charset="-120"/>
              </a:rPr>
              <a:t>Confidential · Preliminary draft</a:t>
            </a:r>
            <a:endParaRPr lang="en-US" sz="850" dirty="0"/>
          </a:p>
        </p:txBody>
      </p:sp>
      <p:sp>
        <p:nvSpPr>
          <p:cNvPr id="5" name="Shape 3"/>
          <p:cNvSpPr/>
          <p:nvPr/>
        </p:nvSpPr>
        <p:spPr>
          <a:xfrm>
            <a:off x="457200" y="1645920"/>
            <a:ext cx="11277295" cy="1264920"/>
          </a:xfrm>
          <a:prstGeom prst="rect">
            <a:avLst/>
          </a:prstGeom>
          <a:solidFill>
            <a:srgbClr val="EDF1F6"/>
          </a:solidFill>
          <a:ln/>
        </p:spPr>
      </p:sp>
      <p:sp>
        <p:nvSpPr>
          <p:cNvPr id="6" name="Text 4"/>
          <p:cNvSpPr/>
          <p:nvPr/>
        </p:nvSpPr>
        <p:spPr>
          <a:xfrm>
            <a:off x="685800" y="1755648"/>
            <a:ext cx="10820095" cy="1045464"/>
          </a:xfrm>
          <a:prstGeom prst="rect">
            <a:avLst/>
          </a:prstGeom>
          <a:noFill/>
          <a:ln/>
        </p:spPr>
        <p:txBody>
          <a:bodyPr wrap="square" lIns="0" tIns="0" rIns="0" bIns="0" rtlCol="0" anchor="ctr"/>
          <a:lstStyle/>
          <a:p>
            <a:pPr indent="0" marL="0">
              <a:spcAft>
                <a:spcPts val="400"/>
              </a:spcAft>
              <a:buNone/>
            </a:pPr>
            <a:r>
              <a:rPr lang="en-US" sz="1200" b="1" dirty="0">
                <a:solidFill>
                  <a:srgbClr val="0B2545"/>
                </a:solidFill>
                <a:latin typeface="Arial" pitchFamily="34" charset="0"/>
                <a:ea typeface="Arial" pitchFamily="34" charset="-122"/>
                <a:cs typeface="Arial" pitchFamily="34" charset="-120"/>
              </a:rPr>
              <a:t>Recommendation.</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Run a targeted sale process to the two tier-1 strategics and Sponsor D, keeping the stand-alone plan as the walk-away.</a:t>
            </a:r>
            <a:endParaRPr lang="en-US" sz="1100" dirty="0"/>
          </a:p>
        </p:txBody>
      </p:sp>
      <p:sp>
        <p:nvSpPr>
          <p:cNvPr id="7" name="Shape 5"/>
          <p:cNvSpPr/>
          <p:nvPr/>
        </p:nvSpPr>
        <p:spPr>
          <a:xfrm>
            <a:off x="457200" y="3139440"/>
            <a:ext cx="11277295" cy="1264920"/>
          </a:xfrm>
          <a:prstGeom prst="rect">
            <a:avLst/>
          </a:prstGeom>
          <a:solidFill>
            <a:srgbClr val="EDF1F6"/>
          </a:solidFill>
          <a:ln/>
        </p:spPr>
      </p:sp>
      <p:sp>
        <p:nvSpPr>
          <p:cNvPr id="8" name="Text 6"/>
          <p:cNvSpPr/>
          <p:nvPr/>
        </p:nvSpPr>
        <p:spPr>
          <a:xfrm>
            <a:off x="685800" y="3249168"/>
            <a:ext cx="10820095" cy="1045464"/>
          </a:xfrm>
          <a:prstGeom prst="rect">
            <a:avLst/>
          </a:prstGeom>
          <a:noFill/>
          <a:ln/>
        </p:spPr>
        <p:txBody>
          <a:bodyPr wrap="square" lIns="0" tIns="0" rIns="0" bIns="0" rtlCol="0" anchor="ctr"/>
          <a:lstStyle/>
          <a:p>
            <a:pPr indent="0" marL="0">
              <a:spcAft>
                <a:spcPts val="400"/>
              </a:spcAft>
              <a:buNone/>
            </a:pPr>
            <a:r>
              <a:rPr lang="en-US" sz="1200" b="1" dirty="0">
                <a:solidFill>
                  <a:srgbClr val="0B2545"/>
                </a:solidFill>
                <a:latin typeface="Arial" pitchFamily="34" charset="0"/>
                <a:ea typeface="Arial" pitchFamily="34" charset="-122"/>
                <a:cs typeface="Arial" pitchFamily="34" charset="-120"/>
              </a:rPr>
              <a:t>Why.</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Most valuation ranges sit above today's price, the tier-1 strategics can pay for hub savings, and a tiered list limits disruption.</a:t>
            </a:r>
            <a:endParaRPr lang="en-US" sz="1100" dirty="0"/>
          </a:p>
        </p:txBody>
      </p:sp>
      <p:sp>
        <p:nvSpPr>
          <p:cNvPr id="9" name="Shape 7"/>
          <p:cNvSpPr/>
          <p:nvPr/>
        </p:nvSpPr>
        <p:spPr>
          <a:xfrm>
            <a:off x="457200" y="4632960"/>
            <a:ext cx="11277295" cy="1264920"/>
          </a:xfrm>
          <a:prstGeom prst="rect">
            <a:avLst/>
          </a:prstGeom>
          <a:solidFill>
            <a:srgbClr val="EDF1F6"/>
          </a:solidFill>
          <a:ln/>
        </p:spPr>
      </p:sp>
      <p:sp>
        <p:nvSpPr>
          <p:cNvPr id="10" name="Text 8"/>
          <p:cNvSpPr/>
          <p:nvPr/>
        </p:nvSpPr>
        <p:spPr>
          <a:xfrm>
            <a:off x="685800" y="4742688"/>
            <a:ext cx="10820095" cy="1045464"/>
          </a:xfrm>
          <a:prstGeom prst="rect">
            <a:avLst/>
          </a:prstGeom>
          <a:noFill/>
          <a:ln/>
        </p:spPr>
        <p:txBody>
          <a:bodyPr wrap="square" lIns="0" tIns="0" rIns="0" bIns="0" rtlCol="0" anchor="ctr"/>
          <a:lstStyle/>
          <a:p>
            <a:pPr indent="0" marL="0">
              <a:spcAft>
                <a:spcPts val="400"/>
              </a:spcAft>
              <a:buNone/>
            </a:pPr>
            <a:r>
              <a:rPr lang="en-US" sz="1200" b="1" dirty="0">
                <a:solidFill>
                  <a:srgbClr val="0B2545"/>
                </a:solidFill>
                <a:latin typeface="Arial" pitchFamily="34" charset="0"/>
                <a:ea typeface="Arial" pitchFamily="34" charset="-122"/>
                <a:cs typeface="Arial" pitchFamily="34" charset="-120"/>
              </a:rPr>
              <a:t>Next steps.</a:t>
            </a:r>
            <a:endParaRPr lang="en-US" sz="1100" dirty="0"/>
          </a:p>
          <a:p>
            <a:pPr indent="0" marL="0">
              <a:spcAft>
                <a:spcPts val="400"/>
              </a:spcAft>
              <a:buNone/>
            </a:pPr>
            <a:r>
              <a:rPr lang="en-US" sz="1100" dirty="0">
                <a:solidFill>
                  <a:srgbClr val="111827"/>
                </a:solidFill>
                <a:latin typeface="Arial" pitchFamily="34" charset="0"/>
                <a:ea typeface="Arial" pitchFamily="34" charset="-122"/>
                <a:cs typeface="Arial" pitchFamily="34" charset="-120"/>
              </a:rPr>
              <a:t>Board approval of the process; advisers prepare the teaser and management presentation; outreach starts in September.</a:t>
            </a:r>
            <a:endParaRPr lang="en-US" sz="1100" dirty="0"/>
          </a:p>
        </p:txBody>
      </p:sp>
      <p:sp>
        <p:nvSpPr>
          <p:cNvPr id="11" name="Text 0"/>
          <p:cNvSpPr/>
          <p:nvPr>
            <p:ph idx="102" type="body" hasCustomPrompt="1"/>
          </p:nvPr>
        </p:nvSpPr>
        <p:spPr>
          <a:xfrm>
            <a:off x="457200" y="6382512"/>
            <a:ext cx="10454335" cy="274320"/>
          </a:xfrm>
          <a:prstGeom prst="rect">
            <a:avLst/>
          </a:prstGeom>
          <a:noFill/>
          <a:ln/>
        </p:spPr>
        <p:txBody>
          <a:bodyPr wrap="square" lIns="0" tIns="0" rIns="0" bIns="0" rtlCol="0" anchor="b"/>
          <a:lstStyle/>
          <a:p>
            <a:pPr indent="0" marL="0">
              <a:buNone/>
            </a:pPr>
            <a:endParaRPr lang="en-US" sz="750" dirty="0"/>
          </a:p>
        </p:txBody>
      </p:sp>
      <p:sp>
        <p:nvSpPr>
          <p:cNvPr id="12"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750">
                <a:solidFill>
                  <a:srgbClr val="5B7089"/>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457200" y="457200"/>
            <a:ext cx="11277295" cy="822960"/>
          </a:xfrm>
          <a:prstGeom prst="rect">
            <a:avLst/>
          </a:prstGeom>
          <a:noFill/>
          <a:ln/>
        </p:spPr>
        <p:txBody>
          <a:bodyPr wrap="square" lIns="0" tIns="0" rIns="0" bIns="0" rtlCol="0" anchor="t"/>
          <a:lstStyle/>
          <a:p>
            <a:pPr algn="l" indent="0" marL="0">
              <a:buNone/>
            </a:pPr>
            <a:r>
              <a:rPr lang="en-US" sz="2000" b="1" dirty="0">
                <a:solidFill>
                  <a:srgbClr val="111827"/>
                </a:solidFill>
                <a:latin typeface="Arial" pitchFamily="34" charset="0"/>
                <a:ea typeface="Arial" pitchFamily="34" charset="-122"/>
                <a:cs typeface="Arial" pitchFamily="34" charset="-120"/>
              </a:rPr>
              <a:t>Disclaimer</a:t>
            </a:r>
            <a:endParaRPr lang="en-US" sz="2000" dirty="0"/>
          </a:p>
        </p:txBody>
      </p:sp>
      <p:sp>
        <p:nvSpPr>
          <p:cNvPr id="3" name="Text 1"/>
          <p:cNvSpPr/>
          <p:nvPr/>
        </p:nvSpPr>
        <p:spPr>
          <a:xfrm>
            <a:off x="8991295" y="201168"/>
            <a:ext cx="2743200" cy="219456"/>
          </a:xfrm>
          <a:prstGeom prst="rect">
            <a:avLst/>
          </a:prstGeom>
          <a:noFill/>
          <a:ln/>
        </p:spPr>
        <p:txBody>
          <a:bodyPr wrap="square" lIns="0" tIns="0" rIns="0" bIns="0" rtlCol="0" anchor="t"/>
          <a:lstStyle/>
          <a:p>
            <a:pPr algn="r" indent="0" marL="0">
              <a:buNone/>
            </a:pPr>
            <a:r>
              <a:rPr lang="en-US" sz="850" dirty="0">
                <a:solidFill>
                  <a:srgbClr val="5B7089"/>
                </a:solidFill>
                <a:latin typeface="Arial" pitchFamily="34" charset="0"/>
                <a:ea typeface="Arial" pitchFamily="34" charset="-122"/>
                <a:cs typeface="Arial" pitchFamily="34" charset="-120"/>
              </a:rPr>
              <a:t>Confidential · Preliminary draft</a:t>
            </a:r>
            <a:endParaRPr lang="en-US" sz="850" dirty="0"/>
          </a:p>
        </p:txBody>
      </p:sp>
      <p:sp>
        <p:nvSpPr>
          <p:cNvPr id="4" name="Text 2"/>
          <p:cNvSpPr/>
          <p:nvPr/>
        </p:nvSpPr>
        <p:spPr>
          <a:xfrm>
            <a:off x="457200" y="1645920"/>
            <a:ext cx="8457971" cy="4023360"/>
          </a:xfrm>
          <a:prstGeom prst="rect">
            <a:avLst/>
          </a:prstGeom>
          <a:noFill/>
          <a:ln/>
        </p:spPr>
        <p:txBody>
          <a:bodyPr wrap="square" lIns="0" tIns="0" rIns="0" bIns="0" rtlCol="0" anchor="t"/>
          <a:lstStyle/>
          <a:p>
            <a:pPr indent="0" marL="0">
              <a:buNone/>
            </a:pPr>
            <a:r>
              <a:rPr lang="en-US" sz="1000" dirty="0">
                <a:solidFill>
                  <a:srgbClr val="5B7089"/>
                </a:solidFill>
                <a:latin typeface="Arial" pitchFamily="34" charset="0"/>
                <a:ea typeface="Arial" pitchFamily="34" charset="-122"/>
                <a:cs typeface="Arial" pitchFamily="34" charset="-120"/>
              </a:rPr>
              <a:t>These materials were prepared for the Board's use in reviewing strategic alternatives. They rely on public information and on projections prepared by management, which we have not verified independently. They are preliminary and illustrative, are not a valuation opinion, and are not a recommendation to any shareholder. The company and figures are fictional.</a:t>
            </a:r>
            <a:endParaRPr lang="en-US" sz="1000" dirty="0"/>
          </a:p>
        </p:txBody>
      </p:sp>
      <p:sp>
        <p:nvSpPr>
          <p:cNvPr id="5" name="Text 0"/>
          <p:cNvSpPr/>
          <p:nvPr>
            <p:ph idx="100" type="body" hasCustomPrompt="1"/>
          </p:nvPr>
        </p:nvSpPr>
        <p:spPr>
          <a:xfrm>
            <a:off x="457200" y="201168"/>
            <a:ext cx="11277295" cy="219456"/>
          </a:xfrm>
          <a:prstGeom prst="rect">
            <a:avLst/>
          </a:prstGeom>
          <a:noFill/>
          <a:ln/>
        </p:spPr>
        <p:txBody>
          <a:bodyPr wrap="square" lIns="0" tIns="0" rIns="0" bIns="0" rtlCol="0" anchor="t"/>
          <a:lstStyle/>
          <a:p>
            <a:pPr indent="0" marL="0">
              <a:buNone/>
            </a:pPr>
            <a:endParaRPr lang="en-US" sz="850" dirty="0"/>
          </a:p>
        </p:txBody>
      </p:sp>
      <p:sp>
        <p:nvSpPr>
          <p:cNvPr id="6" name="Text 0"/>
          <p:cNvSpPr/>
          <p:nvPr>
            <p:ph idx="102" type="body" hasCustomPrompt="1"/>
          </p:nvPr>
        </p:nvSpPr>
        <p:spPr>
          <a:xfrm>
            <a:off x="457200" y="6382512"/>
            <a:ext cx="10454335" cy="274320"/>
          </a:xfrm>
          <a:prstGeom prst="rect">
            <a:avLst/>
          </a:prstGeom>
          <a:noFill/>
          <a:ln/>
        </p:spPr>
        <p:txBody>
          <a:bodyPr wrap="square" lIns="0" tIns="0" rIns="0" bIns="0" rtlCol="0" anchor="b"/>
          <a:lstStyle/>
          <a:p>
            <a:pPr indent="0" marL="0">
              <a:buNone/>
            </a:pPr>
            <a:endParaRPr lang="en-US" sz="750" dirty="0"/>
          </a:p>
        </p:txBody>
      </p:sp>
      <p:sp>
        <p:nvSpPr>
          <p:cNvPr id="7"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750">
                <a:solidFill>
                  <a:srgbClr val="5B7089"/>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Heron — strategic alternatives review</dc:title>
  <dc:subject>PptxGenJS Presentation</dc:subject>
  <dc:creator>Advisor team</dc:creator>
  <cp:lastModifiedBy>Advisor team</cp:lastModifiedBy>
  <cp:revision>1</cp:revision>
  <dcterms:created xsi:type="dcterms:W3CDTF">2026-09-24T00:55:07Z</dcterms:created>
  <dcterms:modified xsi:type="dcterms:W3CDTF">2026-09-24T00:55:07Z</dcterms:modified>
</cp:coreProperties>
</file>