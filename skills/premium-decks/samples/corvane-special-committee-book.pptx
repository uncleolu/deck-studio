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4"/>
          <c:y val="0.02"/>
          <c:w val="0.62"/>
          <c:h val="0.86"/>
        </c:manualLayout>
      </c:layout>
      <c:barChart>
        <c:barDir val="bar"/>
        <c:grouping val="stacked"/>
        <c:varyColors val="0"/>
        <c:ser>
          <c:idx val="0"/>
          <c:order val="0"/>
          <c:tx>
            <c:strRef>
              <c:f>Sheet1!$B$1</c:f>
              <c:strCache>
                <c:ptCount val="1"/>
                <c:pt idx="0">
                  <c:v>low</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DCF (WACC 8.0%–9.0%, TGR 2.0%–3.0%)</c:v>
                  </c:pt>
                  <c:pt idx="1">
                    <c:v>Precedent transactions (9.1x–12.2x LTM EBITDA)</c:v>
                  </c:pt>
                  <c:pt idx="2">
                    <c:v>Trading comps (9.2x–10.0x LTM EBITDA)</c:v>
                  </c:pt>
                  <c:pt idx="3">
                    <c:v>Trading comps (8.7x–9.5x FY26E EBITDA)</c:v>
                  </c:pt>
                  <c:pt idx="4">
                    <c:v>2025 trading range</c:v>
                  </c:pt>
                </c:lvl>
              </c:multiLvlStrCache>
            </c:multiLvlStrRef>
          </c:cat>
          <c:val>
            <c:numRef>
              <c:f>Sheet1!$B$2:$B$6</c:f>
              <c:numCache>
                <c:formatCode>General</c:formatCode>
                <c:ptCount val="5"/>
                <c:pt idx="0">
                  <c:v>19.6</c:v>
                </c:pt>
                <c:pt idx="1">
                  <c:v>17.55</c:v>
                </c:pt>
                <c:pt idx="2">
                  <c:v>17.87</c:v>
                </c:pt>
                <c:pt idx="3">
                  <c:v>18.22</c:v>
                </c:pt>
                <c:pt idx="4">
                  <c:v>16.66</c:v>
                </c:pt>
              </c:numCache>
            </c:numRef>
          </c:val>
        </c:ser>
        <c:ser>
          <c:idx val="1"/>
          <c:order val="1"/>
          <c:tx>
            <c:strRef>
              <c:f>Sheet1!$C$1</c:f>
              <c:strCache>
                <c:ptCount val="1"/>
                <c:pt idx="0">
                  <c:v>range</c:v>
                </c:pt>
              </c:strCache>
            </c:strRef>
          </c:tx>
          <c:spPr>
            <a:solidFill>
              <a:srgbClr val="9AA8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DCF (WACC 8.0%–9.0%, TGR 2.0%–3.0%)</c:v>
                  </c:pt>
                  <c:pt idx="1">
                    <c:v>Precedent transactions (9.1x–12.2x LTM EBITDA)</c:v>
                  </c:pt>
                  <c:pt idx="2">
                    <c:v>Trading comps (9.2x–10.0x LTM EBITDA)</c:v>
                  </c:pt>
                  <c:pt idx="3">
                    <c:v>Trading comps (8.7x–9.5x FY26E EBITDA)</c:v>
                  </c:pt>
                  <c:pt idx="4">
                    <c:v>2025 trading range</c:v>
                  </c:pt>
                </c:lvl>
              </c:multiLvlStrCache>
            </c:multiLvlStrRef>
          </c:cat>
          <c:val>
            <c:numRef>
              <c:f>Sheet1!$C$2:$C$6</c:f>
              <c:numCache>
                <c:formatCode>General</c:formatCode>
                <c:ptCount val="5"/>
                <c:pt idx="0">
                  <c:v>9.809999999999999</c:v>
                </c:pt>
                <c:pt idx="1">
                  <c:v>8.529999999999998</c:v>
                </c:pt>
                <c:pt idx="2">
                  <c:v>2.289999999999999</c:v>
                </c:pt>
                <c:pt idx="3">
                  <c:v>2.3900000000000006</c:v>
                </c:pt>
                <c:pt idx="4">
                  <c:v>5.02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35"/>
          <c:min val="10"/>
        </c:scaling>
        <c:delete val="0"/>
        <c:axPos val="b"/>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7089"/>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Premium implied by the offer</c:v>
                </c:pt>
              </c:strCache>
            </c:strRef>
          </c:tx>
          <c:spPr>
            <a:solidFill>
              <a:srgbClr val="0B2545"/>
            </a:solidFill>
            <a:effectLst/>
          </c:spPr>
          <c:invertIfNegative val="0"/>
          <c:dLbls>
            <c:numFmt formatCode="0.0&quot;%&quot;" sourceLinked="0"/>
            <c:txPr>
              <a:bodyPr/>
              <a:lstStyle/>
              <a:p>
                <a:pPr>
                  <a:defRPr b="0" i="0" strike="noStrike" sz="10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0B2545"/>
              </a:solidFill>
              <a:effectLst/>
            </c:spPr>
          </c:dPt>
          <c:dPt>
            <c:idx val="1"/>
            <c:invertIfNegative val="0"/>
            <c:bubble3D val="0"/>
            <c:spPr>
              <a:solidFill>
                <a:srgbClr val="8A6A00"/>
              </a:solidFill>
              <a:effectLst/>
            </c:spPr>
          </c:dPt>
          <c:dPt>
            <c:idx val="2"/>
            <c:invertIfNegative val="0"/>
            <c:bubble3D val="0"/>
            <c:spPr>
              <a:solidFill>
                <a:srgbClr val="0B2545"/>
              </a:solidFill>
              <a:effectLst/>
            </c:spPr>
          </c:dPt>
          <c:dPt>
            <c:idx val="3"/>
            <c:invertIfNegative val="0"/>
            <c:bubble3D val="0"/>
            <c:spPr>
              <a:solidFill>
                <a:srgbClr val="0B2545"/>
              </a:solidFill>
              <a:effectLst/>
            </c:spPr>
          </c:dPt>
          <c:cat>
            <c:multiLvlStrRef>
              <c:f>Sheet1!$A$2:$A$5</c:f>
              <c:multiLvlStrCache>
                <c:ptCount val="4"/>
                <c:lvl>
                  <c:pt idx="0">
                    <c:v>Unaffected (15 May 2026)</c:v>
                  </c:pt>
                  <c:pt idx="1">
                    <c:v>2025 high</c:v>
                  </c:pt>
                  <c:pt idx="2">
                    <c:v>2025 average</c:v>
                  </c:pt>
                  <c:pt idx="3">
                    <c:v>2025 low</c:v>
                  </c:pt>
                </c:lvl>
              </c:multiLvlStrCache>
            </c:multiLvlStrRef>
          </c:cat>
          <c:val>
            <c:numRef>
              <c:f>Sheet1!$B$2:$B$5</c:f>
              <c:numCache>
                <c:formatCode>General</c:formatCode>
                <c:ptCount val="4"/>
                <c:pt idx="0">
                  <c:v>26.2</c:v>
                </c:pt>
                <c:pt idx="1">
                  <c:v>24.5</c:v>
                </c:pt>
                <c:pt idx="2">
                  <c:v>39.6</c:v>
                </c:pt>
                <c:pt idx="3">
                  <c:v>62.1</c:v>
                </c:pt>
              </c:numCache>
            </c:numRef>
          </c:val>
        </c:ser>
        <c:dLbls>
          <c:numFmt formatCode="0.0&quot;%&quot;" sourceLinked="0"/>
          <c:txPr>
            <a:bodyPr/>
            <a:lstStyle/>
            <a:p>
              <a:pPr>
                <a:defRPr b="0" i="0" strike="noStrike" sz="1000" u="none">
                  <a:solidFill>
                    <a:srgbClr val="11182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11827"/>
                </a:solidFill>
                <a:latin typeface="Arial"/>
              </a:defRPr>
            </a:pPr>
            <a:endParaRPr lang="en-US"/>
          </a:p>
        </c:txPr>
        <c:crossAx val="2094734552"/>
        <c:crosses val="autoZero"/>
        <c:auto val="1"/>
        <c:lblAlgn val="ctr"/>
        <c:noMultiLvlLbl val="1"/>
        <c:tickLblSkip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08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Fictional company and data. Built from samples/source/corvane-instruments/input via scripts/ingest.py. Data decision: diluted shares appear as 114.0M [F0005] and 112.6M [F0027]; per-share values use 112.6M, as management directs.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Disclaimer written for this sample; never copy a bank's legal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[F0004]; unaffected [F0003]; shares [F0027, F0005]; net debt [F0006]; LTM EBITDA [F0007]; FY26E EBITDA [F0013]; 52-week high [F0087]. calc: 26.2% = 27.0 / 21.4 - 1 [F0004, F0003]. calc: 24.5% = 27.0 / 21.68 - 1 [F0087]. calc: $3,040 = 27.0 x 112.6 [F0004]. calc: $3,885 = 3,040 + 845 [F0006]. calc: 12.5x = 3,885 / 310 [F0007]. calc: 11.7x = 3,885 / 332 [F0013].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52-week range $16.66 [F0036] to $21.68 [F0087]. calc: Trading comps (8.7x–9.5x FY26E EBITDA): $18.22 to $20.61 per share = (multiple x EBITDA - 845) / 112.6 [F0013, F0007, F0006, F0027, F0088-F0102, F0028-F0035]. calc: Trading comps (9.2x–10.0x LTM EBITDA): $17.87 to $20.16 per share = (multiple x EBITDA - 845) / 112.6 [F0013, F0007, F0006, F0027, F0088-F0102, F0028-F0035]. calc: Precedent transactions (9.1x–12.2x LTM EBITDA): $17.55 to $26.08 per share = (multiple x EBITDA - 845) / 112.6 [F0013, F0007, F0006, F0027, F0088-F0102, F0028-F0035]. calc: DCF $19.60 to $29.41 from the sensitivity grid [F0018, F0019, F0020, F0021, F0022, F0023, F0024, F0025, F0026]. Offer [F0004]; unaffected [F0003]. calc: 4 of 5 ranges end below $27.00 [F0004].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[F0004]; unaffected [F0003]; 2025 high [F0087]; 2025 low [F0036]; closes [F0036-F0087]. calc: 26.2% = 27.0 / 21.4 - 1 [F0004, F0003]. calc: 24.5% = 27.0 / 21.68 - 1 [F0004, F0087]. calc: 39.6% = 27.0 / 19.34 - 1, where $19.34 is the mean of 52 2025 closes [F0004, F0036-F0087]. calc: 62.1% = 27.0 / 16.66 - 1 [F0004, F0036].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 Peer Aster 10.0x = 6,150 / 612 and 9.5x = 6,150 / 645 [F0088, F0089, F0090]. calc: Peer Brio 9.2x = 3,420 / 371 and 8.7x = 3,420 / 392 [F0091, F0092, F0093]. calc: Peer Calder 10.8x = 8,800 / 812 and 10.2x = 8,800 / 861 [F0094, F0095, F0096]. calc: Peer Delta 8.8x = 2,480 / 283 and 8.4x = 2,480 / 297 [F0097, F0098, F0099]. calc: Peer Ember 10.0x = 4,010 / 402 and 9.4x = 4,010 / 428 [F0100, F0101, F0102]. calc: medians EV 4,010, LTM 10.0x, NTM 9.4x = middle of five values [F0088-F0102]. calc: Corvane 3,885, 12.5x, 11.7x [F0004, F0027, F0006, F0007, F0013].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[F0028-F0035]. calc: median EV 4,000 and multiple 10.9x = mean of the middle two values [F0028-F0035]. calc: Corvane 3,885 and 12.5x [F0004, F0027, F0006, F0007].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 $24.23 at WACC 8.00%, TGR 2.0% [F0018, F0019, F0020, F0021, F0022, F0006, F0027]. calc: $26.59 at WACC 8.00%, TGR 2.5% [F0018, F0019, F0020, F0021, F0022, F0006, F0027]. calc: $29.41 at WACC 8.00%, TGR 3.0% [F0018, F0019, F0020, F0021, F0022, F0006, F0027]. calc: $22.94 at WACC 8.25%, TGR 2.0% [F0018, F0019, F0020, F0021, F0022, F0006, F0027]. calc: $25.08 at WACC 8.25%, TGR 2.5% [F0018, F0019, F0020, F0021, F0022, F0006, F0027]. calc: $27.63 at WACC 8.25%, TGR 3.0% [F0018, F0019, F0020, F0021, F0022, F0006, F0027]. calc: $21.74 at WACC 8.50%, TGR 2.0% [F0018, F0019, F0020, F0021, F0022, F0006, F0027]. calc: $23.69 at WACC 8.50%, TGR 2.5% [F0018, F0019, F0020, F0021, F0022, F0006, F0027]. calc: $26.00 at WACC 8.50%, TGR 3.0% [F0018, F0019, F0020, F0021, F0022, F0006, F0027]. calc: $20.63 at WACC 8.75%, TGR 2.0% [F0018, F0019, F0020, F0021, F0022, F0006, F0027]. calc: $22.42 at WACC 8.75%, TGR 2.5% [F0018, F0019, F0020, F0021, F0022, F0006, F0027]. calc: $24.52 at WACC 8.75%, TGR 3.0% [F0018, F0019, F0020, F0021, F0022, F0006, F0027]. calc: $19.60 at WACC 9.00%, TGR 2.0% [F0018, F0019, F0020, F0021, F0022, F0006, F0027]. calc: $21.24 at WACC 9.00%, TGR 2.5% [F0018, F0019, F0020, F0021, F0022, F0006, F0027]. calc: $23.16 at WACC 9.00%, TGR 3.0% [F0018, F0019, F0020, F0021, F0022, F0006, F0027]. calc: 8.25% and 8.75% are steps inside the management range [F0023, F0024, F0025, F0026]. calc: 2 of 15 cases = count of the 5 x 3 grid at or above the offer [F0004, F0023, F0024, F0025, F0026].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rtlCol="0"/>
          <a:lstStyle>
            <a:lvl1pPr indent="0" marL="0">
              <a:buNone/>
              <a:defRPr lang="en-US" sz="850" dirty="0">
                <a:solidFill>
                  <a:srgbClr val="5B7089"/>
                </a:solidFill>
                <a:latin typeface="Arial" pitchFamily="34" charset="0"/>
                <a:ea typeface="Arial" pitchFamily="34" charset="-122"/>
                <a:cs typeface="Arial" pitchFamily="34" charset="-120"/>
              </a:defRPr>
            </a:lvl1pPr>
          </a:lstStyle>
          <a:p>
            <a:pPr indent="0" marL="0">
              <a:buNone/>
            </a:pP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rtlCol="0"/>
          <a:lstStyle>
            <a:lvl1pPr algn="l" indent="0" marL="0">
              <a:buNone/>
              <a:defRPr lang="en-US" sz="2000" b="1" dirty="0">
                <a:solidFill>
                  <a:srgbClr val="111827"/>
                </a:solidFill>
                <a:latin typeface="Arial" pitchFamily="34" charset="0"/>
                <a:ea typeface="Arial" pitchFamily="34" charset="-122"/>
                <a:cs typeface="Arial" pitchFamily="34" charset="-120"/>
              </a:defRPr>
            </a:lvl1pPr>
          </a:lstStyle>
          <a:p>
            <a:pPr algn="l" indent="0" marL="0">
              <a:buNone/>
            </a:pPr>
            <a:endParaRPr lang="en-US" sz="2000" dirty="0"/>
          </a:p>
        </p:txBody>
      </p:sp>
      <p:sp>
        <p:nvSpPr>
          <p:cNvPr id="4" name="Text 0"/>
          <p:cNvSpPr/>
          <p:nvPr>
            <p:ph idx="102" type="body" hasCustomPrompt="1"/>
          </p:nvPr>
        </p:nvSpPr>
        <p:spPr>
          <a:xfrm>
            <a:off x="457200" y="6382512"/>
            <a:ext cx="10454335" cy="274320"/>
          </a:xfrm>
          <a:prstGeom prst="rect">
            <a:avLst/>
          </a:prstGeom>
          <a:noFill/>
          <a:ln/>
        </p:spPr>
        <p:txBody>
          <a:bodyPr wrap="square" rtlCol="0"/>
          <a:lstStyle>
            <a:lvl1pPr indent="0" marL="0">
              <a:buNone/>
              <a:defRPr lang="en-US" sz="750" dirty="0">
                <a:solidFill>
                  <a:srgbClr val="5B7089"/>
                </a:solidFill>
                <a:latin typeface="Arial" pitchFamily="34" charset="0"/>
                <a:ea typeface="Arial" pitchFamily="34" charset="-122"/>
                <a:cs typeface="Arial" pitchFamily="34" charset="-120"/>
              </a:defRPr>
            </a:lvl1pPr>
          </a:lstStyle>
          <a:p>
            <a:pPr indent="0" marL="0">
              <a:buNone/>
            </a:pPr>
            <a:endParaRPr lang="en-US" sz="75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731520" y="2194560"/>
            <a:ext cx="9905695" cy="1280160"/>
          </a:xfrm>
          <a:prstGeom prst="rect">
            <a:avLst/>
          </a:prstGeom>
          <a:noFill/>
          <a:ln/>
        </p:spPr>
        <p:txBody>
          <a:bodyPr wrap="square" lIns="0" tIns="0" rIns="0" bIns="0" rtlCol="0" anchor="b"/>
          <a:lstStyle/>
          <a:p>
            <a:pPr indent="0" marL="0">
              <a:buNone/>
            </a:pPr>
            <a:r>
              <a:rPr lang="en-US" sz="3400" b="1" dirty="0">
                <a:solidFill>
                  <a:srgbClr val="FFFFFF"/>
                </a:solidFill>
                <a:latin typeface="Arial" pitchFamily="34" charset="0"/>
                <a:ea typeface="Arial" pitchFamily="34" charset="-122"/>
                <a:cs typeface="Arial" pitchFamily="34" charset="-120"/>
              </a:rPr>
              <a:t>Project Cobalt: discussion materials</a:t>
            </a:r>
            <a:endParaRPr lang="en-US" sz="3400" dirty="0"/>
          </a:p>
        </p:txBody>
      </p:sp>
      <p:sp>
        <p:nvSpPr>
          <p:cNvPr id="3" name="Text 1"/>
          <p:cNvSpPr/>
          <p:nvPr/>
        </p:nvSpPr>
        <p:spPr>
          <a:xfrm>
            <a:off x="731520" y="3611880"/>
            <a:ext cx="9905695" cy="548640"/>
          </a:xfrm>
          <a:prstGeom prst="rect">
            <a:avLst/>
          </a:prstGeom>
          <a:noFill/>
          <a:ln/>
        </p:spPr>
        <p:txBody>
          <a:bodyPr wrap="square" lIns="0" tIns="0" rIns="0" bIns="0" rtlCol="0" anchor="t"/>
          <a:lstStyle/>
          <a:p>
            <a:pPr indent="0" marL="0">
              <a:buNone/>
            </a:pPr>
            <a:r>
              <a:rPr lang="en-US" sz="1600" dirty="0">
                <a:solidFill>
                  <a:srgbClr val="EDF1F6"/>
                </a:solidFill>
                <a:latin typeface="Arial" pitchFamily="34" charset="0"/>
                <a:ea typeface="Arial" pitchFamily="34" charset="-122"/>
                <a:cs typeface="Arial" pitchFamily="34" charset="-120"/>
              </a:rPr>
              <a:t>Prepared for the Special Committee of the Board of Corvane Instruments</a:t>
            </a:r>
            <a:endParaRPr lang="en-US" sz="1600" dirty="0"/>
          </a:p>
        </p:txBody>
      </p:sp>
      <p:sp>
        <p:nvSpPr>
          <p:cNvPr id="4" name="Text 2"/>
          <p:cNvSpPr/>
          <p:nvPr/>
        </p:nvSpPr>
        <p:spPr>
          <a:xfrm>
            <a:off x="731520" y="5943600"/>
            <a:ext cx="10362895" cy="365760"/>
          </a:xfrm>
          <a:prstGeom prst="rect">
            <a:avLst/>
          </a:prstGeom>
          <a:noFill/>
          <a:ln/>
        </p:spPr>
        <p:txBody>
          <a:bodyPr wrap="square" lIns="0" tIns="0" rIns="0" bIns="0" rtlCol="0" anchor="t"/>
          <a:lstStyle/>
          <a:p>
            <a:pPr indent="0" marL="0">
              <a:buNone/>
            </a:pPr>
            <a:r>
              <a:rPr lang="en-US" sz="1100" dirty="0">
                <a:solidFill>
                  <a:srgbClr val="EDF1F6"/>
                </a:solidFill>
                <a:latin typeface="Arial" pitchFamily="34" charset="0"/>
                <a:ea typeface="Arial" pitchFamily="34" charset="-122"/>
                <a:cs typeface="Arial" pitchFamily="34" charset="-120"/>
              </a:rPr>
              <a:t>Fictional sample · deck-studio</a:t>
            </a:r>
            <a:endParaRPr lang="en-US" sz="1100" dirty="0"/>
          </a:p>
        </p:txBody>
      </p:sp>
      <p:sp>
        <p:nvSpPr>
          <p:cNvPr id="5" name="Text 3"/>
          <p:cNvSpPr/>
          <p:nvPr/>
        </p:nvSpPr>
        <p:spPr>
          <a:xfrm>
            <a:off x="8716975" y="365760"/>
            <a:ext cx="2743200" cy="274320"/>
          </a:xfrm>
          <a:prstGeom prst="rect">
            <a:avLst/>
          </a:prstGeom>
          <a:noFill/>
          <a:ln/>
        </p:spPr>
        <p:txBody>
          <a:bodyPr wrap="square" lIns="0" tIns="0" rIns="0" bIns="0" rtlCol="0" anchor="t"/>
          <a:lstStyle/>
          <a:p>
            <a:pPr algn="r" indent="0" marL="0">
              <a:buNone/>
            </a:pPr>
            <a:r>
              <a:rPr lang="en-US" sz="1000" dirty="0">
                <a:solidFill>
                  <a:srgbClr val="EDF1F6"/>
                </a:solidFill>
                <a:latin typeface="Arial" pitchFamily="34" charset="0"/>
                <a:ea typeface="Arial" pitchFamily="34" charset="-122"/>
                <a:cs typeface="Arial" pitchFamily="34" charset="-120"/>
              </a:rPr>
              <a:t>Confidential · Preliminary 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Disclaimer</a:t>
            </a:r>
            <a:endParaRPr lang="en-US" sz="2000" dirty="0"/>
          </a:p>
        </p:txBody>
      </p:sp>
      <p:sp>
        <p:nvSpPr>
          <p:cNvPr id="3" name="Text 1"/>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4" name="Text 2"/>
          <p:cNvSpPr/>
          <p:nvPr/>
        </p:nvSpPr>
        <p:spPr>
          <a:xfrm>
            <a:off x="457200" y="1645920"/>
            <a:ext cx="8457971" cy="4023360"/>
          </a:xfrm>
          <a:prstGeom prst="rect">
            <a:avLst/>
          </a:prstGeom>
          <a:noFill/>
          <a:ln/>
        </p:spPr>
        <p:txBody>
          <a:bodyPr wrap="square" lIns="0" tIns="0" rIns="0" bIns="0" rtlCol="0" anchor="t"/>
          <a:lstStyle/>
          <a:p>
            <a:pPr indent="0" marL="0">
              <a:buNone/>
            </a:pPr>
            <a:r>
              <a:rPr lang="en-US" sz="1000" dirty="0">
                <a:solidFill>
                  <a:srgbClr val="5B7089"/>
                </a:solidFill>
                <a:latin typeface="Arial" pitchFamily="34" charset="0"/>
                <a:ea typeface="Arial" pitchFamily="34" charset="-122"/>
                <a:cs typeface="Arial" pitchFamily="34" charset="-120"/>
              </a:rPr>
              <a:t>These materials were prepared for the Special Committee's use in evaluating the proposal. They rely on public information and on projections prepared by management, which we have not verified independently. They are preliminary, are not a fairness opinion, and are not a recommendation to any shareholder. The company and figures are fictional.</a:t>
            </a:r>
            <a:endParaRPr lang="en-US" sz="1000" dirty="0"/>
          </a:p>
        </p:txBody>
      </p:sp>
      <p:sp>
        <p:nvSpPr>
          <p:cNvPr id="5"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endParaRPr lang="en-US" sz="850" dirty="0"/>
          </a:p>
        </p:txBody>
      </p:sp>
      <p:sp>
        <p:nvSpPr>
          <p:cNvPr id="6"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7"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b="1" dirty="0">
                <a:solidFill>
                  <a:srgbClr val="0B2545"/>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The $27.00 offer is a 26.2% premium to the unaffected price and 12.5x LTM EBITDA</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 except per-share values)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Company capitalization table; management projections (June 2026); daily closing prices, calendar 2025</a:t>
            </a:r>
            <a:endParaRPr lang="en-US" sz="750" dirty="0"/>
          </a:p>
        </p:txBody>
      </p:sp>
      <p:sp>
        <p:nvSpPr>
          <p:cNvPr id="6" name="Text 4"/>
          <p:cNvSpPr/>
          <p:nvPr/>
        </p:nvSpPr>
        <p:spPr>
          <a:xfrm>
            <a:off x="457200" y="5943600"/>
            <a:ext cx="10454335" cy="41148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(1) Data note: the share price history covers calendar 2025 only, so the 2025 high is shown and labelled as such rather than a 52-week high to the 15 May 2026 unaffected date.</a:t>
            </a:r>
            <a:endParaRPr lang="en-US" sz="750" dirty="0"/>
          </a:p>
          <a:p>
            <a:pPr indent="0" marL="0">
              <a:buNone/>
            </a:pPr>
            <a:r>
              <a:rPr lang="en-US" sz="750" dirty="0">
                <a:solidFill>
                  <a:srgbClr val="5B7089"/>
                </a:solidFill>
                <a:latin typeface="Arial" pitchFamily="34" charset="0"/>
                <a:ea typeface="Arial" pitchFamily="34" charset="-122"/>
                <a:cs typeface="Arial" pitchFamily="34" charset="-120"/>
              </a:rPr>
              <a:t>(2) Data note: the capitalization table shows 114.0M diluted shares; management directs 112.6M (treasury method at the offer) for per-share values.</a:t>
            </a:r>
            <a:endParaRPr lang="en-US" sz="750" dirty="0"/>
          </a:p>
        </p:txBody>
      </p:sp>
      <p:sp>
        <p:nvSpPr>
          <p:cNvPr id="7" name="Text 5"/>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4754880"/>
                <a:gridCol w="2011680"/>
                <a:gridCol w="4480560"/>
              </a:tblGrid>
              <a:tr h="378229">
                <a:tc>
                  <a:txBody>
                    <a:bodyPr/>
                    <a:lstStyle/>
                    <a:p>
                      <a:pPr algn="l" indent="0" marL="0">
                        <a:buNone/>
                      </a:pPr>
                      <a:r>
                        <a:rPr lang="en-US" sz="1000" b="1" dirty="0">
                          <a:solidFill>
                            <a:srgbClr val="5B7089"/>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000" b="1" dirty="0">
                          <a:solidFill>
                            <a:srgbClr val="5B7089"/>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000" b="1" dirty="0">
                          <a:solidFill>
                            <a:srgbClr val="5B7089"/>
                          </a:solidFill>
                          <a:latin typeface="Arial" pitchFamily="34" charset="0"/>
                          <a:ea typeface="Arial" pitchFamily="34" charset="-122"/>
                          <a:cs typeface="Arial" pitchFamily="34" charset="-120"/>
                        </a:rPr>
                        <a:t>Basis</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378229">
                <a:tc>
                  <a:txBody>
                    <a:bodyPr/>
                    <a:lstStyle/>
                    <a:p>
                      <a:pPr algn="l" indent="0" marL="0">
                        <a:buNone/>
                      </a:pPr>
                      <a:r>
                        <a:rPr lang="en-US" sz="1000" b="1" dirty="0">
                          <a:solidFill>
                            <a:srgbClr val="111827"/>
                          </a:solidFill>
                          <a:latin typeface="Arial" pitchFamily="34" charset="0"/>
                          <a:ea typeface="Arial" pitchFamily="34" charset="-122"/>
                          <a:cs typeface="Arial" pitchFamily="34" charset="-120"/>
                        </a:rPr>
                        <a:t>Offer price per share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000" b="1" dirty="0">
                          <a:solidFill>
                            <a:srgbClr val="111827"/>
                          </a:solidFill>
                          <a:latin typeface="Arial" pitchFamily="34" charset="0"/>
                          <a:ea typeface="Arial" pitchFamily="34" charset="-122"/>
                          <a:cs typeface="Arial" pitchFamily="34" charset="-120"/>
                        </a:rPr>
                        <a:t>$27.00</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l" indent="0" marL="0">
                        <a:buNone/>
                      </a:pPr>
                      <a:r>
                        <a:rPr lang="en-US" sz="1000" b="1" dirty="0">
                          <a:solidFill>
                            <a:srgbClr val="111827"/>
                          </a:solidFill>
                          <a:latin typeface="Arial" pitchFamily="34" charset="0"/>
                          <a:ea typeface="Arial" pitchFamily="34" charset="-122"/>
                          <a:cs typeface="Arial" pitchFamily="34" charset="-120"/>
                        </a:rPr>
                        <a:t>Sponsor proposal</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Unaffected share price (15 May 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$21.40</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Capitalization table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Premium to unaffected price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26.2%</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Offer / unaffected − 1</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Premium to 2025 high close (1)</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24.5%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High close $21.68</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Diluted shares (2)</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112.6M</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Treasury method at the offer (management)</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Implied equity value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$3,040</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Offer × diluted shares</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Net debt</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$845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Capitalization table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Implied enterprise value</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$3,885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Equity value + net debt</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EV / LTM EBITDA ($310M)</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12.5x</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EV / LTM EBITDA</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378229">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EV / FY26E EBITDA ($332M)</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000" dirty="0">
                          <a:solidFill>
                            <a:srgbClr val="111827"/>
                          </a:solidFill>
                          <a:latin typeface="Arial" pitchFamily="34" charset="0"/>
                          <a:ea typeface="Arial" pitchFamily="34" charset="-122"/>
                          <a:cs typeface="Arial" pitchFamily="34" charset="-120"/>
                        </a:rPr>
                        <a:t>11.7x</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000" dirty="0">
                          <a:solidFill>
                            <a:srgbClr val="111827"/>
                          </a:solidFill>
                          <a:latin typeface="Arial" pitchFamily="34" charset="0"/>
                          <a:ea typeface="Arial" pitchFamily="34" charset="-122"/>
                          <a:cs typeface="Arial" pitchFamily="34" charset="-120"/>
                        </a:rPr>
                        <a:t>EV / FY26E EBITDA</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bl>
          </a:graphicData>
        </a:graphic>
      </p:graphicFrame>
      <p:sp>
        <p:nvSpPr>
          <p:cNvPr id="9"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b="1" dirty="0">
                <a:solidFill>
                  <a:srgbClr val="0B2545"/>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The $27.00 offer sits above 4 of 5 valuation ranges and inside the other 1</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(Implied value per share, $) (1)</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Management projections (June 2026); peer company filings; precedent transaction announcements; daily closing prices, calendar 2025</a:t>
            </a:r>
            <a:endParaRPr lang="en-US" sz="750" dirty="0"/>
          </a:p>
        </p:txBody>
      </p:sp>
      <p:sp>
        <p:nvSpPr>
          <p:cNvPr id="6" name="Text 4"/>
          <p:cNvSpPr/>
          <p:nvPr/>
        </p:nvSpPr>
        <p:spPr>
          <a:xfrm>
            <a:off x="457200" y="5943600"/>
            <a:ext cx="10454335" cy="41148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(1) Per-share values use 112.6M diluted shares and $845M net debt. Comps ranges drop the lowest and highest multiple. DCF discounts FY26E–FY30E unlevered FCF to the start of FY26 (end-year convention; no stub-period adjustment for the May 2026 valuation date).</a:t>
            </a:r>
            <a:endParaRPr lang="en-US" sz="750" dirty="0"/>
          </a:p>
        </p:txBody>
      </p:sp>
      <p:sp>
        <p:nvSpPr>
          <p:cNvPr id="7" name="Text 5"/>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8" name="Chart 0" descr="The $27.00 offer sits above 4 of 5 valuation ranges and inside the other 1"/>
          <p:cNvGraphicFramePr/>
          <p:nvPr/>
        </p:nvGraphicFramePr>
        <p:xfrm>
          <a:off x="457200" y="1965960"/>
          <a:ext cx="11277295"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199139" y="4969032"/>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$19.60</a:t>
            </a:r>
            <a:endParaRPr lang="en-US" sz="1000" dirty="0"/>
          </a:p>
        </p:txBody>
      </p:sp>
      <p:sp>
        <p:nvSpPr>
          <p:cNvPr id="10" name="Text 7"/>
          <p:cNvSpPr/>
          <p:nvPr/>
        </p:nvSpPr>
        <p:spPr>
          <a:xfrm>
            <a:off x="9765729" y="4969032"/>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$29.41</a:t>
            </a:r>
            <a:endParaRPr lang="en-US" sz="1000" dirty="0"/>
          </a:p>
        </p:txBody>
      </p:sp>
      <p:sp>
        <p:nvSpPr>
          <p:cNvPr id="11" name="Text 8"/>
          <p:cNvSpPr/>
          <p:nvPr/>
        </p:nvSpPr>
        <p:spPr>
          <a:xfrm>
            <a:off x="5625801" y="4292742"/>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$17.55</a:t>
            </a:r>
            <a:endParaRPr lang="en-US" sz="1000" dirty="0"/>
          </a:p>
        </p:txBody>
      </p:sp>
      <p:sp>
        <p:nvSpPr>
          <p:cNvPr id="12" name="Text 9"/>
          <p:cNvSpPr/>
          <p:nvPr/>
        </p:nvSpPr>
        <p:spPr>
          <a:xfrm>
            <a:off x="9119140" y="4292742"/>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$26.08</a:t>
            </a:r>
            <a:endParaRPr lang="en-US" sz="1000" dirty="0"/>
          </a:p>
        </p:txBody>
      </p:sp>
      <p:sp>
        <p:nvSpPr>
          <p:cNvPr id="13" name="Text 10"/>
          <p:cNvSpPr/>
          <p:nvPr/>
        </p:nvSpPr>
        <p:spPr>
          <a:xfrm>
            <a:off x="5715298" y="3616452"/>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$17.87</a:t>
            </a:r>
            <a:endParaRPr lang="en-US" sz="1000" dirty="0"/>
          </a:p>
        </p:txBody>
      </p:sp>
      <p:sp>
        <p:nvSpPr>
          <p:cNvPr id="14" name="Text 11"/>
          <p:cNvSpPr/>
          <p:nvPr/>
        </p:nvSpPr>
        <p:spPr>
          <a:xfrm>
            <a:off x="7552949" y="3616452"/>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$20.16</a:t>
            </a:r>
            <a:endParaRPr lang="en-US" sz="1000" dirty="0"/>
          </a:p>
        </p:txBody>
      </p:sp>
      <p:sp>
        <p:nvSpPr>
          <p:cNvPr id="15" name="Text 12"/>
          <p:cNvSpPr/>
          <p:nvPr/>
        </p:nvSpPr>
        <p:spPr>
          <a:xfrm>
            <a:off x="5813185" y="2940162"/>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$18.22</a:t>
            </a:r>
            <a:endParaRPr lang="en-US" sz="1000" dirty="0"/>
          </a:p>
        </p:txBody>
      </p:sp>
      <p:sp>
        <p:nvSpPr>
          <p:cNvPr id="16" name="Text 13"/>
          <p:cNvSpPr/>
          <p:nvPr/>
        </p:nvSpPr>
        <p:spPr>
          <a:xfrm>
            <a:off x="7552949" y="2940162"/>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$20.61</a:t>
            </a:r>
            <a:endParaRPr lang="en-US" sz="1000" dirty="0"/>
          </a:p>
        </p:txBody>
      </p:sp>
      <p:sp>
        <p:nvSpPr>
          <p:cNvPr id="17" name="Text 14"/>
          <p:cNvSpPr/>
          <p:nvPr/>
        </p:nvSpPr>
        <p:spPr>
          <a:xfrm>
            <a:off x="5376889" y="2263872"/>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$16.66</a:t>
            </a:r>
            <a:endParaRPr lang="en-US" sz="1000" dirty="0"/>
          </a:p>
        </p:txBody>
      </p:sp>
      <p:sp>
        <p:nvSpPr>
          <p:cNvPr id="18" name="Text 15"/>
          <p:cNvSpPr/>
          <p:nvPr/>
        </p:nvSpPr>
        <p:spPr>
          <a:xfrm>
            <a:off x="7603827" y="2263872"/>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$21.68</a:t>
            </a:r>
            <a:endParaRPr lang="en-US" sz="1000" dirty="0"/>
          </a:p>
        </p:txBody>
      </p:sp>
      <p:sp>
        <p:nvSpPr>
          <p:cNvPr id="19" name="Shape 16"/>
          <p:cNvSpPr/>
          <p:nvPr/>
        </p:nvSpPr>
        <p:spPr>
          <a:xfrm>
            <a:off x="9045988" y="1984248"/>
            <a:ext cx="0" cy="3381451"/>
          </a:xfrm>
          <a:prstGeom prst="line">
            <a:avLst/>
          </a:prstGeom>
          <a:noFill/>
          <a:ln w="22225">
            <a:solidFill>
              <a:srgbClr val="8A6A00"/>
            </a:solidFill>
            <a:prstDash val="dash"/>
          </a:ln>
        </p:spPr>
      </p:sp>
      <p:sp>
        <p:nvSpPr>
          <p:cNvPr id="20" name="Text 17"/>
          <p:cNvSpPr/>
          <p:nvPr/>
        </p:nvSpPr>
        <p:spPr>
          <a:xfrm>
            <a:off x="8040148" y="1627632"/>
            <a:ext cx="2011680" cy="274320"/>
          </a:xfrm>
          <a:prstGeom prst="rect">
            <a:avLst/>
          </a:prstGeom>
          <a:noFill/>
          <a:ln/>
        </p:spPr>
        <p:txBody>
          <a:bodyPr wrap="square" lIns="0" tIns="0" rIns="0" bIns="0" rtlCol="0" anchor="t"/>
          <a:lstStyle/>
          <a:p>
            <a:pPr algn="ctr" indent="0" marL="0">
              <a:buNone/>
            </a:pPr>
            <a:r>
              <a:rPr lang="en-US" sz="1000" b="1" dirty="0">
                <a:solidFill>
                  <a:srgbClr val="8A6A00"/>
                </a:solidFill>
                <a:latin typeface="Arial" pitchFamily="34" charset="0"/>
                <a:ea typeface="Arial" pitchFamily="34" charset="-122"/>
                <a:cs typeface="Arial" pitchFamily="34" charset="-120"/>
              </a:rPr>
              <a:t>Offer $27.00</a:t>
            </a:r>
            <a:endParaRPr lang="en-US" sz="1000" dirty="0"/>
          </a:p>
        </p:txBody>
      </p:sp>
      <p:sp>
        <p:nvSpPr>
          <p:cNvPr id="21" name="Shape 18"/>
          <p:cNvSpPr/>
          <p:nvPr/>
        </p:nvSpPr>
        <p:spPr>
          <a:xfrm>
            <a:off x="7479797" y="1984248"/>
            <a:ext cx="0" cy="3381451"/>
          </a:xfrm>
          <a:prstGeom prst="line">
            <a:avLst/>
          </a:prstGeom>
          <a:noFill/>
          <a:ln w="22225">
            <a:solidFill>
              <a:srgbClr val="5B7089"/>
            </a:solidFill>
            <a:prstDash val="dash"/>
          </a:ln>
        </p:spPr>
      </p:sp>
      <p:sp>
        <p:nvSpPr>
          <p:cNvPr id="22" name="Text 19"/>
          <p:cNvSpPr/>
          <p:nvPr/>
        </p:nvSpPr>
        <p:spPr>
          <a:xfrm>
            <a:off x="6473957" y="1627632"/>
            <a:ext cx="2011680" cy="27432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Unaffected $21.40</a:t>
            </a:r>
            <a:endParaRPr lang="en-US" sz="1000" dirty="0"/>
          </a:p>
        </p:txBody>
      </p:sp>
      <p:sp>
        <p:nvSpPr>
          <p:cNvPr id="23"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The smallest premium is to the 2025 high: the $27.00 offer is 24.5% above it</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(Premium implied by the $27.00 offer, %)</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Company capitalization table; daily closing prices, calendar 2025</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Chart 0" descr="The smallest premium is to the 2025 high: the $27.00 offer is 24.5% above it"/>
          <p:cNvGraphicFramePr/>
          <p:nvPr/>
        </p:nvGraphicFramePr>
        <p:xfrm>
          <a:off x="457200" y="1645920"/>
          <a:ext cx="11277295" cy="4251960"/>
        </p:xfrm>
        <a:graphic xmlns:a="http://schemas.openxmlformats.org/drawingml/2006/main">
          <a:graphicData uri="http://schemas.openxmlformats.org/drawingml/2006/chart">
            <c:chart xmlns:c="http://schemas.openxmlformats.org/drawingml/2006/chart" r:id="rId1"/>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Trading comps: the offer values Corvane at 12.5x LTM EBITDA against a 10.0x peer median</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Peer company filings; company capitalization table; management projections (June 2026)</a:t>
            </a:r>
            <a:endParaRPr lang="en-US" sz="750" dirty="0"/>
          </a:p>
        </p:txBody>
      </p:sp>
      <p:sp>
        <p:nvSpPr>
          <p:cNvPr id="6" name="Text 4"/>
          <p:cNvSpPr/>
          <p:nvPr/>
        </p:nvSpPr>
        <p:spPr>
          <a:xfrm>
            <a:off x="457200" y="5943600"/>
            <a:ext cx="10454335" cy="41148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(1) NTM EBITDA for Corvane is management's FY26E.</a:t>
            </a:r>
            <a:endParaRPr lang="en-US" sz="750" dirty="0"/>
          </a:p>
        </p:txBody>
      </p:sp>
      <p:sp>
        <p:nvSpPr>
          <p:cNvPr id="7" name="Text 5"/>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4389120"/>
                <a:gridCol w="2286000"/>
                <a:gridCol w="2286000"/>
                <a:gridCol w="2286000"/>
              </a:tblGrid>
              <a:tr h="457200">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Company</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Enterprise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EV / LTM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EV / NTM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Aster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6,150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10.0x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Brio</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3,420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8.7x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Calder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8,800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Delta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2,480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Ember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4,010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10.0x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Median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4,010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10.0x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9.4x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Corvane at offer (1)</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3,885</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12.5x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11.7x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bl>
          </a:graphicData>
        </a:graphic>
      </p:graphicFrame>
      <p:sp>
        <p:nvSpPr>
          <p:cNvPr id="9"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Precedents: the offer's 12.5x LTM EBITDA compares with a 10.9x transaction median</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Precedent transaction announcements; company capitalization table</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1463040"/>
                <a:gridCol w="2560320"/>
                <a:gridCol w="2560320"/>
                <a:gridCol w="2286000"/>
                <a:gridCol w="2377440"/>
              </a:tblGrid>
              <a:tr h="457200">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Date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Acquirer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Enterprise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EV / LTM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Mar 2023</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Target Alpha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2,900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Jun 2024</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Target Beta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F</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5,100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11.9x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Jan 2025</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Target Gamma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G</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1,800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9.1x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Nov 2025</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Target Omega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H</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6,400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12.2x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Median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l" indent="0" marL="0">
                        <a:buNone/>
                      </a:pP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4,000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10.9x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r>
              <a:tr h="457200">
                <a:tc>
                  <a:txBody>
                    <a:bodyPr/>
                    <a:lstStyle/>
                    <a:p>
                      <a:pPr algn="l" indent="0" marL="0">
                        <a:buNone/>
                      </a:pP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Corvane at offer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l" indent="0" marL="0">
                        <a:buNone/>
                      </a:pP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3,885</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12.5x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bl>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Analyses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DCF: 2 of 15 cases reach the $27.00 offer; the base case is $23.69</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(Implied value per share, $) (1)</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Management projections (June 2026); management WACC and growth ranges</a:t>
            </a:r>
            <a:endParaRPr lang="en-US" sz="750" dirty="0"/>
          </a:p>
        </p:txBody>
      </p:sp>
      <p:sp>
        <p:nvSpPr>
          <p:cNvPr id="6" name="Text 4"/>
          <p:cNvSpPr/>
          <p:nvPr/>
        </p:nvSpPr>
        <p:spPr>
          <a:xfrm>
            <a:off x="457200" y="5943600"/>
            <a:ext cx="10454335" cy="41148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(1) Unlevered FCF FY26E–FY30E; Gordon-growth terminal value; discounted to the start of FY26 with no stub-period adjustment.</a:t>
            </a:r>
            <a:endParaRPr lang="en-US" sz="750" dirty="0"/>
          </a:p>
        </p:txBody>
      </p:sp>
      <p:sp>
        <p:nvSpPr>
          <p:cNvPr id="7" name="Text 5"/>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6991923" cy="914400"/>
        </p:xfrm>
        <a:graphic>
          <a:graphicData uri="http://schemas.openxmlformats.org/drawingml/2006/table">
            <a:tbl>
              <a:tblPr/>
              <a:tblGrid>
                <a:gridCol w="1554480"/>
                <a:gridCol w="1812481"/>
                <a:gridCol w="1812481"/>
                <a:gridCol w="1812481"/>
              </a:tblGrid>
              <a:tr h="640080">
                <a:tc>
                  <a:txBody>
                    <a:bodyPr/>
                    <a:lstStyle/>
                    <a:p>
                      <a:pPr indent="0" marL="0">
                        <a:buNone/>
                      </a:pPr>
                      <a:r>
                        <a:rPr lang="en-US" sz="1100" b="1" dirty="0">
                          <a:solidFill>
                            <a:srgbClr val="5B7089"/>
                          </a:solidFill>
                          <a:latin typeface="Arial" pitchFamily="34" charset="0"/>
                          <a:ea typeface="Arial" pitchFamily="34" charset="-122"/>
                          <a:cs typeface="Arial" pitchFamily="34" charset="-120"/>
                        </a:rPr>
                        <a:t>WACC \ TGR</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0080">
                <a:tc>
                  <a:txBody>
                    <a:bodyPr/>
                    <a:lstStyle/>
                    <a:p>
                      <a:pPr indent="0" marL="0">
                        <a:buNone/>
                      </a:pPr>
                      <a:r>
                        <a:rPr lang="en-US" sz="1100" b="1" dirty="0">
                          <a:solidFill>
                            <a:srgbClr val="111827"/>
                          </a:solidFill>
                          <a:latin typeface="Arial" pitchFamily="34" charset="0"/>
                          <a:ea typeface="Arial" pitchFamily="34" charset="-122"/>
                          <a:cs typeface="Arial" pitchFamily="34" charset="-120"/>
                        </a:rPr>
                        <a:t>8.00%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$24.23</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$26.59</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$29.41</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EDC"/>
                    </a:solidFill>
                  </a:tcPr>
                </a:tc>
              </a:tr>
              <a:tr h="640080">
                <a:tc>
                  <a:txBody>
                    <a:bodyPr/>
                    <a:lstStyle/>
                    <a:p>
                      <a:pPr indent="0" marL="0">
                        <a:buNone/>
                      </a:pPr>
                      <a:r>
                        <a:rPr lang="en-US" sz="1100" b="1" dirty="0">
                          <a:solidFill>
                            <a:srgbClr val="111827"/>
                          </a:solidFill>
                          <a:latin typeface="Arial" pitchFamily="34" charset="0"/>
                          <a:ea typeface="Arial" pitchFamily="34" charset="-122"/>
                          <a:cs typeface="Arial" pitchFamily="34" charset="-120"/>
                        </a:rPr>
                        <a:t>8.25%</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$22.94</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$25.08</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$27.63</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EDC"/>
                    </a:solidFill>
                  </a:tcPr>
                </a:tc>
              </a:tr>
              <a:tr h="640080">
                <a:tc>
                  <a:txBody>
                    <a:bodyPr/>
                    <a:lstStyle/>
                    <a:p>
                      <a:pPr indent="0" marL="0">
                        <a:buNone/>
                      </a:pPr>
                      <a:r>
                        <a:rPr lang="en-US" sz="1100" b="1" dirty="0">
                          <a:solidFill>
                            <a:srgbClr val="111827"/>
                          </a:solidFill>
                          <a:latin typeface="Arial" pitchFamily="34" charset="0"/>
                          <a:ea typeface="Arial" pitchFamily="34" charset="-122"/>
                          <a:cs typeface="Arial" pitchFamily="34" charset="-120"/>
                        </a:rPr>
                        <a:t>8.50%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$21.74</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$23.69</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$26.00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r>
              <a:tr h="640080">
                <a:tc>
                  <a:txBody>
                    <a:bodyPr/>
                    <a:lstStyle/>
                    <a:p>
                      <a:pPr indent="0" marL="0">
                        <a:buNone/>
                      </a:pPr>
                      <a:r>
                        <a:rPr lang="en-US" sz="1100" b="1" dirty="0">
                          <a:solidFill>
                            <a:srgbClr val="111827"/>
                          </a:solidFill>
                          <a:latin typeface="Arial" pitchFamily="34" charset="0"/>
                          <a:ea typeface="Arial" pitchFamily="34" charset="-122"/>
                          <a:cs typeface="Arial" pitchFamily="34" charset="-120"/>
                        </a:rPr>
                        <a:t>8.75%</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$20.63</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$22.42</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$24.52</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r>
              <a:tr h="640080">
                <a:tc>
                  <a:txBody>
                    <a:bodyPr/>
                    <a:lstStyle/>
                    <a:p>
                      <a:pPr indent="0" marL="0">
                        <a:buNone/>
                      </a:pPr>
                      <a:r>
                        <a:rPr lang="en-US" sz="1100" b="1" dirty="0">
                          <a:solidFill>
                            <a:srgbClr val="111827"/>
                          </a:solidFill>
                          <a:latin typeface="Arial" pitchFamily="34" charset="0"/>
                          <a:ea typeface="Arial" pitchFamily="34" charset="-122"/>
                          <a:cs typeface="Arial" pitchFamily="34" charset="-120"/>
                        </a:rPr>
                        <a:t>9.00%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$19.60</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$21.24</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$23.16</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1F6"/>
                    </a:solidFill>
                  </a:tcPr>
                </a:tc>
              </a:tr>
            </a:tbl>
          </a:graphicData>
        </a:graphic>
      </p:graphicFrame>
      <p:sp>
        <p:nvSpPr>
          <p:cNvPr id="9" name="Shape 6"/>
          <p:cNvSpPr/>
          <p:nvPr/>
        </p:nvSpPr>
        <p:spPr>
          <a:xfrm>
            <a:off x="3824161" y="3657600"/>
            <a:ext cx="1812481" cy="640080"/>
          </a:xfrm>
          <a:prstGeom prst="rect">
            <a:avLst/>
          </a:prstGeom>
          <a:ln w="25400">
            <a:solidFill>
              <a:srgbClr val="8A6A00"/>
            </a:solidFill>
            <a:prstDash val="solid"/>
          </a:ln>
        </p:spPr>
      </p:sp>
      <p:sp>
        <p:nvSpPr>
          <p:cNvPr id="10" name="Text 7"/>
          <p:cNvSpPr/>
          <p:nvPr/>
        </p:nvSpPr>
        <p:spPr>
          <a:xfrm>
            <a:off x="7906323" y="1920240"/>
            <a:ext cx="3828172" cy="3977640"/>
          </a:xfrm>
          <a:prstGeom prst="rect">
            <a:avLst/>
          </a:prstGeom>
          <a:noFill/>
          <a:ln/>
        </p:spPr>
        <p:txBody>
          <a:bodyPr wrap="square" lIns="0" tIns="0" rIns="0" bIns="0" rtlCol="0" anchor="t"/>
          <a:lstStyle/>
          <a:p>
            <a:pPr indent="0" marL="0">
              <a:buNone/>
            </a:pPr>
            <a:r>
              <a:rPr lang="en-US" sz="1100" b="1" dirty="0">
                <a:solidFill>
                  <a:srgbClr val="0B2545"/>
                </a:solidFill>
                <a:latin typeface="Arial" pitchFamily="34" charset="0"/>
                <a:ea typeface="Arial" pitchFamily="34" charset="-122"/>
                <a:cs typeface="Arial" pitchFamily="34" charset="-120"/>
              </a:rPr>
              <a:t>Base case. </a:t>
            </a:r>
            <a:pPr indent="0" marL="0">
              <a:spcAft>
                <a:spcPts val="1000"/>
              </a:spcAft>
              <a:buNone/>
            </a:pPr>
            <a:r>
              <a:rPr lang="en-US" sz="1100" dirty="0">
                <a:solidFill>
                  <a:srgbClr val="111827"/>
                </a:solidFill>
                <a:latin typeface="Arial" pitchFamily="34" charset="0"/>
                <a:ea typeface="Arial" pitchFamily="34" charset="-122"/>
                <a:cs typeface="Arial" pitchFamily="34" charset="-120"/>
              </a:rPr>
              <a:t>$23.69 at 8.5% WACC and 2.5% growth.</a:t>
            </a:r>
            <a:endParaRPr lang="en-US" sz="1100" dirty="0"/>
          </a:p>
          <a:p>
            <a:pPr indent="0" marL="0">
              <a:buNone/>
            </a:pPr>
            <a:r>
              <a:rPr lang="en-US" sz="1100" b="1" dirty="0">
                <a:solidFill>
                  <a:srgbClr val="0B2545"/>
                </a:solidFill>
                <a:latin typeface="Arial" pitchFamily="34" charset="0"/>
                <a:ea typeface="Arial" pitchFamily="34" charset="-122"/>
                <a:cs typeface="Arial" pitchFamily="34" charset="-120"/>
              </a:rPr>
              <a:t>Against the offer. </a:t>
            </a:r>
            <a:pPr indent="0" marL="0">
              <a:spcAft>
                <a:spcPts val="1000"/>
              </a:spcAft>
              <a:buNone/>
            </a:pPr>
            <a:r>
              <a:rPr lang="en-US" sz="1100" dirty="0">
                <a:solidFill>
                  <a:srgbClr val="111827"/>
                </a:solidFill>
                <a:latin typeface="Arial" pitchFamily="34" charset="0"/>
                <a:ea typeface="Arial" pitchFamily="34" charset="-122"/>
                <a:cs typeface="Arial" pitchFamily="34" charset="-120"/>
              </a:rPr>
              <a:t>2 of 15 cases reach $27.00.</a:t>
            </a:r>
            <a:endParaRPr lang="en-US" sz="1100" dirty="0"/>
          </a:p>
        </p:txBody>
      </p:sp>
      <p:sp>
        <p:nvSpPr>
          <p:cNvPr id="11"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Cobalt — discussion materials for the Special Committee</dc:title>
  <dc:subject>PptxGenJS Presentation</dc:subject>
  <dc:creator>Advisor team</dc:creator>
  <cp:lastModifiedBy>Advisor team</cp:lastModifiedBy>
  <cp:revision>1</cp:revision>
  <dcterms:created xsi:type="dcterms:W3CDTF">2026-09-23T21:02:31Z</dcterms:created>
  <dcterms:modified xsi:type="dcterms:W3CDTF">2026-09-23T21:02:31Z</dcterms:modified>
</cp:coreProperties>
</file>