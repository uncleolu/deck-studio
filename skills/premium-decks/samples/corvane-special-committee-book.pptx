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4"/>
          <c:y val="0.02"/>
          <c:w val="0.62"/>
          <c:h val="0.86"/>
        </c:manualLayout>
      </c:layout>
      <c:barChart>
        <c:barDir val="bar"/>
        <c:grouping val="stacked"/>
        <c:varyColors val="0"/>
        <c:ser>
          <c:idx val="0"/>
          <c:order val="0"/>
          <c:tx>
            <c:strRef>
              <c:f>Sheet1!$B$1</c:f>
              <c:strCache>
                <c:ptCount val="1"/>
                <c:pt idx="0">
                  <c:v>low</c:v>
                </c:pt>
              </c:strCache>
            </c:strRef>
          </c:tx>
          <c:spPr>
            <a:solidFill>
              <a:srgbClr val="FFFF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DCF (WACC 8.0%–9.0%, TGR 2.0%–3.0%)</c:v>
                  </c:pt>
                  <c:pt idx="1">
                    <c:v>Precedent transactions (9.1x–12.2x LTM EBITDA)</c:v>
                  </c:pt>
                  <c:pt idx="2">
                    <c:v>Trading comps (9.2x–10.0x LTM EBITDA)</c:v>
                  </c:pt>
                  <c:pt idx="3">
                    <c:v>Trading comps (8.7x–9.5x FY26E EBITDA)</c:v>
                  </c:pt>
                  <c:pt idx="4">
                    <c:v>2025 trading range</c:v>
                  </c:pt>
                </c:lvl>
              </c:multiLvlStrCache>
            </c:multiLvlStrRef>
          </c:cat>
          <c:val>
            <c:numRef>
              <c:f>Sheet1!$B$2:$B$6</c:f>
              <c:numCache>
                <c:formatCode>General</c:formatCode>
                <c:ptCount val="5"/>
                <c:pt idx="0">
                  <c:v>19.6</c:v>
                </c:pt>
                <c:pt idx="1">
                  <c:v>17.55</c:v>
                </c:pt>
                <c:pt idx="2">
                  <c:v>17.87</c:v>
                </c:pt>
                <c:pt idx="3">
                  <c:v>18.22</c:v>
                </c:pt>
                <c:pt idx="4">
                  <c:v>16.66</c:v>
                </c:pt>
              </c:numCache>
            </c:numRef>
          </c:val>
        </c:ser>
        <c:ser>
          <c:idx val="1"/>
          <c:order val="1"/>
          <c:tx>
            <c:strRef>
              <c:f>Sheet1!$C$1</c:f>
              <c:strCache>
                <c:ptCount val="1"/>
                <c:pt idx="0">
                  <c:v>range</c:v>
                </c:pt>
              </c:strCache>
            </c:strRef>
          </c:tx>
          <c:spPr>
            <a:solidFill>
              <a:srgbClr val="9AA8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DCF (WACC 8.0%–9.0%, TGR 2.0%–3.0%)</c:v>
                  </c:pt>
                  <c:pt idx="1">
                    <c:v>Precedent transactions (9.1x–12.2x LTM EBITDA)</c:v>
                  </c:pt>
                  <c:pt idx="2">
                    <c:v>Trading comps (9.2x–10.0x LTM EBITDA)</c:v>
                  </c:pt>
                  <c:pt idx="3">
                    <c:v>Trading comps (8.7x–9.5x FY26E EBITDA)</c:v>
                  </c:pt>
                  <c:pt idx="4">
                    <c:v>2025 trading range</c:v>
                  </c:pt>
                </c:lvl>
              </c:multiLvlStrCache>
            </c:multiLvlStrRef>
          </c:cat>
          <c:val>
            <c:numRef>
              <c:f>Sheet1!$C$2:$C$6</c:f>
              <c:numCache>
                <c:formatCode>General</c:formatCode>
                <c:ptCount val="5"/>
                <c:pt idx="0">
                  <c:v>9.809999999999999</c:v>
                </c:pt>
                <c:pt idx="1">
                  <c:v>8.529999999999998</c:v>
                </c:pt>
                <c:pt idx="2">
                  <c:v>2.289999999999999</c:v>
                </c:pt>
                <c:pt idx="3">
                  <c:v>2.3900000000000006</c:v>
                </c:pt>
                <c:pt idx="4">
                  <c:v>5.02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35"/>
          <c:min val="10"/>
        </c:scaling>
        <c:delete val="0"/>
        <c:axPos val="b"/>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7089"/>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Premium implied by the offer</c:v>
                </c:pt>
              </c:strCache>
            </c:strRef>
          </c:tx>
          <c:spPr>
            <a:solidFill>
              <a:srgbClr val="0B2545"/>
            </a:solidFill>
            <a:effectLst/>
          </c:spPr>
          <c:invertIfNegative val="0"/>
          <c:dLbls>
            <c:numFmt formatCode="0.0&quot;%&quot;" sourceLinked="0"/>
            <c:txPr>
              <a:bodyPr/>
              <a:lstStyle/>
              <a:p>
                <a:pPr>
                  <a:defRPr b="0" i="0" strike="noStrike" sz="1000" u="none">
                    <a:solidFill>
                      <a:srgbClr val="111827"/>
                    </a:solidFill>
                    <a:latin typeface="Arial"/>
                  </a:defRPr>
                </a:pPr>
              </a:p>
            </c:txPr>
            <c:showLegendKey val="0"/>
            <c:showVal val="1"/>
            <c:showCatName val="0"/>
            <c:showSerName val="0"/>
            <c:showPercent val="0"/>
            <c:showBubbleSize val="0"/>
            <c:showLeaderLines val="0"/>
          </c:dLbls>
          <c:dPt>
            <c:idx val="0"/>
            <c:invertIfNegative val="0"/>
            <c:bubble3D val="0"/>
            <c:spPr>
              <a:solidFill>
                <a:srgbClr val="0B2545"/>
              </a:solidFill>
              <a:effectLst/>
            </c:spPr>
          </c:dPt>
          <c:dPt>
            <c:idx val="1"/>
            <c:invertIfNegative val="0"/>
            <c:bubble3D val="0"/>
            <c:spPr>
              <a:solidFill>
                <a:srgbClr val="8A6A00"/>
              </a:solidFill>
              <a:effectLst/>
            </c:spPr>
          </c:dPt>
          <c:dPt>
            <c:idx val="2"/>
            <c:invertIfNegative val="0"/>
            <c:bubble3D val="0"/>
            <c:spPr>
              <a:solidFill>
                <a:srgbClr val="0B2545"/>
              </a:solidFill>
              <a:effectLst/>
            </c:spPr>
          </c:dPt>
          <c:dPt>
            <c:idx val="3"/>
            <c:invertIfNegative val="0"/>
            <c:bubble3D val="0"/>
            <c:spPr>
              <a:solidFill>
                <a:srgbClr val="0B2545"/>
              </a:solidFill>
              <a:effectLst/>
            </c:spPr>
          </c:dPt>
          <c:cat>
            <c:multiLvlStrRef>
              <c:f>Sheet1!$A$2:$A$5</c:f>
              <c:multiLvlStrCache>
                <c:ptCount val="4"/>
                <c:lvl>
                  <c:pt idx="0">
                    <c:v>Unaffected (15 May 2026)</c:v>
                  </c:pt>
                  <c:pt idx="1">
                    <c:v>2025 high</c:v>
                  </c:pt>
                  <c:pt idx="2">
                    <c:v>2025 average</c:v>
                  </c:pt>
                  <c:pt idx="3">
                    <c:v>2025 low</c:v>
                  </c:pt>
                </c:lvl>
              </c:multiLvlStrCache>
            </c:multiLvlStrRef>
          </c:cat>
          <c:val>
            <c:numRef>
              <c:f>Sheet1!$B$2:$B$5</c:f>
              <c:numCache>
                <c:formatCode>General</c:formatCode>
                <c:ptCount val="4"/>
                <c:pt idx="0">
                  <c:v>26.2</c:v>
                </c:pt>
                <c:pt idx="1">
                  <c:v>24.5</c:v>
                </c:pt>
                <c:pt idx="2">
                  <c:v>39.6</c:v>
                </c:pt>
                <c:pt idx="3">
                  <c:v>62.1</c:v>
                </c:pt>
              </c:numCache>
            </c:numRef>
          </c:val>
        </c:ser>
        <c:dLbls>
          <c:numFmt formatCode="0.0&quot;%&quot;" sourceLinked="0"/>
          <c:txPr>
            <a:bodyPr/>
            <a:lstStyle/>
            <a:p>
              <a:pPr>
                <a:defRPr b="0" i="0" strike="noStrike" sz="1000" u="none">
                  <a:solidFill>
                    <a:srgbClr val="11182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11827"/>
                </a:solidFill>
                <a:latin typeface="Arial"/>
              </a:defRPr>
            </a:pPr>
            <a:endParaRPr lang="en-US"/>
          </a:p>
        </c:txPr>
        <c:crossAx val="2094734552"/>
        <c:crosses val="autoZero"/>
        <c:auto val="1"/>
        <c:lblAlgn val="ctr"/>
        <c:noMultiLvlLbl val="1"/>
        <c:tickLblSkip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708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Fictional company and data. Built from samples/source/corvane-instruments/input via scripts/ingest.py. Data decision: diluted shares appear as 114.0M [F0005] and 112.6M [F0027]; per-share values use 112.6M, as management directs.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Disclaimer written for this sample; never copy a bank's legal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[F0004]; unaffected [F0003]; shares [F0027, F0005]; net debt [F0006]; LTM EBITDA [F0007]; FY26E EBITDA [F0013]; 52-week high [F0087]. calc: 26.2% = 27.0 / 21.4 - 1 [F0004, F0003]. calc: 24.5% = 27.0 / 21.68 - 1 [F0087]. calc: $3,040 = 27.0 x 112.6 [F0004]. calc: $3,885 = 3,040 + 845 [F0006]. calc: 12.5x = 3,885 / 310 [F0007]. calc: 11.7x = 3,885 / 332 [F0013].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52-week range $16.66 [F0036] to $21.68 [F0087]. calc: NTM comps low $18.22 = (3,420 / 392 x 332 - 845) / 112.6; high $20.61 = (6,150 / 645 x 332 - 845) / 112.6 [F0013, F0006, F0027, F0088-F0102]. calc: LTM comps low $17.87 = (3,420 / 371 x 310 - 845) / 112.6; high $20.16 = (6,150 / 612 x 310 - 845) / 112.6 [F0007, F0088-F0102]. calc: precedents low $17.55 = (9.1 x 310 - 845) / 112.6; high $26.08 = (12.2 x 310 - 845) / 112.6 [F0028-F0035]. calc: DCF $19.60 to $29.41 from the sensitivity grid [F0018, F0019, F0020, F0021, F0022, F0023, F0024, F0025, F0026]. Offer [F0004]; unaffected [F0003]. calc: 4 of 5 ranges end below $27.00 [F0004].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[F0004]; unaffected [F0003]; 2025 high [F0087]; 2025 low [F0036]; closes [F0036-F0087]. calc: 26.2% = 27.0 / 21.4 - 1 [F0004, F0003]. calc: 24.5% = 27.0 / 21.68 - 1 [F0004, F0087]. calc: 39.6% = 27.0 / AVERAGE(F0036:F0087) - 1 (the mean of the weekly closes) [F0004, F0036-F0087]. calc: 62.1% = 27.0 / 16.66 - 1 [F0004, F0036].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 Peer Aster 10.0x = 6,150 / 612 and 9.5x = 6,150 / 645 [F0088, F0089, F0090]. calc: Peer Brio 9.2x = 3,420 / 371 and 8.7x = 3,420 / 392 [F0091, F0092, F0093]. calc: Peer Calder 10.8x = 8,800 / 812 and 10.2x = 8,800 / 861 [F0094, F0095, F0096]. calc: Peer Delta 8.8x = 2,480 / 283 and 8.4x = 2,480 / 297 [F0097, F0098, F0099]. calc: Peer Ember 10.0x = 4,010 / 402 and 9.4x = 4,010 / 428 [F0100, F0101, F0102]. calc: median EV 4,010 = MEDIAN(6150, 3420, 8800, 2480, 4010); LTM 10.0x = MEDIAN(8.8, 9.2, 10.0, 10.0, 10.8); NTM 9.4x = MEDIAN(8.4, 8.7, 9.4, 9.5, 10.2) [F0088-F0102]. calc: Corvane 3,885, 12.5x, 11.7x [F0004, F0027, F0006, F0007, F0013].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Transactions [F0028-F0035]. calc: median EV 4,000 = MEDIAN(F0028, F0030, F0032, F0034); multiple 10.9x = MEDIAN(F0029, F0031, F0033, F0035) [F0028-F0035]. calc: Corvane 3,885 and 12.5x [F0004, F0027, F0006, F0007].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 $24.23 at WACC 8.00%, TGR 2.0% [F0018, F0019, F0020, F0021, F0022, F0006, F0027]. calc: $26.59 at WACC 8.00%, TGR 2.5% [F0018, F0019, F0020, F0021, F0022, F0006, F0027]. calc: $29.41 at WACC 8.00%, TGR 3.0% [F0018, F0019, F0020, F0021, F0022, F0006, F0027]. calc: $22.94 at WACC 8.25%, TGR 2.0% [F0018, F0019, F0020, F0021, F0022, F0006, F0027]. calc: $25.08 at WACC 8.25%, TGR 2.5% [F0018, F0019, F0020, F0021, F0022, F0006, F0027]. calc: $27.63 at WACC 8.25%, TGR 3.0% [F0018, F0019, F0020, F0021, F0022, F0006, F0027]. calc: $21.74 at WACC 8.50%, TGR 2.0% [F0018, F0019, F0020, F0021, F0022, F0006, F0027]. calc: $23.69 at WACC 8.50%, TGR 2.5% [F0018, F0019, F0020, F0021, F0022, F0006, F0027]. calc: $26.00 at WACC 8.50%, TGR 3.0% [F0018, F0019, F0020, F0021, F0022, F0006, F0027]. calc: $20.63 at WACC 8.75%, TGR 2.0% [F0018, F0019, F0020, F0021, F0022, F0006, F0027]. calc: $22.42 at WACC 8.75%, TGR 2.5% [F0018, F0019, F0020, F0021, F0022, F0006, F0027]. calc: $24.52 at WACC 8.75%, TGR 3.0% [F0018, F0019, F0020, F0021, F0022, F0006, F0027]. calc: $19.60 at WACC 9.00%, TGR 2.0% [F0018, F0019, F0020, F0021, F0022, F0006, F0027]. calc: $21.24 at WACC 9.00%, TGR 2.5% [F0018, F0019, F0020, F0021, F0022, F0006, F0027]. calc: $23.16 at WACC 9.00%, TGR 3.0% [F0018, F0019, F0020, F0021, F0022, F0006, F0027]. calc: 8.25% and 8.75% are steps inside the management range [F0023, F0024, F0025, F0026]. calc: 2 of 15 cases = count of the 5 x 3 grid at or above the offer [F0004, F0023, F0024, F0025, F0026].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rtlCol="0"/>
          <a:lstStyle>
            <a:lvl1pPr indent="0" marL="0">
              <a:buNone/>
              <a:defRPr lang="en-US" sz="850" dirty="0">
                <a:solidFill>
                  <a:srgbClr val="5B7089"/>
                </a:solidFill>
                <a:latin typeface="Arial" pitchFamily="34" charset="0"/>
                <a:ea typeface="Arial" pitchFamily="34" charset="-122"/>
                <a:cs typeface="Arial" pitchFamily="34" charset="-120"/>
              </a:defRPr>
            </a:lvl1pPr>
          </a:lstStyle>
          <a:p>
            <a:pPr indent="0" marL="0">
              <a:buNone/>
            </a:pP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rtlCol="0"/>
          <a:lstStyle>
            <a:lvl1pPr algn="l" indent="0" marL="0">
              <a:buNone/>
              <a:defRPr lang="en-US" sz="2000" b="1" dirty="0">
                <a:solidFill>
                  <a:srgbClr val="111827"/>
                </a:solidFill>
                <a:latin typeface="Arial" pitchFamily="34" charset="0"/>
                <a:ea typeface="Arial" pitchFamily="34" charset="-122"/>
                <a:cs typeface="Arial" pitchFamily="34" charset="-120"/>
              </a:defRPr>
            </a:lvl1pPr>
          </a:lstStyle>
          <a:p>
            <a:pPr algn="l" indent="0" marL="0">
              <a:buNone/>
            </a:pPr>
            <a:endParaRPr lang="en-US" sz="2000" dirty="0"/>
          </a:p>
        </p:txBody>
      </p:sp>
      <p:sp>
        <p:nvSpPr>
          <p:cNvPr id="4" name="Text 0"/>
          <p:cNvSpPr/>
          <p:nvPr>
            <p:ph idx="102" type="body" hasCustomPrompt="1"/>
          </p:nvPr>
        </p:nvSpPr>
        <p:spPr>
          <a:xfrm>
            <a:off x="457200" y="6382512"/>
            <a:ext cx="10454335" cy="274320"/>
          </a:xfrm>
          <a:prstGeom prst="rect">
            <a:avLst/>
          </a:prstGeom>
          <a:noFill/>
          <a:ln/>
        </p:spPr>
        <p:txBody>
          <a:bodyPr wrap="square" rtlCol="0"/>
          <a:lstStyle>
            <a:lvl1pPr indent="0" marL="0">
              <a:buNone/>
              <a:defRPr lang="en-US" sz="750" dirty="0">
                <a:solidFill>
                  <a:srgbClr val="5B7089"/>
                </a:solidFill>
                <a:latin typeface="Arial" pitchFamily="34" charset="0"/>
                <a:ea typeface="Arial" pitchFamily="34" charset="-122"/>
                <a:cs typeface="Arial" pitchFamily="34" charset="-120"/>
              </a:defRPr>
            </a:lvl1pPr>
          </a:lstStyle>
          <a:p>
            <a:pPr indent="0" marL="0">
              <a:buNone/>
            </a:pPr>
            <a:endParaRPr lang="en-US" sz="75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Text 0"/>
          <p:cNvSpPr/>
          <p:nvPr/>
        </p:nvSpPr>
        <p:spPr>
          <a:xfrm>
            <a:off x="731520" y="2194560"/>
            <a:ext cx="9905695" cy="1280160"/>
          </a:xfrm>
          <a:prstGeom prst="rect">
            <a:avLst/>
          </a:prstGeom>
          <a:noFill/>
          <a:ln/>
        </p:spPr>
        <p:txBody>
          <a:bodyPr wrap="square" lIns="0" tIns="0" rIns="0" bIns="0" rtlCol="0" anchor="b"/>
          <a:lstStyle/>
          <a:p>
            <a:pPr indent="0" marL="0">
              <a:buNone/>
            </a:pPr>
            <a:r>
              <a:rPr lang="en-US" sz="3400" b="1" dirty="0">
                <a:solidFill>
                  <a:srgbClr val="FFFFFF"/>
                </a:solidFill>
                <a:latin typeface="Arial" pitchFamily="34" charset="0"/>
                <a:ea typeface="Arial" pitchFamily="34" charset="-122"/>
                <a:cs typeface="Arial" pitchFamily="34" charset="-120"/>
              </a:rPr>
              <a:t>Project Cobalt: discussion materials</a:t>
            </a:r>
            <a:endParaRPr lang="en-US" sz="3400" dirty="0"/>
          </a:p>
        </p:txBody>
      </p:sp>
      <p:sp>
        <p:nvSpPr>
          <p:cNvPr id="3" name="Text 1"/>
          <p:cNvSpPr/>
          <p:nvPr/>
        </p:nvSpPr>
        <p:spPr>
          <a:xfrm>
            <a:off x="731520" y="3611880"/>
            <a:ext cx="9905695" cy="548640"/>
          </a:xfrm>
          <a:prstGeom prst="rect">
            <a:avLst/>
          </a:prstGeom>
          <a:noFill/>
          <a:ln/>
        </p:spPr>
        <p:txBody>
          <a:bodyPr wrap="square" lIns="0" tIns="0" rIns="0" bIns="0" rtlCol="0" anchor="t"/>
          <a:lstStyle/>
          <a:p>
            <a:pPr indent="0" marL="0">
              <a:buNone/>
            </a:pPr>
            <a:r>
              <a:rPr lang="en-US" sz="1600" dirty="0">
                <a:solidFill>
                  <a:srgbClr val="EDF1F6"/>
                </a:solidFill>
                <a:latin typeface="Arial" pitchFamily="34" charset="0"/>
                <a:ea typeface="Arial" pitchFamily="34" charset="-122"/>
                <a:cs typeface="Arial" pitchFamily="34" charset="-120"/>
              </a:rPr>
              <a:t>Prepared for the Special Committee of the Board of Corvane Instruments</a:t>
            </a:r>
            <a:endParaRPr lang="en-US" sz="1600" dirty="0"/>
          </a:p>
        </p:txBody>
      </p:sp>
      <p:sp>
        <p:nvSpPr>
          <p:cNvPr id="4" name="Text 2"/>
          <p:cNvSpPr/>
          <p:nvPr/>
        </p:nvSpPr>
        <p:spPr>
          <a:xfrm>
            <a:off x="731520" y="5943600"/>
            <a:ext cx="10362895" cy="365760"/>
          </a:xfrm>
          <a:prstGeom prst="rect">
            <a:avLst/>
          </a:prstGeom>
          <a:noFill/>
          <a:ln/>
        </p:spPr>
        <p:txBody>
          <a:bodyPr wrap="square" lIns="0" tIns="0" rIns="0" bIns="0" rtlCol="0" anchor="t"/>
          <a:lstStyle/>
          <a:p>
            <a:pPr indent="0" marL="0">
              <a:buNone/>
            </a:pPr>
            <a:r>
              <a:rPr lang="en-US" sz="1100" dirty="0">
                <a:solidFill>
                  <a:srgbClr val="EDF1F6"/>
                </a:solidFill>
                <a:latin typeface="Arial" pitchFamily="34" charset="0"/>
                <a:ea typeface="Arial" pitchFamily="34" charset="-122"/>
                <a:cs typeface="Arial" pitchFamily="34" charset="-120"/>
              </a:rPr>
              <a:t>Fictional sample · deck-studio</a:t>
            </a:r>
            <a:endParaRPr lang="en-US" sz="1100" dirty="0"/>
          </a:p>
        </p:txBody>
      </p:sp>
      <p:sp>
        <p:nvSpPr>
          <p:cNvPr id="5" name="Text 3"/>
          <p:cNvSpPr/>
          <p:nvPr/>
        </p:nvSpPr>
        <p:spPr>
          <a:xfrm>
            <a:off x="8716975" y="365760"/>
            <a:ext cx="2743200" cy="274320"/>
          </a:xfrm>
          <a:prstGeom prst="rect">
            <a:avLst/>
          </a:prstGeom>
          <a:noFill/>
          <a:ln/>
        </p:spPr>
        <p:txBody>
          <a:bodyPr wrap="square" lIns="0" tIns="0" rIns="0" bIns="0" rtlCol="0" anchor="t"/>
          <a:lstStyle/>
          <a:p>
            <a:pPr algn="r" indent="0" marL="0">
              <a:buNone/>
            </a:pPr>
            <a:r>
              <a:rPr lang="en-US" sz="1000" dirty="0">
                <a:solidFill>
                  <a:srgbClr val="EDF1F6"/>
                </a:solidFill>
                <a:latin typeface="Arial" pitchFamily="34" charset="0"/>
                <a:ea typeface="Arial" pitchFamily="34" charset="-122"/>
                <a:cs typeface="Arial" pitchFamily="34" charset="-120"/>
              </a:rPr>
              <a:t>Confidential · Preliminary draft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Disclaimer</a:t>
            </a:r>
            <a:endParaRPr lang="en-US" sz="2000" dirty="0"/>
          </a:p>
        </p:txBody>
      </p:sp>
      <p:sp>
        <p:nvSpPr>
          <p:cNvPr id="3" name="Text 1"/>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sp>
        <p:nvSpPr>
          <p:cNvPr id="4" name="Text 2"/>
          <p:cNvSpPr/>
          <p:nvPr/>
        </p:nvSpPr>
        <p:spPr>
          <a:xfrm>
            <a:off x="457200" y="1645920"/>
            <a:ext cx="8457971" cy="4023360"/>
          </a:xfrm>
          <a:prstGeom prst="rect">
            <a:avLst/>
          </a:prstGeom>
          <a:noFill/>
          <a:ln/>
        </p:spPr>
        <p:txBody>
          <a:bodyPr wrap="square" lIns="0" tIns="0" rIns="0" bIns="0" rtlCol="0" anchor="t"/>
          <a:lstStyle/>
          <a:p>
            <a:pPr indent="0" marL="0">
              <a:buNone/>
            </a:pPr>
            <a:r>
              <a:rPr lang="en-US" sz="1000" dirty="0">
                <a:solidFill>
                  <a:srgbClr val="5B7089"/>
                </a:solidFill>
                <a:latin typeface="Arial" pitchFamily="34" charset="0"/>
                <a:ea typeface="Arial" pitchFamily="34" charset="-122"/>
                <a:cs typeface="Arial" pitchFamily="34" charset="-120"/>
              </a:rPr>
              <a:t>These materials were prepared for the Special Committee's use in evaluating the proposal. They rely on public information and on projections prepared by management, which we have not verified independently. They are preliminary, are not a fairness opinion, and are not a recommendation to any shareholder. The company and figures are fictional.</a:t>
            </a:r>
            <a:endParaRPr lang="en-US" sz="1000" dirty="0"/>
          </a:p>
        </p:txBody>
      </p:sp>
      <p:sp>
        <p:nvSpPr>
          <p:cNvPr id="5"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endParaRPr lang="en-US" sz="850" dirty="0"/>
          </a:p>
        </p:txBody>
      </p:sp>
      <p:sp>
        <p:nvSpPr>
          <p:cNvPr id="6"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endParaRPr lang="en-US" sz="750" dirty="0"/>
          </a:p>
        </p:txBody>
      </p:sp>
      <p:sp>
        <p:nvSpPr>
          <p:cNvPr id="7"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r>
              <a:rPr lang="en-US" sz="850" b="1" dirty="0">
                <a:solidFill>
                  <a:srgbClr val="0B2545"/>
                </a:solidFill>
                <a:latin typeface="Arial" pitchFamily="34" charset="0"/>
                <a:ea typeface="Arial" pitchFamily="34" charset="-122"/>
                <a:cs typeface="Arial" pitchFamily="34" charset="-120"/>
              </a:rPr>
              <a:t>1 Situation   ·   </a:t>
            </a:r>
            <a:pPr indent="0" marL="0">
              <a:buNone/>
            </a:pPr>
            <a:r>
              <a:rPr lang="en-US" sz="850" dirty="0">
                <a:solidFill>
                  <a:srgbClr val="5B7089"/>
                </a:solidFill>
                <a:latin typeface="Arial" pitchFamily="34" charset="0"/>
                <a:ea typeface="Arial" pitchFamily="34" charset="-122"/>
                <a:cs typeface="Arial" pitchFamily="34" charset="-120"/>
              </a:rPr>
              <a:t>2 Valuation   ·   </a:t>
            </a:r>
            <a:pPr indent="0" marL="0">
              <a:buNone/>
            </a:pPr>
            <a:r>
              <a:rPr lang="en-US" sz="850" dirty="0">
                <a:solidFill>
                  <a:srgbClr val="5B7089"/>
                </a:solidFill>
                <a:latin typeface="Arial" pitchFamily="34" charset="0"/>
                <a:ea typeface="Arial" pitchFamily="34" charset="-122"/>
                <a:cs typeface="Arial" pitchFamily="34" charset="-120"/>
              </a:rPr>
              <a:t>3 Analyses</a:t>
            </a: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The $27.00 offer is a 26.2% premium to the unaffected price and 12.5x LTM EBITDA</a:t>
            </a:r>
            <a:endParaRPr lang="en-US" sz="2000" dirty="0"/>
          </a:p>
        </p:txBody>
      </p:sp>
      <p:sp>
        <p:nvSpPr>
          <p:cNvPr id="4" name="Text 2"/>
          <p:cNvSpPr/>
          <p:nvPr/>
        </p:nvSpPr>
        <p:spPr>
          <a:xfrm>
            <a:off x="457200" y="1298448"/>
            <a:ext cx="11277295" cy="256032"/>
          </a:xfrm>
          <a:prstGeom prst="rect">
            <a:avLst/>
          </a:prstGeom>
          <a:noFill/>
          <a:ln/>
        </p:spPr>
        <p:txBody>
          <a:bodyPr wrap="square" lIns="0" tIns="0" rIns="0" bIns="0" rtlCol="0" anchor="t"/>
          <a:lstStyle/>
          <a:p>
            <a:pPr indent="0" marL="0">
              <a:buNone/>
            </a:pPr>
            <a:r>
              <a:rPr lang="en-US" sz="1000" i="1" dirty="0">
                <a:solidFill>
                  <a:srgbClr val="5B7089"/>
                </a:solidFill>
                <a:latin typeface="Arial" pitchFamily="34" charset="0"/>
                <a:ea typeface="Arial" pitchFamily="34" charset="-122"/>
                <a:cs typeface="Arial" pitchFamily="34" charset="-120"/>
              </a:rPr>
              <a:t>($ in millions, except per-share values)</a:t>
            </a:r>
            <a:endParaRPr lang="en-US" sz="1000" dirty="0"/>
          </a:p>
        </p:txBody>
      </p:sp>
      <p:sp>
        <p:nvSpPr>
          <p:cNvPr id="5"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Source: Company capitalization table; management projections (June 2026); daily closing prices, calendar 2025</a:t>
            </a:r>
            <a:endParaRPr lang="en-US" sz="750" dirty="0"/>
          </a:p>
        </p:txBody>
      </p:sp>
      <p:sp>
        <p:nvSpPr>
          <p:cNvPr id="6" name="Text 4"/>
          <p:cNvSpPr/>
          <p:nvPr/>
        </p:nvSpPr>
        <p:spPr>
          <a:xfrm>
            <a:off x="457200" y="5943600"/>
            <a:ext cx="10454335" cy="41148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(1) Data note: the share price history covers calendar 2025 only, so the 2025 high is shown and labelled as such rather than a 52-week high to the 15 May 2026 unaffected date.</a:t>
            </a:r>
            <a:endParaRPr lang="en-US" sz="750" dirty="0"/>
          </a:p>
          <a:p>
            <a:pPr indent="0" marL="0">
              <a:buNone/>
            </a:pPr>
            <a:r>
              <a:rPr lang="en-US" sz="750" dirty="0">
                <a:solidFill>
                  <a:srgbClr val="5B7089"/>
                </a:solidFill>
                <a:latin typeface="Arial" pitchFamily="34" charset="0"/>
                <a:ea typeface="Arial" pitchFamily="34" charset="-122"/>
                <a:cs typeface="Arial" pitchFamily="34" charset="-120"/>
              </a:rPr>
              <a:t>(2) Data note: the capitalization table shows 114.0M diluted shares; management directs 112.6M (treasury method at the offer) for per-share values.</a:t>
            </a:r>
            <a:endParaRPr lang="en-US" sz="750" dirty="0"/>
          </a:p>
        </p:txBody>
      </p:sp>
      <p:sp>
        <p:nvSpPr>
          <p:cNvPr id="7" name="Text 5"/>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7295" cy="914400"/>
        </p:xfrm>
        <a:graphic>
          <a:graphicData uri="http://schemas.openxmlformats.org/drawingml/2006/table">
            <a:tbl>
              <a:tblPr/>
              <a:tblGrid>
                <a:gridCol w="4754880"/>
                <a:gridCol w="2011680"/>
                <a:gridCol w="4480560"/>
              </a:tblGrid>
              <a:tr h="378229">
                <a:tc>
                  <a:txBody>
                    <a:bodyPr/>
                    <a:lstStyle/>
                    <a:p>
                      <a:pPr algn="l" indent="0" marL="0">
                        <a:buNone/>
                      </a:pPr>
                      <a:r>
                        <a:rPr lang="en-US" sz="1000" b="1" dirty="0">
                          <a:solidFill>
                            <a:srgbClr val="5B7089"/>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r" indent="0" marL="0">
                        <a:buNone/>
                      </a:pPr>
                      <a:r>
                        <a:rPr lang="en-US" sz="1000" b="1" dirty="0">
                          <a:solidFill>
                            <a:srgbClr val="5B7089"/>
                          </a:solidFill>
                          <a:latin typeface="Arial" pitchFamily="34" charset="0"/>
                          <a:ea typeface="Arial" pitchFamily="34" charset="-122"/>
                          <a:cs typeface="Arial" pitchFamily="34" charset="-120"/>
                        </a:rPr>
                        <a:t>Value</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l" indent="0" marL="0">
                        <a:buNone/>
                      </a:pPr>
                      <a:r>
                        <a:rPr lang="en-US" sz="1000" b="1" dirty="0">
                          <a:solidFill>
                            <a:srgbClr val="5B7089"/>
                          </a:solidFill>
                          <a:latin typeface="Arial" pitchFamily="34" charset="0"/>
                          <a:ea typeface="Arial" pitchFamily="34" charset="-122"/>
                          <a:cs typeface="Arial" pitchFamily="34" charset="-120"/>
                        </a:rPr>
                        <a:t>Basis</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r>
              <a:tr h="378229">
                <a:tc>
                  <a:txBody>
                    <a:bodyPr/>
                    <a:lstStyle/>
                    <a:p>
                      <a:pPr algn="l" indent="0" marL="0">
                        <a:buNone/>
                      </a:pPr>
                      <a:r>
                        <a:rPr lang="en-US" sz="1000" b="1" dirty="0">
                          <a:solidFill>
                            <a:srgbClr val="111827"/>
                          </a:solidFill>
                          <a:latin typeface="Arial" pitchFamily="34" charset="0"/>
                          <a:ea typeface="Arial" pitchFamily="34" charset="-122"/>
                          <a:cs typeface="Arial" pitchFamily="34" charset="-120"/>
                        </a:rPr>
                        <a:t>Offer price per share</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r" indent="0" marL="0">
                        <a:buNone/>
                      </a:pPr>
                      <a:r>
                        <a:rPr lang="en-US" sz="1000" b="1" dirty="0">
                          <a:solidFill>
                            <a:srgbClr val="111827"/>
                          </a:solidFill>
                          <a:latin typeface="Arial" pitchFamily="34" charset="0"/>
                          <a:ea typeface="Arial" pitchFamily="34" charset="-122"/>
                          <a:cs typeface="Arial" pitchFamily="34" charset="-120"/>
                        </a:rPr>
                        <a:t>$27.00</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l" indent="0" marL="0">
                        <a:buNone/>
                      </a:pPr>
                      <a:r>
                        <a:rPr lang="en-US" sz="1000" b="1" dirty="0">
                          <a:solidFill>
                            <a:srgbClr val="111827"/>
                          </a:solidFill>
                          <a:latin typeface="Arial" pitchFamily="34" charset="0"/>
                          <a:ea typeface="Arial" pitchFamily="34" charset="-122"/>
                          <a:cs typeface="Arial" pitchFamily="34" charset="-120"/>
                        </a:rPr>
                        <a:t>Sponsor proposal</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r>
              <a:tr h="378229">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Unaffected share price (15 May 2026)</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000" dirty="0">
                          <a:solidFill>
                            <a:srgbClr val="111827"/>
                          </a:solidFill>
                          <a:latin typeface="Arial" pitchFamily="34" charset="0"/>
                          <a:ea typeface="Arial" pitchFamily="34" charset="-122"/>
                          <a:cs typeface="Arial" pitchFamily="34" charset="-120"/>
                        </a:rPr>
                        <a:t>$21.40</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Capitalization table</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378229">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Premium to unaffected price</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000" dirty="0">
                          <a:solidFill>
                            <a:srgbClr val="111827"/>
                          </a:solidFill>
                          <a:latin typeface="Arial" pitchFamily="34" charset="0"/>
                          <a:ea typeface="Arial" pitchFamily="34" charset="-122"/>
                          <a:cs typeface="Arial" pitchFamily="34" charset="-120"/>
                        </a:rPr>
                        <a:t>26.2%</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Offer / unaffected − 1</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378229">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Premium to 2025 high close (1)</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000" dirty="0">
                          <a:solidFill>
                            <a:srgbClr val="111827"/>
                          </a:solidFill>
                          <a:latin typeface="Arial" pitchFamily="34" charset="0"/>
                          <a:ea typeface="Arial" pitchFamily="34" charset="-122"/>
                          <a:cs typeface="Arial" pitchFamily="34" charset="-120"/>
                        </a:rPr>
                        <a:t>24.5%</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High close $21.68</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378229">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Diluted shares (2)</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000" dirty="0">
                          <a:solidFill>
                            <a:srgbClr val="111827"/>
                          </a:solidFill>
                          <a:latin typeface="Arial" pitchFamily="34" charset="0"/>
                          <a:ea typeface="Arial" pitchFamily="34" charset="-122"/>
                          <a:cs typeface="Arial" pitchFamily="34" charset="-120"/>
                        </a:rPr>
                        <a:t>112.6M</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Treasury method at the offer (management)</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378229">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Implied equity value</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000" dirty="0">
                          <a:solidFill>
                            <a:srgbClr val="111827"/>
                          </a:solidFill>
                          <a:latin typeface="Arial" pitchFamily="34" charset="0"/>
                          <a:ea typeface="Arial" pitchFamily="34" charset="-122"/>
                          <a:cs typeface="Arial" pitchFamily="34" charset="-120"/>
                        </a:rPr>
                        <a:t>$3,040</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Offer × diluted shares</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378229">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Net debt</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000" dirty="0">
                          <a:solidFill>
                            <a:srgbClr val="111827"/>
                          </a:solidFill>
                          <a:latin typeface="Arial" pitchFamily="34" charset="0"/>
                          <a:ea typeface="Arial" pitchFamily="34" charset="-122"/>
                          <a:cs typeface="Arial" pitchFamily="34" charset="-120"/>
                        </a:rPr>
                        <a:t>$845</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Capitalization table</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378229">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Implied enterprise value</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000" dirty="0">
                          <a:solidFill>
                            <a:srgbClr val="111827"/>
                          </a:solidFill>
                          <a:latin typeface="Arial" pitchFamily="34" charset="0"/>
                          <a:ea typeface="Arial" pitchFamily="34" charset="-122"/>
                          <a:cs typeface="Arial" pitchFamily="34" charset="-120"/>
                        </a:rPr>
                        <a:t>$3,885</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Equity value + net debt</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378229">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EV / LTM EBITDA ($310M)</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000" dirty="0">
                          <a:solidFill>
                            <a:srgbClr val="111827"/>
                          </a:solidFill>
                          <a:latin typeface="Arial" pitchFamily="34" charset="0"/>
                          <a:ea typeface="Arial" pitchFamily="34" charset="-122"/>
                          <a:cs typeface="Arial" pitchFamily="34" charset="-120"/>
                        </a:rPr>
                        <a:t>12.5x</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EV / LTM EBITDA</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378229">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EV / FY26E EBITDA ($332M)</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000" dirty="0">
                          <a:solidFill>
                            <a:srgbClr val="111827"/>
                          </a:solidFill>
                          <a:latin typeface="Arial" pitchFamily="34" charset="0"/>
                          <a:ea typeface="Arial" pitchFamily="34" charset="-122"/>
                          <a:cs typeface="Arial" pitchFamily="34" charset="-120"/>
                        </a:rPr>
                        <a:t>11.7x</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000" dirty="0">
                          <a:solidFill>
                            <a:srgbClr val="111827"/>
                          </a:solidFill>
                          <a:latin typeface="Arial" pitchFamily="34" charset="0"/>
                          <a:ea typeface="Arial" pitchFamily="34" charset="-122"/>
                          <a:cs typeface="Arial" pitchFamily="34" charset="-120"/>
                        </a:rPr>
                        <a:t>EV / FY26E EBITDA</a:t>
                      </a:r>
                      <a:endParaRPr lang="en-US" sz="10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bl>
          </a:graphicData>
        </a:graphic>
      </p:graphicFrame>
      <p:sp>
        <p:nvSpPr>
          <p:cNvPr id="9"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r>
              <a:rPr lang="en-US" sz="850" dirty="0">
                <a:solidFill>
                  <a:srgbClr val="5B7089"/>
                </a:solidFill>
                <a:latin typeface="Arial" pitchFamily="34" charset="0"/>
                <a:ea typeface="Arial" pitchFamily="34" charset="-122"/>
                <a:cs typeface="Arial" pitchFamily="34" charset="-120"/>
              </a:rPr>
              <a:t>1 Situation   ·   </a:t>
            </a:r>
            <a:pPr indent="0" marL="0">
              <a:buNone/>
            </a:pPr>
            <a:r>
              <a:rPr lang="en-US" sz="850" b="1" dirty="0">
                <a:solidFill>
                  <a:srgbClr val="0B2545"/>
                </a:solidFill>
                <a:latin typeface="Arial" pitchFamily="34" charset="0"/>
                <a:ea typeface="Arial" pitchFamily="34" charset="-122"/>
                <a:cs typeface="Arial" pitchFamily="34" charset="-120"/>
              </a:rPr>
              <a:t>2 Valuation   ·   </a:t>
            </a:r>
            <a:pPr indent="0" marL="0">
              <a:buNone/>
            </a:pPr>
            <a:r>
              <a:rPr lang="en-US" sz="850" dirty="0">
                <a:solidFill>
                  <a:srgbClr val="5B7089"/>
                </a:solidFill>
                <a:latin typeface="Arial" pitchFamily="34" charset="0"/>
                <a:ea typeface="Arial" pitchFamily="34" charset="-122"/>
                <a:cs typeface="Arial" pitchFamily="34" charset="-120"/>
              </a:rPr>
              <a:t>3 Analyses</a:t>
            </a: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The $27.00 offer sits above 4 of 5 valuation ranges and inside the other 1</a:t>
            </a:r>
            <a:endParaRPr lang="en-US" sz="2000" dirty="0"/>
          </a:p>
        </p:txBody>
      </p:sp>
      <p:sp>
        <p:nvSpPr>
          <p:cNvPr id="4" name="Text 2"/>
          <p:cNvSpPr/>
          <p:nvPr/>
        </p:nvSpPr>
        <p:spPr>
          <a:xfrm>
            <a:off x="457200" y="1298448"/>
            <a:ext cx="11277295" cy="256032"/>
          </a:xfrm>
          <a:prstGeom prst="rect">
            <a:avLst/>
          </a:prstGeom>
          <a:noFill/>
          <a:ln/>
        </p:spPr>
        <p:txBody>
          <a:bodyPr wrap="square" lIns="0" tIns="0" rIns="0" bIns="0" rtlCol="0" anchor="t"/>
          <a:lstStyle/>
          <a:p>
            <a:pPr indent="0" marL="0">
              <a:buNone/>
            </a:pPr>
            <a:r>
              <a:rPr lang="en-US" sz="1000" i="1" dirty="0">
                <a:solidFill>
                  <a:srgbClr val="5B7089"/>
                </a:solidFill>
                <a:latin typeface="Arial" pitchFamily="34" charset="0"/>
                <a:ea typeface="Arial" pitchFamily="34" charset="-122"/>
                <a:cs typeface="Arial" pitchFamily="34" charset="-120"/>
              </a:rPr>
              <a:t>(Implied value per share, $) (1)</a:t>
            </a:r>
            <a:endParaRPr lang="en-US" sz="1000" dirty="0"/>
          </a:p>
        </p:txBody>
      </p:sp>
      <p:sp>
        <p:nvSpPr>
          <p:cNvPr id="5"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Source: Management projections (June 2026); peer company filings; precedent transaction announcements; daily closing prices, calendar 2025</a:t>
            </a:r>
            <a:endParaRPr lang="en-US" sz="750" dirty="0"/>
          </a:p>
        </p:txBody>
      </p:sp>
      <p:sp>
        <p:nvSpPr>
          <p:cNvPr id="6" name="Text 4"/>
          <p:cNvSpPr/>
          <p:nvPr/>
        </p:nvSpPr>
        <p:spPr>
          <a:xfrm>
            <a:off x="457200" y="5943600"/>
            <a:ext cx="10454335" cy="41148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(1) Per-share values use 112.6M diluted shares and $845M net debt. Comps ranges drop the lowest and highest multiple. DCF discounts FY26E–FY30E unlevered FCF to the start of FY26 (end-year convention; no stub-period adjustment for the May 2026 valuation date).</a:t>
            </a:r>
            <a:endParaRPr lang="en-US" sz="750" dirty="0"/>
          </a:p>
        </p:txBody>
      </p:sp>
      <p:sp>
        <p:nvSpPr>
          <p:cNvPr id="7" name="Text 5"/>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graphicFrame>
        <p:nvGraphicFramePr>
          <p:cNvPr id="8" name="Chart 0" descr="The $27.00 offer sits above 4 of 5 valuation ranges and inside the other 1"/>
          <p:cNvGraphicFramePr/>
          <p:nvPr/>
        </p:nvGraphicFramePr>
        <p:xfrm>
          <a:off x="457200" y="1965960"/>
          <a:ext cx="11277295" cy="39319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6199139" y="4969032"/>
            <a:ext cx="731520" cy="237744"/>
          </a:xfrm>
          <a:prstGeom prst="rect">
            <a:avLst/>
          </a:prstGeom>
          <a:noFill/>
          <a:ln/>
        </p:spPr>
        <p:txBody>
          <a:bodyPr wrap="square" lIns="0" tIns="0" rIns="0" bIns="0" rtlCol="0" anchor="t"/>
          <a:lstStyle/>
          <a:p>
            <a:pPr algn="r" indent="0" marL="0">
              <a:buNone/>
            </a:pPr>
            <a:r>
              <a:rPr lang="en-US" sz="1000" dirty="0">
                <a:solidFill>
                  <a:srgbClr val="111827"/>
                </a:solidFill>
                <a:latin typeface="Arial" pitchFamily="34" charset="0"/>
                <a:ea typeface="Arial" pitchFamily="34" charset="-122"/>
                <a:cs typeface="Arial" pitchFamily="34" charset="-120"/>
              </a:rPr>
              <a:t>$19.60</a:t>
            </a:r>
            <a:endParaRPr lang="en-US" sz="1000" dirty="0"/>
          </a:p>
        </p:txBody>
      </p:sp>
      <p:sp>
        <p:nvSpPr>
          <p:cNvPr id="10" name="Text 7"/>
          <p:cNvSpPr/>
          <p:nvPr/>
        </p:nvSpPr>
        <p:spPr>
          <a:xfrm>
            <a:off x="9765729" y="4969032"/>
            <a:ext cx="731520" cy="237744"/>
          </a:xfrm>
          <a:prstGeom prst="rect">
            <a:avLst/>
          </a:prstGeom>
          <a:noFill/>
          <a:ln/>
        </p:spPr>
        <p:txBody>
          <a:bodyPr wrap="square" lIns="0" tIns="0" rIns="0" bIns="0" rtlCol="0" anchor="t"/>
          <a:lstStyle/>
          <a:p>
            <a:pPr indent="0" marL="0">
              <a:buNone/>
            </a:pPr>
            <a:r>
              <a:rPr lang="en-US" sz="1000" dirty="0">
                <a:solidFill>
                  <a:srgbClr val="111827"/>
                </a:solidFill>
                <a:latin typeface="Arial" pitchFamily="34" charset="0"/>
                <a:ea typeface="Arial" pitchFamily="34" charset="-122"/>
                <a:cs typeface="Arial" pitchFamily="34" charset="-120"/>
              </a:rPr>
              <a:t>$29.41</a:t>
            </a:r>
            <a:endParaRPr lang="en-US" sz="1000" dirty="0"/>
          </a:p>
        </p:txBody>
      </p:sp>
      <p:sp>
        <p:nvSpPr>
          <p:cNvPr id="11" name="Text 8"/>
          <p:cNvSpPr/>
          <p:nvPr/>
        </p:nvSpPr>
        <p:spPr>
          <a:xfrm>
            <a:off x="5625801" y="4292742"/>
            <a:ext cx="731520" cy="237744"/>
          </a:xfrm>
          <a:prstGeom prst="rect">
            <a:avLst/>
          </a:prstGeom>
          <a:noFill/>
          <a:ln/>
        </p:spPr>
        <p:txBody>
          <a:bodyPr wrap="square" lIns="0" tIns="0" rIns="0" bIns="0" rtlCol="0" anchor="t"/>
          <a:lstStyle/>
          <a:p>
            <a:pPr algn="r" indent="0" marL="0">
              <a:buNone/>
            </a:pPr>
            <a:r>
              <a:rPr lang="en-US" sz="1000" dirty="0">
                <a:solidFill>
                  <a:srgbClr val="111827"/>
                </a:solidFill>
                <a:latin typeface="Arial" pitchFamily="34" charset="0"/>
                <a:ea typeface="Arial" pitchFamily="34" charset="-122"/>
                <a:cs typeface="Arial" pitchFamily="34" charset="-120"/>
              </a:rPr>
              <a:t>$17.55</a:t>
            </a:r>
            <a:endParaRPr lang="en-US" sz="1000" dirty="0"/>
          </a:p>
        </p:txBody>
      </p:sp>
      <p:sp>
        <p:nvSpPr>
          <p:cNvPr id="12" name="Text 9"/>
          <p:cNvSpPr/>
          <p:nvPr/>
        </p:nvSpPr>
        <p:spPr>
          <a:xfrm>
            <a:off x="9119140" y="4292742"/>
            <a:ext cx="731520" cy="237744"/>
          </a:xfrm>
          <a:prstGeom prst="rect">
            <a:avLst/>
          </a:prstGeom>
          <a:noFill/>
          <a:ln/>
        </p:spPr>
        <p:txBody>
          <a:bodyPr wrap="square" lIns="0" tIns="0" rIns="0" bIns="0" rtlCol="0" anchor="t"/>
          <a:lstStyle/>
          <a:p>
            <a:pPr indent="0" marL="0">
              <a:buNone/>
            </a:pPr>
            <a:r>
              <a:rPr lang="en-US" sz="1000" dirty="0">
                <a:solidFill>
                  <a:srgbClr val="111827"/>
                </a:solidFill>
                <a:latin typeface="Arial" pitchFamily="34" charset="0"/>
                <a:ea typeface="Arial" pitchFamily="34" charset="-122"/>
                <a:cs typeface="Arial" pitchFamily="34" charset="-120"/>
              </a:rPr>
              <a:t>$26.08</a:t>
            </a:r>
            <a:endParaRPr lang="en-US" sz="1000" dirty="0"/>
          </a:p>
        </p:txBody>
      </p:sp>
      <p:sp>
        <p:nvSpPr>
          <p:cNvPr id="13" name="Text 10"/>
          <p:cNvSpPr/>
          <p:nvPr/>
        </p:nvSpPr>
        <p:spPr>
          <a:xfrm>
            <a:off x="5715298" y="3616452"/>
            <a:ext cx="731520" cy="237744"/>
          </a:xfrm>
          <a:prstGeom prst="rect">
            <a:avLst/>
          </a:prstGeom>
          <a:noFill/>
          <a:ln/>
        </p:spPr>
        <p:txBody>
          <a:bodyPr wrap="square" lIns="0" tIns="0" rIns="0" bIns="0" rtlCol="0" anchor="t"/>
          <a:lstStyle/>
          <a:p>
            <a:pPr algn="r" indent="0" marL="0">
              <a:buNone/>
            </a:pPr>
            <a:r>
              <a:rPr lang="en-US" sz="1000" dirty="0">
                <a:solidFill>
                  <a:srgbClr val="111827"/>
                </a:solidFill>
                <a:latin typeface="Arial" pitchFamily="34" charset="0"/>
                <a:ea typeface="Arial" pitchFamily="34" charset="-122"/>
                <a:cs typeface="Arial" pitchFamily="34" charset="-120"/>
              </a:rPr>
              <a:t>$17.87</a:t>
            </a:r>
            <a:endParaRPr lang="en-US" sz="1000" dirty="0"/>
          </a:p>
        </p:txBody>
      </p:sp>
      <p:sp>
        <p:nvSpPr>
          <p:cNvPr id="14" name="Text 11"/>
          <p:cNvSpPr/>
          <p:nvPr/>
        </p:nvSpPr>
        <p:spPr>
          <a:xfrm>
            <a:off x="7552949" y="3616452"/>
            <a:ext cx="731520" cy="237744"/>
          </a:xfrm>
          <a:prstGeom prst="rect">
            <a:avLst/>
          </a:prstGeom>
          <a:noFill/>
          <a:ln/>
        </p:spPr>
        <p:txBody>
          <a:bodyPr wrap="square" lIns="0" tIns="0" rIns="0" bIns="0" rtlCol="0" anchor="t"/>
          <a:lstStyle/>
          <a:p>
            <a:pPr indent="0" marL="0">
              <a:buNone/>
            </a:pPr>
            <a:r>
              <a:rPr lang="en-US" sz="1000" dirty="0">
                <a:solidFill>
                  <a:srgbClr val="111827"/>
                </a:solidFill>
                <a:latin typeface="Arial" pitchFamily="34" charset="0"/>
                <a:ea typeface="Arial" pitchFamily="34" charset="-122"/>
                <a:cs typeface="Arial" pitchFamily="34" charset="-120"/>
              </a:rPr>
              <a:t>$20.16</a:t>
            </a:r>
            <a:endParaRPr lang="en-US" sz="1000" dirty="0"/>
          </a:p>
        </p:txBody>
      </p:sp>
      <p:sp>
        <p:nvSpPr>
          <p:cNvPr id="15" name="Text 12"/>
          <p:cNvSpPr/>
          <p:nvPr/>
        </p:nvSpPr>
        <p:spPr>
          <a:xfrm>
            <a:off x="5813185" y="2940162"/>
            <a:ext cx="731520" cy="237744"/>
          </a:xfrm>
          <a:prstGeom prst="rect">
            <a:avLst/>
          </a:prstGeom>
          <a:noFill/>
          <a:ln/>
        </p:spPr>
        <p:txBody>
          <a:bodyPr wrap="square" lIns="0" tIns="0" rIns="0" bIns="0" rtlCol="0" anchor="t"/>
          <a:lstStyle/>
          <a:p>
            <a:pPr algn="r" indent="0" marL="0">
              <a:buNone/>
            </a:pPr>
            <a:r>
              <a:rPr lang="en-US" sz="1000" dirty="0">
                <a:solidFill>
                  <a:srgbClr val="111827"/>
                </a:solidFill>
                <a:latin typeface="Arial" pitchFamily="34" charset="0"/>
                <a:ea typeface="Arial" pitchFamily="34" charset="-122"/>
                <a:cs typeface="Arial" pitchFamily="34" charset="-120"/>
              </a:rPr>
              <a:t>$18.22</a:t>
            </a:r>
            <a:endParaRPr lang="en-US" sz="1000" dirty="0"/>
          </a:p>
        </p:txBody>
      </p:sp>
      <p:sp>
        <p:nvSpPr>
          <p:cNvPr id="16" name="Text 13"/>
          <p:cNvSpPr/>
          <p:nvPr/>
        </p:nvSpPr>
        <p:spPr>
          <a:xfrm>
            <a:off x="7552949" y="2940162"/>
            <a:ext cx="731520" cy="237744"/>
          </a:xfrm>
          <a:prstGeom prst="rect">
            <a:avLst/>
          </a:prstGeom>
          <a:noFill/>
          <a:ln/>
        </p:spPr>
        <p:txBody>
          <a:bodyPr wrap="square" lIns="0" tIns="0" rIns="0" bIns="0" rtlCol="0" anchor="t"/>
          <a:lstStyle/>
          <a:p>
            <a:pPr indent="0" marL="0">
              <a:buNone/>
            </a:pPr>
            <a:r>
              <a:rPr lang="en-US" sz="1000" dirty="0">
                <a:solidFill>
                  <a:srgbClr val="111827"/>
                </a:solidFill>
                <a:latin typeface="Arial" pitchFamily="34" charset="0"/>
                <a:ea typeface="Arial" pitchFamily="34" charset="-122"/>
                <a:cs typeface="Arial" pitchFamily="34" charset="-120"/>
              </a:rPr>
              <a:t>$20.61</a:t>
            </a:r>
            <a:endParaRPr lang="en-US" sz="1000" dirty="0"/>
          </a:p>
        </p:txBody>
      </p:sp>
      <p:sp>
        <p:nvSpPr>
          <p:cNvPr id="17" name="Text 14"/>
          <p:cNvSpPr/>
          <p:nvPr/>
        </p:nvSpPr>
        <p:spPr>
          <a:xfrm>
            <a:off x="5376889" y="2263872"/>
            <a:ext cx="731520" cy="237744"/>
          </a:xfrm>
          <a:prstGeom prst="rect">
            <a:avLst/>
          </a:prstGeom>
          <a:noFill/>
          <a:ln/>
        </p:spPr>
        <p:txBody>
          <a:bodyPr wrap="square" lIns="0" tIns="0" rIns="0" bIns="0" rtlCol="0" anchor="t"/>
          <a:lstStyle/>
          <a:p>
            <a:pPr algn="r" indent="0" marL="0">
              <a:buNone/>
            </a:pPr>
            <a:r>
              <a:rPr lang="en-US" sz="1000" dirty="0">
                <a:solidFill>
                  <a:srgbClr val="111827"/>
                </a:solidFill>
                <a:latin typeface="Arial" pitchFamily="34" charset="0"/>
                <a:ea typeface="Arial" pitchFamily="34" charset="-122"/>
                <a:cs typeface="Arial" pitchFamily="34" charset="-120"/>
              </a:rPr>
              <a:t>$16.66</a:t>
            </a:r>
            <a:endParaRPr lang="en-US" sz="1000" dirty="0"/>
          </a:p>
        </p:txBody>
      </p:sp>
      <p:sp>
        <p:nvSpPr>
          <p:cNvPr id="18" name="Text 15"/>
          <p:cNvSpPr/>
          <p:nvPr/>
        </p:nvSpPr>
        <p:spPr>
          <a:xfrm>
            <a:off x="7603827" y="2263872"/>
            <a:ext cx="731520" cy="237744"/>
          </a:xfrm>
          <a:prstGeom prst="rect">
            <a:avLst/>
          </a:prstGeom>
          <a:noFill/>
          <a:ln/>
        </p:spPr>
        <p:txBody>
          <a:bodyPr wrap="square" lIns="0" tIns="0" rIns="0" bIns="0" rtlCol="0" anchor="t"/>
          <a:lstStyle/>
          <a:p>
            <a:pPr indent="0" marL="0">
              <a:buNone/>
            </a:pPr>
            <a:r>
              <a:rPr lang="en-US" sz="1000" dirty="0">
                <a:solidFill>
                  <a:srgbClr val="111827"/>
                </a:solidFill>
                <a:latin typeface="Arial" pitchFamily="34" charset="0"/>
                <a:ea typeface="Arial" pitchFamily="34" charset="-122"/>
                <a:cs typeface="Arial" pitchFamily="34" charset="-120"/>
              </a:rPr>
              <a:t>$21.68</a:t>
            </a:r>
            <a:endParaRPr lang="en-US" sz="1000" dirty="0"/>
          </a:p>
        </p:txBody>
      </p:sp>
      <p:sp>
        <p:nvSpPr>
          <p:cNvPr id="19" name="Shape 16"/>
          <p:cNvSpPr/>
          <p:nvPr/>
        </p:nvSpPr>
        <p:spPr>
          <a:xfrm>
            <a:off x="9045988" y="1984248"/>
            <a:ext cx="0" cy="3381451"/>
          </a:xfrm>
          <a:prstGeom prst="line">
            <a:avLst/>
          </a:prstGeom>
          <a:noFill/>
          <a:ln w="22225">
            <a:solidFill>
              <a:srgbClr val="8A6A00"/>
            </a:solidFill>
            <a:prstDash val="dash"/>
          </a:ln>
        </p:spPr>
      </p:sp>
      <p:sp>
        <p:nvSpPr>
          <p:cNvPr id="20" name="Text 17"/>
          <p:cNvSpPr/>
          <p:nvPr/>
        </p:nvSpPr>
        <p:spPr>
          <a:xfrm>
            <a:off x="8040148" y="1627632"/>
            <a:ext cx="2011680" cy="274320"/>
          </a:xfrm>
          <a:prstGeom prst="rect">
            <a:avLst/>
          </a:prstGeom>
          <a:noFill/>
          <a:ln/>
        </p:spPr>
        <p:txBody>
          <a:bodyPr wrap="square" lIns="0" tIns="0" rIns="0" bIns="0" rtlCol="0" anchor="t"/>
          <a:lstStyle/>
          <a:p>
            <a:pPr algn="ctr" indent="0" marL="0">
              <a:buNone/>
            </a:pPr>
            <a:r>
              <a:rPr lang="en-US" sz="1000" b="1" dirty="0">
                <a:solidFill>
                  <a:srgbClr val="8A6A00"/>
                </a:solidFill>
                <a:latin typeface="Arial" pitchFamily="34" charset="0"/>
                <a:ea typeface="Arial" pitchFamily="34" charset="-122"/>
                <a:cs typeface="Arial" pitchFamily="34" charset="-120"/>
              </a:rPr>
              <a:t>Offer $27.00</a:t>
            </a:r>
            <a:endParaRPr lang="en-US" sz="1000" dirty="0"/>
          </a:p>
        </p:txBody>
      </p:sp>
      <p:sp>
        <p:nvSpPr>
          <p:cNvPr id="21" name="Shape 18"/>
          <p:cNvSpPr/>
          <p:nvPr/>
        </p:nvSpPr>
        <p:spPr>
          <a:xfrm>
            <a:off x="7479797" y="1984248"/>
            <a:ext cx="0" cy="3381451"/>
          </a:xfrm>
          <a:prstGeom prst="line">
            <a:avLst/>
          </a:prstGeom>
          <a:noFill/>
          <a:ln w="22225">
            <a:solidFill>
              <a:srgbClr val="5B7089"/>
            </a:solidFill>
            <a:prstDash val="dash"/>
          </a:ln>
        </p:spPr>
      </p:sp>
      <p:sp>
        <p:nvSpPr>
          <p:cNvPr id="22" name="Text 19"/>
          <p:cNvSpPr/>
          <p:nvPr/>
        </p:nvSpPr>
        <p:spPr>
          <a:xfrm>
            <a:off x="6473957" y="1627632"/>
            <a:ext cx="2011680" cy="274320"/>
          </a:xfrm>
          <a:prstGeom prst="rect">
            <a:avLst/>
          </a:prstGeom>
          <a:noFill/>
          <a:ln/>
        </p:spPr>
        <p:txBody>
          <a:bodyPr wrap="square" lIns="0" tIns="0" rIns="0" bIns="0" rtlCol="0" anchor="t"/>
          <a:lstStyle/>
          <a:p>
            <a:pPr algn="ctr" indent="0" marL="0">
              <a:buNone/>
            </a:pPr>
            <a:r>
              <a:rPr lang="en-US" sz="1000" b="1" dirty="0">
                <a:solidFill>
                  <a:srgbClr val="5B7089"/>
                </a:solidFill>
                <a:latin typeface="Arial" pitchFamily="34" charset="0"/>
                <a:ea typeface="Arial" pitchFamily="34" charset="-122"/>
                <a:cs typeface="Arial" pitchFamily="34" charset="-120"/>
              </a:rPr>
              <a:t>Unaffected $21.40</a:t>
            </a:r>
            <a:endParaRPr lang="en-US" sz="1000" dirty="0"/>
          </a:p>
        </p:txBody>
      </p:sp>
      <p:sp>
        <p:nvSpPr>
          <p:cNvPr id="23"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r>
              <a:rPr lang="en-US" sz="850" dirty="0">
                <a:solidFill>
                  <a:srgbClr val="5B7089"/>
                </a:solidFill>
                <a:latin typeface="Arial" pitchFamily="34" charset="0"/>
                <a:ea typeface="Arial" pitchFamily="34" charset="-122"/>
                <a:cs typeface="Arial" pitchFamily="34" charset="-120"/>
              </a:rPr>
              <a:t>1 Situation   ·   </a:t>
            </a:r>
            <a:pPr indent="0" marL="0">
              <a:buNone/>
            </a:pPr>
            <a:r>
              <a:rPr lang="en-US" sz="850" dirty="0">
                <a:solidFill>
                  <a:srgbClr val="5B7089"/>
                </a:solidFill>
                <a:latin typeface="Arial" pitchFamily="34" charset="0"/>
                <a:ea typeface="Arial" pitchFamily="34" charset="-122"/>
                <a:cs typeface="Arial" pitchFamily="34" charset="-120"/>
              </a:rPr>
              <a:t>2 Valuation   ·   </a:t>
            </a:r>
            <a:pPr indent="0" marL="0">
              <a:buNone/>
            </a:pPr>
            <a:r>
              <a:rPr lang="en-US" sz="850" b="1" dirty="0">
                <a:solidFill>
                  <a:srgbClr val="0B2545"/>
                </a:solidFill>
                <a:latin typeface="Arial" pitchFamily="34" charset="0"/>
                <a:ea typeface="Arial" pitchFamily="34" charset="-122"/>
                <a:cs typeface="Arial" pitchFamily="34" charset="-120"/>
              </a:rPr>
              <a:t>3 Analyses</a:t>
            </a: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The smallest premium is to the 2025 high: the $27.00 offer is 24.5% above it</a:t>
            </a:r>
            <a:endParaRPr lang="en-US" sz="2000" dirty="0"/>
          </a:p>
        </p:txBody>
      </p:sp>
      <p:sp>
        <p:nvSpPr>
          <p:cNvPr id="4" name="Text 2"/>
          <p:cNvSpPr/>
          <p:nvPr/>
        </p:nvSpPr>
        <p:spPr>
          <a:xfrm>
            <a:off x="457200" y="1298448"/>
            <a:ext cx="11277295" cy="256032"/>
          </a:xfrm>
          <a:prstGeom prst="rect">
            <a:avLst/>
          </a:prstGeom>
          <a:noFill/>
          <a:ln/>
        </p:spPr>
        <p:txBody>
          <a:bodyPr wrap="square" lIns="0" tIns="0" rIns="0" bIns="0" rtlCol="0" anchor="t"/>
          <a:lstStyle/>
          <a:p>
            <a:pPr indent="0" marL="0">
              <a:buNone/>
            </a:pPr>
            <a:r>
              <a:rPr lang="en-US" sz="1000" i="1" dirty="0">
                <a:solidFill>
                  <a:srgbClr val="5B7089"/>
                </a:solidFill>
                <a:latin typeface="Arial" pitchFamily="34" charset="0"/>
                <a:ea typeface="Arial" pitchFamily="34" charset="-122"/>
                <a:cs typeface="Arial" pitchFamily="34" charset="-120"/>
              </a:rPr>
              <a:t>(Premium implied by the $27.00 offer, %)</a:t>
            </a:r>
            <a:endParaRPr lang="en-US" sz="1000" dirty="0"/>
          </a:p>
        </p:txBody>
      </p:sp>
      <p:sp>
        <p:nvSpPr>
          <p:cNvPr id="5"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Source: Company capitalization table; daily closing prices, calendar 2025</a:t>
            </a:r>
            <a:endParaRPr lang="en-US" sz="750" dirty="0"/>
          </a:p>
        </p:txBody>
      </p:sp>
      <p:sp>
        <p:nvSpPr>
          <p:cNvPr id="6" name="Text 4"/>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graphicFrame>
        <p:nvGraphicFramePr>
          <p:cNvPr id="7" name="Chart 0" descr="The smallest premium is to the 2025 high: the $27.00 offer is 24.5% above it"/>
          <p:cNvGraphicFramePr/>
          <p:nvPr/>
        </p:nvGraphicFramePr>
        <p:xfrm>
          <a:off x="457200" y="1645920"/>
          <a:ext cx="11277295" cy="4251960"/>
        </p:xfrm>
        <a:graphic xmlns:a="http://schemas.openxmlformats.org/drawingml/2006/main">
          <a:graphicData uri="http://schemas.openxmlformats.org/drawingml/2006/chart">
            <c:chart xmlns:c="http://schemas.openxmlformats.org/drawingml/2006/chart" r:id="rId1"/>
          </a:graphicData>
        </a:graphic>
      </p:graphicFrame>
      <p:sp>
        <p:nvSpPr>
          <p:cNvPr id="8"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r>
              <a:rPr lang="en-US" sz="850" dirty="0">
                <a:solidFill>
                  <a:srgbClr val="5B7089"/>
                </a:solidFill>
                <a:latin typeface="Arial" pitchFamily="34" charset="0"/>
                <a:ea typeface="Arial" pitchFamily="34" charset="-122"/>
                <a:cs typeface="Arial" pitchFamily="34" charset="-120"/>
              </a:rPr>
              <a:t>1 Situation   ·   </a:t>
            </a:r>
            <a:pPr indent="0" marL="0">
              <a:buNone/>
            </a:pPr>
            <a:r>
              <a:rPr lang="en-US" sz="850" dirty="0">
                <a:solidFill>
                  <a:srgbClr val="5B7089"/>
                </a:solidFill>
                <a:latin typeface="Arial" pitchFamily="34" charset="0"/>
                <a:ea typeface="Arial" pitchFamily="34" charset="-122"/>
                <a:cs typeface="Arial" pitchFamily="34" charset="-120"/>
              </a:rPr>
              <a:t>2 Valuation   ·   </a:t>
            </a:r>
            <a:pPr indent="0" marL="0">
              <a:buNone/>
            </a:pPr>
            <a:r>
              <a:rPr lang="en-US" sz="850" b="1" dirty="0">
                <a:solidFill>
                  <a:srgbClr val="0B2545"/>
                </a:solidFill>
                <a:latin typeface="Arial" pitchFamily="34" charset="0"/>
                <a:ea typeface="Arial" pitchFamily="34" charset="-122"/>
                <a:cs typeface="Arial" pitchFamily="34" charset="-120"/>
              </a:rPr>
              <a:t>3 Analyses</a:t>
            </a: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Trading comps: the offer values Corvane at 12.5x LTM EBITDA against a 10.0x peer median</a:t>
            </a:r>
            <a:endParaRPr lang="en-US" sz="2000" dirty="0"/>
          </a:p>
        </p:txBody>
      </p:sp>
      <p:sp>
        <p:nvSpPr>
          <p:cNvPr id="4" name="Text 2"/>
          <p:cNvSpPr/>
          <p:nvPr/>
        </p:nvSpPr>
        <p:spPr>
          <a:xfrm>
            <a:off x="457200" y="1298448"/>
            <a:ext cx="11277295" cy="256032"/>
          </a:xfrm>
          <a:prstGeom prst="rect">
            <a:avLst/>
          </a:prstGeom>
          <a:noFill/>
          <a:ln/>
        </p:spPr>
        <p:txBody>
          <a:bodyPr wrap="square" lIns="0" tIns="0" rIns="0" bIns="0" rtlCol="0" anchor="t"/>
          <a:lstStyle/>
          <a:p>
            <a:pPr indent="0" marL="0">
              <a:buNone/>
            </a:pPr>
            <a:r>
              <a:rPr lang="en-US" sz="1000" i="1" dirty="0">
                <a:solidFill>
                  <a:srgbClr val="5B7089"/>
                </a:solidFill>
                <a:latin typeface="Arial" pitchFamily="34" charset="0"/>
                <a:ea typeface="Arial" pitchFamily="34" charset="-122"/>
                <a:cs typeface="Arial" pitchFamily="34" charset="-120"/>
              </a:rPr>
              <a:t>($ in millions)</a:t>
            </a:r>
            <a:endParaRPr lang="en-US" sz="1000" dirty="0"/>
          </a:p>
        </p:txBody>
      </p:sp>
      <p:sp>
        <p:nvSpPr>
          <p:cNvPr id="5"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Source: Peer company filings; company capitalization table; management projections (June 2026)</a:t>
            </a:r>
            <a:endParaRPr lang="en-US" sz="750" dirty="0"/>
          </a:p>
        </p:txBody>
      </p:sp>
      <p:sp>
        <p:nvSpPr>
          <p:cNvPr id="6" name="Text 4"/>
          <p:cNvSpPr/>
          <p:nvPr/>
        </p:nvSpPr>
        <p:spPr>
          <a:xfrm>
            <a:off x="457200" y="5943600"/>
            <a:ext cx="10454335" cy="41148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(1) NTM EBITDA for Corvane is management's FY26E.</a:t>
            </a:r>
            <a:endParaRPr lang="en-US" sz="750" dirty="0"/>
          </a:p>
        </p:txBody>
      </p:sp>
      <p:sp>
        <p:nvSpPr>
          <p:cNvPr id="7" name="Text 5"/>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7295" cy="914400"/>
        </p:xfrm>
        <a:graphic>
          <a:graphicData uri="http://schemas.openxmlformats.org/drawingml/2006/table">
            <a:tbl>
              <a:tblPr/>
              <a:tblGrid>
                <a:gridCol w="4389120"/>
                <a:gridCol w="2286000"/>
                <a:gridCol w="2286000"/>
                <a:gridCol w="2286000"/>
              </a:tblGrid>
              <a:tr h="457200">
                <a:tc>
                  <a:txBody>
                    <a:bodyPr/>
                    <a:lstStyle/>
                    <a:p>
                      <a:pPr algn="l" indent="0" marL="0">
                        <a:buNone/>
                      </a:pPr>
                      <a:r>
                        <a:rPr lang="en-US" sz="1100" b="1" dirty="0">
                          <a:solidFill>
                            <a:srgbClr val="5B7089"/>
                          </a:solidFill>
                          <a:latin typeface="Arial" pitchFamily="34" charset="0"/>
                          <a:ea typeface="Arial" pitchFamily="34" charset="-122"/>
                          <a:cs typeface="Arial" pitchFamily="34" charset="-120"/>
                        </a:rPr>
                        <a:t>Company</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Enterprise value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EV / LTM EBITDA</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EV / NTM EBITDA</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Peer Aster</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6,150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10.0x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9.5x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Peer Brio</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3,420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9.2x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8.7x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Peer Calder</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8,800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10.8x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10.2x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Peer Delta</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2,480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8.8x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8.4x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Peer Ember</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4,010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10.0x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9.4x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b="1" dirty="0">
                          <a:solidFill>
                            <a:srgbClr val="111827"/>
                          </a:solidFill>
                          <a:latin typeface="Arial" pitchFamily="34" charset="0"/>
                          <a:ea typeface="Arial" pitchFamily="34" charset="-122"/>
                          <a:cs typeface="Arial" pitchFamily="34" charset="-120"/>
                        </a:rPr>
                        <a:t>Median</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9525" cap="flat" cmpd="sng" algn="ctr">
                      <a:solidFill>
                        <a:srgbClr val="111827"/>
                      </a:solidFill>
                      <a:prstDash val="solid"/>
                      <a:round/>
                      <a:headEnd type="none" w="med" len="med"/>
                      <a:tailEnd type="none" w="med" len="med"/>
                    </a:lnT>
                    <a:lnB w="6350" cap="flat" cmpd="sng" algn="ctr">
                      <a:solidFill>
                        <a:srgbClr val="EDF1F6"/>
                      </a:solidFill>
                      <a:prstDash val="solid"/>
                      <a:round/>
                      <a:headEnd type="none" w="med" len="med"/>
                      <a:tailEnd type="none" w="med" len="med"/>
                    </a:lnB>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4,010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9525" cap="flat" cmpd="sng" algn="ctr">
                      <a:solidFill>
                        <a:srgbClr val="111827"/>
                      </a:solidFill>
                      <a:prstDash val="solid"/>
                      <a:round/>
                      <a:headEnd type="none" w="med" len="med"/>
                      <a:tailEnd type="none" w="med" len="med"/>
                    </a:lnT>
                    <a:lnB w="6350" cap="flat" cmpd="sng" algn="ctr">
                      <a:solidFill>
                        <a:srgbClr val="EDF1F6"/>
                      </a:solidFill>
                      <a:prstDash val="solid"/>
                      <a:round/>
                      <a:headEnd type="none" w="med" len="med"/>
                      <a:tailEnd type="none" w="med" len="med"/>
                    </a:lnB>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10.0x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9525" cap="flat" cmpd="sng" algn="ctr">
                      <a:solidFill>
                        <a:srgbClr val="111827"/>
                      </a:solidFill>
                      <a:prstDash val="solid"/>
                      <a:round/>
                      <a:headEnd type="none" w="med" len="med"/>
                      <a:tailEnd type="none" w="med" len="med"/>
                    </a:lnT>
                    <a:lnB w="6350" cap="flat" cmpd="sng" algn="ctr">
                      <a:solidFill>
                        <a:srgbClr val="EDF1F6"/>
                      </a:solidFill>
                      <a:prstDash val="solid"/>
                      <a:round/>
                      <a:headEnd type="none" w="med" len="med"/>
                      <a:tailEnd type="none" w="med" len="med"/>
                    </a:lnB>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9.4x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9525" cap="flat" cmpd="sng" algn="ctr">
                      <a:solidFill>
                        <a:srgbClr val="111827"/>
                      </a:solidFill>
                      <a:prstDash val="solid"/>
                      <a:round/>
                      <a:headEnd type="none" w="med" len="med"/>
                      <a:tailEnd type="none" w="med" len="med"/>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b="1" dirty="0">
                          <a:solidFill>
                            <a:srgbClr val="111827"/>
                          </a:solidFill>
                          <a:latin typeface="Arial" pitchFamily="34" charset="0"/>
                          <a:ea typeface="Arial" pitchFamily="34" charset="-122"/>
                          <a:cs typeface="Arial" pitchFamily="34" charset="-120"/>
                        </a:rPr>
                        <a:t>Corvane at offer (1)</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3,885</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12.5x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11.7x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r>
            </a:tbl>
          </a:graphicData>
        </a:graphic>
      </p:graphicFrame>
      <p:sp>
        <p:nvSpPr>
          <p:cNvPr id="9"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r>
              <a:rPr lang="en-US" sz="850" dirty="0">
                <a:solidFill>
                  <a:srgbClr val="5B7089"/>
                </a:solidFill>
                <a:latin typeface="Arial" pitchFamily="34" charset="0"/>
                <a:ea typeface="Arial" pitchFamily="34" charset="-122"/>
                <a:cs typeface="Arial" pitchFamily="34" charset="-120"/>
              </a:rPr>
              <a:t>1 Situation   ·   </a:t>
            </a:r>
            <a:pPr indent="0" marL="0">
              <a:buNone/>
            </a:pPr>
            <a:r>
              <a:rPr lang="en-US" sz="850" dirty="0">
                <a:solidFill>
                  <a:srgbClr val="5B7089"/>
                </a:solidFill>
                <a:latin typeface="Arial" pitchFamily="34" charset="0"/>
                <a:ea typeface="Arial" pitchFamily="34" charset="-122"/>
                <a:cs typeface="Arial" pitchFamily="34" charset="-120"/>
              </a:rPr>
              <a:t>2 Valuation   ·   </a:t>
            </a:r>
            <a:pPr indent="0" marL="0">
              <a:buNone/>
            </a:pPr>
            <a:r>
              <a:rPr lang="en-US" sz="850" b="1" dirty="0">
                <a:solidFill>
                  <a:srgbClr val="0B2545"/>
                </a:solidFill>
                <a:latin typeface="Arial" pitchFamily="34" charset="0"/>
                <a:ea typeface="Arial" pitchFamily="34" charset="-122"/>
                <a:cs typeface="Arial" pitchFamily="34" charset="-120"/>
              </a:rPr>
              <a:t>3 Analyses</a:t>
            </a: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Precedents: the offer's 12.5x LTM EBITDA compares with a 10.9x transaction median</a:t>
            </a:r>
            <a:endParaRPr lang="en-US" sz="2000" dirty="0"/>
          </a:p>
        </p:txBody>
      </p:sp>
      <p:sp>
        <p:nvSpPr>
          <p:cNvPr id="4" name="Text 2"/>
          <p:cNvSpPr/>
          <p:nvPr/>
        </p:nvSpPr>
        <p:spPr>
          <a:xfrm>
            <a:off x="457200" y="1298448"/>
            <a:ext cx="11277295" cy="256032"/>
          </a:xfrm>
          <a:prstGeom prst="rect">
            <a:avLst/>
          </a:prstGeom>
          <a:noFill/>
          <a:ln/>
        </p:spPr>
        <p:txBody>
          <a:bodyPr wrap="square" lIns="0" tIns="0" rIns="0" bIns="0" rtlCol="0" anchor="t"/>
          <a:lstStyle/>
          <a:p>
            <a:pPr indent="0" marL="0">
              <a:buNone/>
            </a:pPr>
            <a:r>
              <a:rPr lang="en-US" sz="1000" i="1" dirty="0">
                <a:solidFill>
                  <a:srgbClr val="5B7089"/>
                </a:solidFill>
                <a:latin typeface="Arial" pitchFamily="34" charset="0"/>
                <a:ea typeface="Arial" pitchFamily="34" charset="-122"/>
                <a:cs typeface="Arial" pitchFamily="34" charset="-120"/>
              </a:rPr>
              <a:t>($ in millions)</a:t>
            </a:r>
            <a:endParaRPr lang="en-US" sz="1000" dirty="0"/>
          </a:p>
        </p:txBody>
      </p:sp>
      <p:sp>
        <p:nvSpPr>
          <p:cNvPr id="5"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Source: Precedent transaction announcements; company capitalization table</a:t>
            </a:r>
            <a:endParaRPr lang="en-US" sz="750" dirty="0"/>
          </a:p>
        </p:txBody>
      </p:sp>
      <p:sp>
        <p:nvSpPr>
          <p:cNvPr id="6" name="Text 4"/>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7295" cy="914400"/>
        </p:xfrm>
        <a:graphic>
          <a:graphicData uri="http://schemas.openxmlformats.org/drawingml/2006/table">
            <a:tbl>
              <a:tblPr/>
              <a:tblGrid>
                <a:gridCol w="1463040"/>
                <a:gridCol w="2560320"/>
                <a:gridCol w="2560320"/>
                <a:gridCol w="2286000"/>
                <a:gridCol w="2377440"/>
              </a:tblGrid>
              <a:tr h="457200">
                <a:tc>
                  <a:txBody>
                    <a:bodyPr/>
                    <a:lstStyle/>
                    <a:p>
                      <a:pPr algn="l" indent="0" marL="0">
                        <a:buNone/>
                      </a:pPr>
                      <a:r>
                        <a:rPr lang="en-US" sz="1100" b="1" dirty="0">
                          <a:solidFill>
                            <a:srgbClr val="5B7089"/>
                          </a:solidFill>
                          <a:latin typeface="Arial" pitchFamily="34" charset="0"/>
                          <a:ea typeface="Arial" pitchFamily="34" charset="-122"/>
                          <a:cs typeface="Arial" pitchFamily="34" charset="-120"/>
                        </a:rPr>
                        <a:t>Date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l" indent="0" marL="0">
                        <a:buNone/>
                      </a:pPr>
                      <a:r>
                        <a:rPr lang="en-US" sz="1100" b="1" dirty="0">
                          <a:solidFill>
                            <a:srgbClr val="5B7089"/>
                          </a:solidFill>
                          <a:latin typeface="Arial" pitchFamily="34" charset="0"/>
                          <a:ea typeface="Arial" pitchFamily="34" charset="-122"/>
                          <a:cs typeface="Arial" pitchFamily="34" charset="-120"/>
                        </a:rPr>
                        <a:t>Target</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l" indent="0" marL="0">
                        <a:buNone/>
                      </a:pPr>
                      <a:r>
                        <a:rPr lang="en-US" sz="1100" b="1" dirty="0">
                          <a:solidFill>
                            <a:srgbClr val="5B7089"/>
                          </a:solidFill>
                          <a:latin typeface="Arial" pitchFamily="34" charset="0"/>
                          <a:ea typeface="Arial" pitchFamily="34" charset="-122"/>
                          <a:cs typeface="Arial" pitchFamily="34" charset="-120"/>
                        </a:rPr>
                        <a:t>Acquirer</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Enterprise value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EV / LTM EBITDA</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Mar 2023</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Target Alpha</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Sponsor 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2,900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9.8x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Jun 2024</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Target Beta</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Strategic F</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5,100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11.9x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Jan 2025</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Target Gamma</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Sponsor G</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1,800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9.1x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Nov 2025</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Target Omega</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Strategic H</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6,400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12.2x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9525" cap="flat" cmpd="sng" algn="ctr">
                      <a:solidFill>
                        <a:srgbClr val="111827"/>
                      </a:solidFill>
                      <a:prstDash val="solid"/>
                      <a:round/>
                      <a:headEnd type="none" w="med" len="med"/>
                      <a:tailEnd type="none" w="med" len="med"/>
                    </a:lnT>
                    <a:lnB w="6350" cap="flat" cmpd="sng" algn="ctr">
                      <a:solidFill>
                        <a:srgbClr val="EDF1F6"/>
                      </a:solidFill>
                      <a:prstDash val="solid"/>
                      <a:round/>
                      <a:headEnd type="none" w="med" len="med"/>
                      <a:tailEnd type="none" w="med" len="med"/>
                    </a:lnB>
                  </a:tcPr>
                </a:tc>
                <a:tc>
                  <a:txBody>
                    <a:bodyPr/>
                    <a:lstStyle/>
                    <a:p>
                      <a:pPr algn="l" indent="0" marL="0">
                        <a:buNone/>
                      </a:pPr>
                      <a:r>
                        <a:rPr lang="en-US" sz="1100" b="1" dirty="0">
                          <a:solidFill>
                            <a:srgbClr val="111827"/>
                          </a:solidFill>
                          <a:latin typeface="Arial" pitchFamily="34" charset="0"/>
                          <a:ea typeface="Arial" pitchFamily="34" charset="-122"/>
                          <a:cs typeface="Arial" pitchFamily="34" charset="-120"/>
                        </a:rPr>
                        <a:t>Median</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9525" cap="flat" cmpd="sng" algn="ctr">
                      <a:solidFill>
                        <a:srgbClr val="111827"/>
                      </a:solidFill>
                      <a:prstDash val="solid"/>
                      <a:round/>
                      <a:headEnd type="none" w="med" len="med"/>
                      <a:tailEnd type="none" w="med" len="med"/>
                    </a:lnT>
                    <a:lnB w="6350" cap="flat" cmpd="sng" algn="ctr">
                      <a:solidFill>
                        <a:srgbClr val="EDF1F6"/>
                      </a:solidFill>
                      <a:prstDash val="solid"/>
                      <a:round/>
                      <a:headEnd type="none" w="med" len="med"/>
                      <a:tailEnd type="none" w="med" len="med"/>
                    </a:lnB>
                  </a:tcPr>
                </a:tc>
                <a:tc>
                  <a:txBody>
                    <a:bodyPr/>
                    <a:lstStyle/>
                    <a:p>
                      <a:pPr algn="l" indent="0" marL="0">
                        <a:buNone/>
                      </a:pP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9525" cap="flat" cmpd="sng" algn="ctr">
                      <a:solidFill>
                        <a:srgbClr val="111827"/>
                      </a:solidFill>
                      <a:prstDash val="solid"/>
                      <a:round/>
                      <a:headEnd type="none" w="med" len="med"/>
                      <a:tailEnd type="none" w="med" len="med"/>
                    </a:lnT>
                    <a:lnB w="6350" cap="flat" cmpd="sng" algn="ctr">
                      <a:solidFill>
                        <a:srgbClr val="EDF1F6"/>
                      </a:solidFill>
                      <a:prstDash val="solid"/>
                      <a:round/>
                      <a:headEnd type="none" w="med" len="med"/>
                      <a:tailEnd type="none" w="med" len="med"/>
                    </a:lnB>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4,000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9525" cap="flat" cmpd="sng" algn="ctr">
                      <a:solidFill>
                        <a:srgbClr val="111827"/>
                      </a:solidFill>
                      <a:prstDash val="solid"/>
                      <a:round/>
                      <a:headEnd type="none" w="med" len="med"/>
                      <a:tailEnd type="none" w="med" len="med"/>
                    </a:lnT>
                    <a:lnB w="6350" cap="flat" cmpd="sng" algn="ctr">
                      <a:solidFill>
                        <a:srgbClr val="EDF1F6"/>
                      </a:solidFill>
                      <a:prstDash val="solid"/>
                      <a:round/>
                      <a:headEnd type="none" w="med" len="med"/>
                      <a:tailEnd type="none" w="med" len="med"/>
                    </a:lnB>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10.9x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9525" cap="flat" cmpd="sng" algn="ctr">
                      <a:solidFill>
                        <a:srgbClr val="111827"/>
                      </a:solidFill>
                      <a:prstDash val="solid"/>
                      <a:round/>
                      <a:headEnd type="none" w="med" len="med"/>
                      <a:tailEnd type="none" w="med" len="med"/>
                    </a:lnT>
                    <a:lnB w="6350" cap="flat" cmpd="sng" algn="ctr">
                      <a:solidFill>
                        <a:srgbClr val="EDF1F6"/>
                      </a:solidFill>
                      <a:prstDash val="solid"/>
                      <a:round/>
                      <a:headEnd type="none" w="med" len="med"/>
                      <a:tailEnd type="none" w="med" len="med"/>
                    </a:lnB>
                  </a:tcPr>
                </a:tc>
              </a:tr>
              <a:tr h="457200">
                <a:tc>
                  <a:txBody>
                    <a:bodyPr/>
                    <a:lstStyle/>
                    <a:p>
                      <a:pPr algn="l" indent="0" marL="0">
                        <a:buNone/>
                      </a:pP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l" indent="0" marL="0">
                        <a:buNone/>
                      </a:pPr>
                      <a:r>
                        <a:rPr lang="en-US" sz="1100" b="1" dirty="0">
                          <a:solidFill>
                            <a:srgbClr val="111827"/>
                          </a:solidFill>
                          <a:latin typeface="Arial" pitchFamily="34" charset="0"/>
                          <a:ea typeface="Arial" pitchFamily="34" charset="-122"/>
                          <a:cs typeface="Arial" pitchFamily="34" charset="-120"/>
                        </a:rPr>
                        <a:t>Corvane at offer</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l" indent="0" marL="0">
                        <a:buNone/>
                      </a:pP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3,885</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12.5x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r>
            </a:tbl>
          </a:graphicData>
        </a:graphic>
      </p:graphicFrame>
      <p:sp>
        <p:nvSpPr>
          <p:cNvPr id="8"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r>
              <a:rPr lang="en-US" sz="850" dirty="0">
                <a:solidFill>
                  <a:srgbClr val="5B7089"/>
                </a:solidFill>
                <a:latin typeface="Arial" pitchFamily="34" charset="0"/>
                <a:ea typeface="Arial" pitchFamily="34" charset="-122"/>
                <a:cs typeface="Arial" pitchFamily="34" charset="-120"/>
              </a:rPr>
              <a:t>1 Situation   ·   </a:t>
            </a:r>
            <a:pPr indent="0" marL="0">
              <a:buNone/>
            </a:pPr>
            <a:r>
              <a:rPr lang="en-US" sz="850" dirty="0">
                <a:solidFill>
                  <a:srgbClr val="5B7089"/>
                </a:solidFill>
                <a:latin typeface="Arial" pitchFamily="34" charset="0"/>
                <a:ea typeface="Arial" pitchFamily="34" charset="-122"/>
                <a:cs typeface="Arial" pitchFamily="34" charset="-120"/>
              </a:rPr>
              <a:t>2 Valuation   ·   </a:t>
            </a:r>
            <a:pPr indent="0" marL="0">
              <a:buNone/>
            </a:pPr>
            <a:r>
              <a:rPr lang="en-US" sz="850" b="1" dirty="0">
                <a:solidFill>
                  <a:srgbClr val="0B2545"/>
                </a:solidFill>
                <a:latin typeface="Arial" pitchFamily="34" charset="0"/>
                <a:ea typeface="Arial" pitchFamily="34" charset="-122"/>
                <a:cs typeface="Arial" pitchFamily="34" charset="-120"/>
              </a:rPr>
              <a:t>3 Analyses</a:t>
            </a: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DCF: 2 of 15 cases reach the $27.00 offer; the base case is $23.69</a:t>
            </a:r>
            <a:endParaRPr lang="en-US" sz="2000" dirty="0"/>
          </a:p>
        </p:txBody>
      </p:sp>
      <p:sp>
        <p:nvSpPr>
          <p:cNvPr id="4" name="Text 2"/>
          <p:cNvSpPr/>
          <p:nvPr/>
        </p:nvSpPr>
        <p:spPr>
          <a:xfrm>
            <a:off x="457200" y="1298448"/>
            <a:ext cx="11277295" cy="256032"/>
          </a:xfrm>
          <a:prstGeom prst="rect">
            <a:avLst/>
          </a:prstGeom>
          <a:noFill/>
          <a:ln/>
        </p:spPr>
        <p:txBody>
          <a:bodyPr wrap="square" lIns="0" tIns="0" rIns="0" bIns="0" rtlCol="0" anchor="t"/>
          <a:lstStyle/>
          <a:p>
            <a:pPr indent="0" marL="0">
              <a:buNone/>
            </a:pPr>
            <a:r>
              <a:rPr lang="en-US" sz="1000" i="1" dirty="0">
                <a:solidFill>
                  <a:srgbClr val="5B7089"/>
                </a:solidFill>
                <a:latin typeface="Arial" pitchFamily="34" charset="0"/>
                <a:ea typeface="Arial" pitchFamily="34" charset="-122"/>
                <a:cs typeface="Arial" pitchFamily="34" charset="-120"/>
              </a:rPr>
              <a:t>(Implied value per share, $) (1)</a:t>
            </a:r>
            <a:endParaRPr lang="en-US" sz="1000" dirty="0"/>
          </a:p>
        </p:txBody>
      </p:sp>
      <p:sp>
        <p:nvSpPr>
          <p:cNvPr id="5"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Source: Management projections (June 2026); management WACC and growth ranges</a:t>
            </a:r>
            <a:endParaRPr lang="en-US" sz="750" dirty="0"/>
          </a:p>
        </p:txBody>
      </p:sp>
      <p:sp>
        <p:nvSpPr>
          <p:cNvPr id="6" name="Text 4"/>
          <p:cNvSpPr/>
          <p:nvPr/>
        </p:nvSpPr>
        <p:spPr>
          <a:xfrm>
            <a:off x="457200" y="5943600"/>
            <a:ext cx="10454335" cy="41148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(1) Unlevered FCF FY26E–FY30E; Gordon-growth terminal value; discounted to the start of FY26 with no stub-period adjustment.</a:t>
            </a:r>
            <a:endParaRPr lang="en-US" sz="750" dirty="0"/>
          </a:p>
        </p:txBody>
      </p:sp>
      <p:sp>
        <p:nvSpPr>
          <p:cNvPr id="7" name="Text 5"/>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6991923" cy="914400"/>
        </p:xfrm>
        <a:graphic>
          <a:graphicData uri="http://schemas.openxmlformats.org/drawingml/2006/table">
            <a:tbl>
              <a:tblPr/>
              <a:tblGrid>
                <a:gridCol w="1554480"/>
                <a:gridCol w="1812481"/>
                <a:gridCol w="1812481"/>
                <a:gridCol w="1812481"/>
              </a:tblGrid>
              <a:tr h="640080">
                <a:tc>
                  <a:txBody>
                    <a:bodyPr/>
                    <a:lstStyle/>
                    <a:p>
                      <a:pPr indent="0" marL="0">
                        <a:buNone/>
                      </a:pPr>
                      <a:r>
                        <a:rPr lang="en-US" sz="1100" b="1" dirty="0">
                          <a:solidFill>
                            <a:srgbClr val="5B7089"/>
                          </a:solidFill>
                          <a:latin typeface="Arial" pitchFamily="34" charset="0"/>
                          <a:ea typeface="Arial" pitchFamily="34" charset="-122"/>
                          <a:cs typeface="Arial" pitchFamily="34" charset="-120"/>
                        </a:rPr>
                        <a:t>WACC \ TGR</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2.0%</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2.5%</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3.0%</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640080">
                <a:tc>
                  <a:txBody>
                    <a:bodyPr/>
                    <a:lstStyle/>
                    <a:p>
                      <a:pPr indent="0" marL="0">
                        <a:buNone/>
                      </a:pPr>
                      <a:r>
                        <a:rPr lang="en-US" sz="1100" b="1" dirty="0">
                          <a:solidFill>
                            <a:srgbClr val="111827"/>
                          </a:solidFill>
                          <a:latin typeface="Arial" pitchFamily="34" charset="0"/>
                          <a:ea typeface="Arial" pitchFamily="34" charset="-122"/>
                          <a:cs typeface="Arial" pitchFamily="34" charset="-120"/>
                        </a:rPr>
                        <a:t>8.00%</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$24.23</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1F6"/>
                    </a:solidFill>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$26.59</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1F6"/>
                    </a:solidFill>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$29.41</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5EEDC"/>
                    </a:solidFill>
                  </a:tcPr>
                </a:tc>
              </a:tr>
              <a:tr h="640080">
                <a:tc>
                  <a:txBody>
                    <a:bodyPr/>
                    <a:lstStyle/>
                    <a:p>
                      <a:pPr indent="0" marL="0">
                        <a:buNone/>
                      </a:pPr>
                      <a:r>
                        <a:rPr lang="en-US" sz="1100" b="1" dirty="0">
                          <a:solidFill>
                            <a:srgbClr val="111827"/>
                          </a:solidFill>
                          <a:latin typeface="Arial" pitchFamily="34" charset="0"/>
                          <a:ea typeface="Arial" pitchFamily="34" charset="-122"/>
                          <a:cs typeface="Arial" pitchFamily="34" charset="-120"/>
                        </a:rPr>
                        <a:t>8.25%</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$22.94</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1F6"/>
                    </a:solidFill>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$25.08</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1F6"/>
                    </a:solidFill>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$27.63</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5EEDC"/>
                    </a:solidFill>
                  </a:tcPr>
                </a:tc>
              </a:tr>
              <a:tr h="640080">
                <a:tc>
                  <a:txBody>
                    <a:bodyPr/>
                    <a:lstStyle/>
                    <a:p>
                      <a:pPr indent="0" marL="0">
                        <a:buNone/>
                      </a:pPr>
                      <a:r>
                        <a:rPr lang="en-US" sz="1100" b="1" dirty="0">
                          <a:solidFill>
                            <a:srgbClr val="111827"/>
                          </a:solidFill>
                          <a:latin typeface="Arial" pitchFamily="34" charset="0"/>
                          <a:ea typeface="Arial" pitchFamily="34" charset="-122"/>
                          <a:cs typeface="Arial" pitchFamily="34" charset="-120"/>
                        </a:rPr>
                        <a:t>8.50%</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$21.74</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1F6"/>
                    </a:solidFill>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$23.69</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1F6"/>
                    </a:solidFill>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$26.00</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1F6"/>
                    </a:solidFill>
                  </a:tcPr>
                </a:tc>
              </a:tr>
              <a:tr h="640080">
                <a:tc>
                  <a:txBody>
                    <a:bodyPr/>
                    <a:lstStyle/>
                    <a:p>
                      <a:pPr indent="0" marL="0">
                        <a:buNone/>
                      </a:pPr>
                      <a:r>
                        <a:rPr lang="en-US" sz="1100" b="1" dirty="0">
                          <a:solidFill>
                            <a:srgbClr val="111827"/>
                          </a:solidFill>
                          <a:latin typeface="Arial" pitchFamily="34" charset="0"/>
                          <a:ea typeface="Arial" pitchFamily="34" charset="-122"/>
                          <a:cs typeface="Arial" pitchFamily="34" charset="-120"/>
                        </a:rPr>
                        <a:t>8.75%</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$20.63</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1F6"/>
                    </a:solidFill>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$22.42</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1F6"/>
                    </a:solidFill>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$24.52</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1F6"/>
                    </a:solidFill>
                  </a:tcPr>
                </a:tc>
              </a:tr>
              <a:tr h="640080">
                <a:tc>
                  <a:txBody>
                    <a:bodyPr/>
                    <a:lstStyle/>
                    <a:p>
                      <a:pPr indent="0" marL="0">
                        <a:buNone/>
                      </a:pPr>
                      <a:r>
                        <a:rPr lang="en-US" sz="1100" b="1" dirty="0">
                          <a:solidFill>
                            <a:srgbClr val="111827"/>
                          </a:solidFill>
                          <a:latin typeface="Arial" pitchFamily="34" charset="0"/>
                          <a:ea typeface="Arial" pitchFamily="34" charset="-122"/>
                          <a:cs typeface="Arial" pitchFamily="34" charset="-120"/>
                        </a:rPr>
                        <a:t>9.00%</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$19.60</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1F6"/>
                    </a:solidFill>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$21.24</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1F6"/>
                    </a:solidFill>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$23.16</a:t>
                      </a:r>
                      <a:endParaRPr lang="en-US" sz="110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1F6"/>
                    </a:solidFill>
                  </a:tcPr>
                </a:tc>
              </a:tr>
            </a:tbl>
          </a:graphicData>
        </a:graphic>
      </p:graphicFrame>
      <p:sp>
        <p:nvSpPr>
          <p:cNvPr id="9" name="Shape 6"/>
          <p:cNvSpPr/>
          <p:nvPr/>
        </p:nvSpPr>
        <p:spPr>
          <a:xfrm>
            <a:off x="3824161" y="3657600"/>
            <a:ext cx="1812481" cy="640080"/>
          </a:xfrm>
          <a:prstGeom prst="rect">
            <a:avLst/>
          </a:prstGeom>
          <a:ln w="25400">
            <a:solidFill>
              <a:srgbClr val="8A6A00"/>
            </a:solidFill>
            <a:prstDash val="solid"/>
          </a:ln>
        </p:spPr>
      </p:sp>
      <p:sp>
        <p:nvSpPr>
          <p:cNvPr id="10" name="Text 7"/>
          <p:cNvSpPr/>
          <p:nvPr/>
        </p:nvSpPr>
        <p:spPr>
          <a:xfrm>
            <a:off x="7906323" y="1920240"/>
            <a:ext cx="3828172" cy="3977640"/>
          </a:xfrm>
          <a:prstGeom prst="rect">
            <a:avLst/>
          </a:prstGeom>
          <a:noFill/>
          <a:ln/>
        </p:spPr>
        <p:txBody>
          <a:bodyPr wrap="square" lIns="0" tIns="0" rIns="0" bIns="0" rtlCol="0" anchor="t"/>
          <a:lstStyle/>
          <a:p>
            <a:pPr indent="0" marL="0">
              <a:buNone/>
            </a:pPr>
            <a:r>
              <a:rPr lang="en-US" sz="1100" b="1" dirty="0">
                <a:solidFill>
                  <a:srgbClr val="0B2545"/>
                </a:solidFill>
                <a:latin typeface="Arial" pitchFamily="34" charset="0"/>
                <a:ea typeface="Arial" pitchFamily="34" charset="-122"/>
                <a:cs typeface="Arial" pitchFamily="34" charset="-120"/>
              </a:rPr>
              <a:t>Base case. </a:t>
            </a:r>
            <a:pPr indent="0" marL="0">
              <a:spcAft>
                <a:spcPts val="1000"/>
              </a:spcAft>
              <a:buNone/>
            </a:pPr>
            <a:r>
              <a:rPr lang="en-US" sz="1100" dirty="0">
                <a:solidFill>
                  <a:srgbClr val="111827"/>
                </a:solidFill>
                <a:latin typeface="Arial" pitchFamily="34" charset="0"/>
                <a:ea typeface="Arial" pitchFamily="34" charset="-122"/>
                <a:cs typeface="Arial" pitchFamily="34" charset="-120"/>
              </a:rPr>
              <a:t>$23.69 at 8.5% WACC and 2.5% growth.</a:t>
            </a:r>
            <a:endParaRPr lang="en-US" sz="1100" dirty="0"/>
          </a:p>
          <a:p>
            <a:pPr indent="0" marL="0">
              <a:buNone/>
            </a:pPr>
            <a:r>
              <a:rPr lang="en-US" sz="1100" b="1" dirty="0">
                <a:solidFill>
                  <a:srgbClr val="0B2545"/>
                </a:solidFill>
                <a:latin typeface="Arial" pitchFamily="34" charset="0"/>
                <a:ea typeface="Arial" pitchFamily="34" charset="-122"/>
                <a:cs typeface="Arial" pitchFamily="34" charset="-120"/>
              </a:rPr>
              <a:t>Against the offer. </a:t>
            </a:r>
            <a:pPr indent="0" marL="0">
              <a:spcAft>
                <a:spcPts val="1000"/>
              </a:spcAft>
              <a:buNone/>
            </a:pPr>
            <a:r>
              <a:rPr lang="en-US" sz="1100" dirty="0">
                <a:solidFill>
                  <a:srgbClr val="111827"/>
                </a:solidFill>
                <a:latin typeface="Arial" pitchFamily="34" charset="0"/>
                <a:ea typeface="Arial" pitchFamily="34" charset="-122"/>
                <a:cs typeface="Arial" pitchFamily="34" charset="-120"/>
              </a:rPr>
              <a:t>2 of 15 cases reach $27.00.</a:t>
            </a:r>
            <a:endParaRPr lang="en-US" sz="1100" dirty="0"/>
          </a:p>
        </p:txBody>
      </p:sp>
      <p:sp>
        <p:nvSpPr>
          <p:cNvPr id="11"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Cobalt — discussion materials for the Special Committee</dc:title>
  <dc:subject>PptxGenJS Presentation</dc:subject>
  <dc:creator>Advisor team</dc:creator>
  <cp:lastModifiedBy>Advisor team</cp:lastModifiedBy>
  <cp:revision>1</cp:revision>
  <dcterms:created xsi:type="dcterms:W3CDTF">2026-09-24T04:33:22Z</dcterms:created>
  <dcterms:modified xsi:type="dcterms:W3CDTF">2026-09-24T04:33:22Z</dcterms:modified>
</cp:coreProperties>
</file>