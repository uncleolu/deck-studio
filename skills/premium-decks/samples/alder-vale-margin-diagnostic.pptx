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Housekeeping, % of rooms revenue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57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City</c:v>
                  </c:pt>
                  <c:pt idx="1">
                    <c:v>Resort</c:v>
                  </c:pt>
                  <c:pt idx="2">
                    <c:v>Airport</c:v>
                  </c:pt>
                  <c:pt idx="3">
                    <c:v>All hotels</c:v>
                  </c:pt>
                  <c:pt idx="4">
                    <c:v>Peer median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12.4</c:v>
                </c:pt>
                <c:pt idx="1">
                  <c:v>15.1</c:v>
                </c:pt>
                <c:pt idx="2">
                  <c:v>15.9</c:v>
                </c:pt>
                <c:pt idx="3">
                  <c:v>13.9</c:v>
                </c:pt>
                <c:pt idx="4">
                  <c:v>12.9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F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Energy, $ per room-night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&quot;$&quot;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57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City</c:v>
                  </c:pt>
                  <c:pt idx="1">
                    <c:v>Airport</c:v>
                  </c:pt>
                  <c:pt idx="2">
                    <c:v>Resort</c:v>
                  </c:pt>
                  <c:pt idx="3">
                    <c:v>All hotels</c:v>
                  </c:pt>
                  <c:pt idx="4">
                    <c:v>Peer median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</c:v>
                </c:pt>
                <c:pt idx="1">
                  <c:v>34.5</c:v>
                </c:pt>
                <c:pt idx="2">
                  <c:v>71.9</c:v>
                </c:pt>
                <c:pt idx="3">
                  <c:v>39.9</c:v>
                </c:pt>
                <c:pt idx="4">
                  <c:v>34.9</c:v>
                </c:pt>
              </c:numCache>
            </c:numRef>
          </c:val>
        </c:ser>
        <c:dLbls>
          <c:numFmt formatCode="&quot;$&quot;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F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08"/>
          <c:w val="0.96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FY25 EBITDA</c:v>
                  </c:pt>
                  <c:pt idx="1">
                    <c:v>Housekeeping to median</c:v>
                  </c:pt>
                  <c:pt idx="2">
                    <c:v>Energy to median</c:v>
                  </c:pt>
                  <c:pt idx="3">
                    <c:v>EBITDA at median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36.8</c:v>
                </c:pt>
                <c:pt idx="2">
                  <c:v>39.199999999999996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FY25 EBITDA</c:v>
                  </c:pt>
                  <c:pt idx="1">
                    <c:v>Housekeeping to median</c:v>
                  </c:pt>
                  <c:pt idx="2">
                    <c:v>Energy to median</c:v>
                  </c:pt>
                  <c:pt idx="3">
                    <c:v>EBITDA at median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36.8</c:v>
                </c:pt>
                <c:pt idx="1">
                  <c:v>0</c:v>
                </c:pt>
                <c:pt idx="2">
                  <c:v>0</c:v>
                </c:pt>
                <c:pt idx="3">
                  <c:v>41.8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8FA3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FY25 EBITDA</c:v>
                  </c:pt>
                  <c:pt idx="1">
                    <c:v>Housekeeping to median</c:v>
                  </c:pt>
                  <c:pt idx="2">
                    <c:v>Energy to median</c:v>
                  </c:pt>
                  <c:pt idx="3">
                    <c:v>EBITDA at median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2.4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5B66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FY25 EBITDA</c:v>
                  </c:pt>
                  <c:pt idx="1">
                    <c:v>Housekeeping to median</c:v>
                  </c:pt>
                  <c:pt idx="2">
                    <c:v>Energy to median</c:v>
                  </c:pt>
                  <c:pt idx="3">
                    <c:v>EBITDA at median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focus</c:v>
                </c:pt>
              </c:strCache>
            </c:strRef>
          </c:tx>
          <c:spPr>
            <a:solidFill>
              <a:srgbClr val="C257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FY25 EBITDA</c:v>
                  </c:pt>
                  <c:pt idx="1">
                    <c:v>Housekeeping to median</c:v>
                  </c:pt>
                  <c:pt idx="2">
                    <c:v>Energy to median</c:v>
                  </c:pt>
                  <c:pt idx="3">
                    <c:v>EBITDA at median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2.6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8.06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Housekeeping, % of rooms revenue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57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Peer North</c:v>
                  </c:pt>
                  <c:pt idx="1">
                    <c:v>Peer Crest</c:v>
                  </c:pt>
                  <c:pt idx="2">
                    <c:v>Peer Bay</c:v>
                  </c:pt>
                  <c:pt idx="3">
                    <c:v>Alder &amp; Vale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12.4</c:v>
                </c:pt>
                <c:pt idx="1">
                  <c:v>12.9</c:v>
                </c:pt>
                <c:pt idx="2">
                  <c:v>13.4</c:v>
                </c:pt>
                <c:pt idx="3">
                  <c:v>13.9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F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company and data. Built from samples/source/alder-vale-hotels/input via scripts/ingest.py. Data decision: the COO email gives rooms revenue as about $240M [F0002]; the FY25 summary gives $233M [F0009]. The deck uses the summary, the system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Rooms revenue $233M [F0009]; housekeeping $32.4M [F0010]; energy $20.8M [F0011]; EBITDA $36.8M [F0013]; peer medians [F0071, F0072]. calc: housekeeping 13.9% = 32.4 / 232.6 [F0010, F0009]. calc: gap $2.4M = 32.4 - 12.9% x 232.6 [F0071]. calc: room-nights 521,500 = SUM(F0019, F0024, F0029, F0034, F0039, F0044, F0049, F0054, F0059, F0064). calc: energy $39.9 per room-night = 20.8M / 521,500 [F0011]. calc: gap $2.6M = (39.9 - 34.9) x 521,500 [F0072]. calc: $5.0M = 2.4 + 2.6. calc: 15.8% = 36.8 / 232.6; 18.0% = (36.8 + 5.0) / 232.6; 2.2 pts = 18.0 - 15.8 [F0009]. calc: Airport 15.9% = SUM(F0042, F0047) / SUM(F0041, F0046) [F0008-F0064]. Board ask 2 points [F0001]. Thermostats 3 of 10 [F0005, F0006, F0008].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calc: City 12.4% = SUM(F0017, F0022, F0027, F0032, F0037) / SUM(F0016, F0021, F0026, F0031, F0036); Resort 15.1% = SUM(F0052, F0057, F0062) / SUM(F0051, F0056, F0061); Airport 15.9% = SUM(F0042, F0047) / SUM(F0041, F0046) [F0008-F0064]. Total 13.9% [F0010, F0009]; median 12.9% [F0071].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calc: City $33.3 = SUM(F0018, F0023, F0028, F0033, F0038) x 1000 / SUM(F0019, F0024, F0029, F0034, F0039); Airport $34.5 = SUM(F0043, F0048) x 1000 / SUM(F0044, F0049); Resort $71.9 = SUM(F0053, F0058, F0063) x 1000 / SUM(F0054, F0059, F0064) [F0008-F0064]. calc: room-nights 521,500 = SUM(F0019, F0024, F0029, F0034, F0039, F0044, F0049, F0054, F0059, F0064). calc: energy $39.9 per room-night = 20.8M / 521,500 [F0011]. calc: gap $2.6M = (39.9 - 34.9) x 521,500 [F0072]. calc: 5.0 = 39.9 - 34.9 [F0072]. 30% [F0004].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EBITDA $36.8M [F0013]. calc: housekeeping 13.9% = 32.4 / 232.6 [F0010, F0009]. calc: gap $2.4M = 32.4 - 12.9% x 232.6 [F0071]. calc: room-nights 521,500 = SUM(F0019, F0024, F0029, F0034, F0039, F0044, F0049, F0054, F0059, F0064). calc: energy $39.9 per room-night = 20.8M / 521,500 [F0011]. calc: gap $2.6M = (39.9 - 34.9) x 521,500 [F0072]. calc: $41.8M = 36.8 + 2.4 + 2.6; 15.8% and 18.0% on 232.6 [F0009]. calc: 2-point ask [F0001].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Interview facts: short-stay standard [F0005]; thermostats 3 of 10 and $1,100 per room [F0005, F0006, F0007].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team scoring from the interviews and the P&amp;L; there are no numbers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Phasing is the team's proposal for approval; the dates are plan dates, not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calc: 7 hotels = 10 - 3 [F0008, F0005]. calc: 1,330 rooms = SUM(F0025, F0030, F0035, F0040, F0045, F0055, F0060) (hotels without controls) [F0008-F0064]. calc: $1.5M = 1,330 x $1,100 [F0007]. Revenue figures [F0009, F0002].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Hotel rows [F0008-F0064]. calc: AV Harbourside 12.4% = 3,870 / 31,200 and $33.0 = 2,310k / 70,100 room-nights [F0008-F0064]. calc: AV Old Town 12.8% = 3,060 / 23,900 and $34.0 = 1,790k / 52,600 room-nights [F0008-F0064]. calc: AV Riverside 11.8% = 3,160 / 26,800 and $33.2 = 2,020k / 60,900 room-nights [F0008-F0064]. calc: AV Station 13.8% = 2,640 / 19,100 and $34.7 = 1,610k / 46,400 room-nights [F0008-F0064]. calc: AV Cathedral 11.5% = 2,120 / 18,400 and $31.6 = 1,350k / 42,700 room-nights [F0008-F0064]. calc: AV Airport 15.6% = 4,300 / 27,600 and $33.6 = 2,980k / 88,800 room-nights [F0008-F0064]. calc: AV Airport South 16.4% = 3,620 / 22,100 and $35.6 = 2,710k / 76,100 room-nights [F0008-F0064]. calc: AV Lakeside 15.1% = 3,230 / 21,400 and $68.8 = 1,920k / 27,900 room-nights [F0008-F0064]. calc: AV Dunes 15.4% = 3,810 / 24,800 and $74.4 = 2,350k / 31,600 room-nights [F0008-F0064]. calc: AV Pinewood 14.9% = 2,580 / 17,300 and $72.1 = 1,760k / 24,400 room-nights [F0008-F0064]. calc: 1,870 rooms = SUM(F0015, F0020, F0025, F0030, F0035, F0040, F0045, F0050, F0055, F0060) [F0008-F0064]. calc: housekeeping 13.9% = 32.4 / 232.6 [F0010, F0009]. calc: gap $2.4M = 32.4 - 12.9% x 232.6 [F0071]. calc: room-nights 521,500 = SUM(F0019, F0024, F0029, F0034, F0039, F0044, F0049, F0054, F0059, F0064). calc: energy $39.9 per room-night = 20.8M / 521,500 [F0011]. calc: gap $2.6M = (39.9 - 34.9) x 521,500 [F0072].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Peers Peer North 12.4% [F0065], Peer Crest 12.9% [F0067], Peer Bay 13.4% [F0069]. Alder &amp; Vale 13.9% [F0010, F0009].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9905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and energy can fund the board's margin target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6118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Alder &amp; Vale Hotels · diagnostic for the COO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sample · deck-studio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716975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the peer median on housekeeping and energy adds 2.2 pts of EBITDA margin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gaps are worth $5.0M a year and lift EBITDA margin from 15.8% to 18.0%, without cutting the service standard guests notice.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59152"/>
            <a:ext cx="11277295" cy="80238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32304"/>
            <a:ext cx="10911535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costs 13.9% of rooms revenue, above the 12.9% peer median: $2.4M a year.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Airport hotels run highest at 15.9%.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Every room gets a full clean daily, even on one-night stays.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71266"/>
            <a:ext cx="11277295" cy="80238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44418"/>
            <a:ext cx="10911535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costs $39.9 per room-night sold, above the $34.9 median: $2.6M a year.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Guest-room HVAC runs whether or not the room is sold.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Only 3 of 10 hotels have occupancy-linked thermostats.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83380"/>
            <a:ext cx="11277295" cy="80238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56532"/>
            <a:ext cx="10911535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 gaps add 2.2 points, more than the 2 the board asked for.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The surplus gives room to protect service scores.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095494"/>
            <a:ext cx="11277295" cy="80238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68646"/>
            <a:ext cx="10911535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light-refresh standard for short stays and thermostat retrofits.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Each acts on the largest driver of its gap.</a:t>
            </a:r>
            <a:endParaRPr lang="en-US" sz="1300" dirty="0"/>
          </a:p>
        </p:txBody>
      </p:sp>
      <p:sp>
        <p:nvSpPr>
          <p:cNvPr id="14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costs 13.9% of rooms revenue, highest in Airport hotels at 15.9%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cost, % of rooms revenue, FY25, by segment</a:t>
            </a:r>
            <a:endParaRPr lang="en-US" sz="11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Alder &amp; Vale FY25 hotel P&amp;L (hotel rows); peer benchmarks (public filings, industry survey)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graphicFrame>
        <p:nvGraphicFramePr>
          <p:cNvPr id="7" name="Chart 0" descr="Housekeeping costs 13.9% of rooms revenue, highest in Airport hotels at 15.9%"/>
          <p:cNvGraphicFramePr/>
          <p:nvPr/>
        </p:nvGraphicFramePr>
        <p:xfrm>
          <a:off x="457200" y="1645920"/>
          <a:ext cx="6991923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69163" y="1920240"/>
            <a:ext cx="3965332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stays drive it.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guests stay one night, and every room still gets a full daily clean.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would accept less.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Short-stay guests say a light refresh is enough (GM interviews).</a:t>
            </a:r>
            <a:endParaRPr lang="en-US" sz="13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costs $39.9 per room-night sold, $5.0 above the peer median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cost, $ per room-night sold, FY25, by segment</a:t>
            </a:r>
            <a:endParaRPr lang="en-US" sz="11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Alder &amp; Vale FY25 hotel P&amp;L (hotel rows); peer benchmarks; GM interview (AV Dunes), July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graphicFrame>
        <p:nvGraphicFramePr>
          <p:cNvPr id="7" name="Chart 0" descr="Energy costs $39.9 per room-night sold, $5.0 above the peer median"/>
          <p:cNvGraphicFramePr/>
          <p:nvPr/>
        </p:nvGraphicFramePr>
        <p:xfrm>
          <a:off x="457200" y="1645920"/>
          <a:ext cx="6991923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69163" y="1920240"/>
            <a:ext cx="3965332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rooms still use energy.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Unsold rooms take about 30% of guest-room energy in the low season (AV Dunes GM estimate).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 hotels pay most.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 hotels spend $71.9 a room-night, against $34.9 for the peer median.</a:t>
            </a:r>
            <a:endParaRPr lang="en-US" sz="13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both gaps lifts hotel EBITDA from $36.8M to $41.8M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EBITDA, $ millions, FY25 base</a:t>
            </a:r>
            <a:endParaRPr lang="en-US" sz="11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Alder &amp; Vale FY25 hotel P&amp;L; peer benchmarks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graphicFrame>
        <p:nvGraphicFramePr>
          <p:cNvPr id="7" name="Chart 0" descr="Closing both gaps lifts hotel EBITDA from $36.8M to $41.8M"/>
          <p:cNvGraphicFramePr/>
          <p:nvPr/>
        </p:nvGraphicFramePr>
        <p:xfrm>
          <a:off x="457200" y="1920240"/>
          <a:ext cx="7443015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06060" y="2697944"/>
            <a:ext cx="1786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$36.8M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92384" y="2540896"/>
            <a:ext cx="1786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+$2.4M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78707" y="2370761"/>
            <a:ext cx="1786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+$2.6M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65031" y="2370761"/>
            <a:ext cx="1786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$41.8M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0255" y="1920240"/>
            <a:ext cx="3514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 moves from 15.8% to 18.0%.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exceeds the board's 2-point ask.</a:t>
            </a:r>
            <a:endParaRPr lang="en-US" sz="13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levers act on how rooms are cleaned, cooled, and scheduled; two come first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General manager and engineering interviews,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77295" cy="102108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55648"/>
            <a:ext cx="10820095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refresh for short stays.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one-night rooms to a refresh standard (bed, bathroom, bins) and keep the full clean for stays of two nights or more.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95600"/>
            <a:ext cx="11277295" cy="102108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05328"/>
            <a:ext cx="10820095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Occupancy-linked thermostats.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unsold rooms to a set-back temperature. Only 3 of 10 hotels have the controls; a retrofit costs about $1,100 per room.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45280"/>
            <a:ext cx="11277295" cy="102108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55008"/>
            <a:ext cx="10820095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scheduling.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housekeeping hours from forecast departures, not from a fixed daily roster.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330952"/>
            <a:ext cx="11277295" cy="50292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33095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two levers leave what guests notice unchanged.</a:t>
            </a:r>
            <a:endParaRPr lang="en-US" sz="1300" dirty="0"/>
          </a:p>
        </p:txBody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light-refresh standard and thermostat retrofits score highest; start with both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34640" y="16459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of the gap it closes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59604" y="16459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impact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84568" y="16459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experience protected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531" y="16459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 the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11277295" cy="621792"/>
          </a:xfrm>
          <a:prstGeom prst="rect">
            <a:avLst/>
          </a:prstGeom>
          <a:solidFill>
            <a:srgbClr val="F8E9E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48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refresh for short stays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1674" y="21488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1674" y="2148840"/>
            <a:ext cx="310896" cy="310896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638" y="21488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16638" y="2148840"/>
            <a:ext cx="310896" cy="310896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1602" y="21488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1602" y="2148840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66565" y="21488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66565" y="2148840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06624"/>
            <a:ext cx="11277295" cy="621792"/>
          </a:xfrm>
          <a:prstGeom prst="rect">
            <a:avLst/>
          </a:prstGeom>
          <a:solidFill>
            <a:srgbClr val="F8E9E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862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Occupancy-linked thermostats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91674" y="286207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1674" y="286207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16638" y="286207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638" y="2862072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8241602" y="286207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1602" y="2862072"/>
            <a:ext cx="310896" cy="310896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66565" y="286207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6565" y="286207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5753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scheduling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91674" y="35753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1674" y="3575304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16638" y="35753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16638" y="3575304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8241602" y="35753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41602" y="3575304"/>
            <a:ext cx="310896" cy="310896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66565" y="35753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66565" y="3575304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2885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re-tender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91674" y="42885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1674" y="4288536"/>
            <a:ext cx="310896" cy="31089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1F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6016638" y="42885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16638" y="4288536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8241602" y="42885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1602" y="4288536"/>
            <a:ext cx="310896" cy="310896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66565" y="42885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66565" y="4288536"/>
            <a:ext cx="310896" cy="31089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1F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 ○ none   ◔ low   ◑ medium   ◕ high   ● full</a:t>
            </a:r>
            <a:endParaRPr lang="en-US" sz="850" dirty="0"/>
          </a:p>
        </p:txBody>
      </p:sp>
      <p:sp>
        <p:nvSpPr>
          <p:cNvPr id="48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first levers go live within a year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70349" y="164592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23178" y="164592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76008" y="164592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28837" y="164592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81666" y="164592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refresh (Airport first)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54096" y="2505456"/>
            <a:ext cx="2832506" cy="310896"/>
          </a:xfrm>
          <a:prstGeom prst="rect">
            <a:avLst/>
          </a:prstGeom>
          <a:solidFill>
            <a:srgbClr val="C257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69765" y="2560320"/>
            <a:ext cx="201168" cy="201168"/>
          </a:xfrm>
          <a:prstGeom prst="diamond">
            <a:avLst/>
          </a:prstGeom>
          <a:solidFill>
            <a:srgbClr val="1A1F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7389" y="2258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survey read-out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31927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Thermostat retrofits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54096" y="3374136"/>
            <a:ext cx="5738165" cy="310896"/>
          </a:xfrm>
          <a:prstGeom prst="rect">
            <a:avLst/>
          </a:prstGeom>
          <a:solidFill>
            <a:srgbClr val="C2571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96180" y="3429000"/>
            <a:ext cx="201168" cy="201168"/>
          </a:xfrm>
          <a:prstGeom prst="diamond">
            <a:avLst/>
          </a:prstGeom>
          <a:solidFill>
            <a:srgbClr val="1A1F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3804" y="3127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Resorts complete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scheduling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59754" y="4242816"/>
            <a:ext cx="5738165" cy="31089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 can approve the Airport pilot and a $1.5M retrofit budget this quarter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Alder &amp; Vale FY25 hotel P&amp;L; COO email; interviews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37744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or action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the light-refresh pilot at both Airport hotels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quarter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thermostat retrofits: 7 hotels, 1,330 rooms, $1.5M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quarter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FY25 rooms revenue: summary vs the figure in the 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the board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the guest-satisfaction guardrail for the pilot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launch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7894107" cy="54864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45920"/>
            <a:ext cx="7436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Diagnosis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04288"/>
            <a:ext cx="7894107" cy="54864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04288"/>
            <a:ext cx="7436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Levers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7894107" cy="54864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62656"/>
            <a:ext cx="7436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Plan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21024"/>
            <a:ext cx="7894107" cy="5486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21024"/>
            <a:ext cx="7436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Appendix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AV Airport South has the highest housekeeping share (16.4%) and AV Dunes the highest energy cost per room-night ($74.4)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Alder &amp; Vale FY25 hotel P&amp;L (hotel rows)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280160"/>
                <a:gridCol w="2743200"/>
                <a:gridCol w="2743200"/>
              </a:tblGrid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Housekeeping, % of rooms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B66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Energy, $ per room-night sold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Harbourside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Old Town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Riverside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Station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Cathedral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Airport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Airport South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Lakeside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Dunes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Pinewood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hotels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   ·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   ·   </a:t>
            </a:r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Appendix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housekeeping at 13.9% sits above all three peers (12.4%–13.4%)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cost, % of rooms revenue, FY25</a:t>
            </a:r>
            <a:endParaRPr lang="en-US" sz="11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63825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Peer benchmarks (public filings, industry survey); Alder &amp; Vale FY25 hotel P&amp;L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991295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</a:t>
            </a:r>
            <a:endParaRPr lang="en-US" sz="900" dirty="0"/>
          </a:p>
        </p:txBody>
      </p:sp>
      <p:graphicFrame>
        <p:nvGraphicFramePr>
          <p:cNvPr id="7" name="Chart 0" descr="Appendix: housekeeping at 13.9% sits above all three peers (12.4%–13.4%)"/>
          <p:cNvGraphicFramePr/>
          <p:nvPr/>
        </p:nvGraphicFramePr>
        <p:xfrm>
          <a:off x="457200" y="1645920"/>
          <a:ext cx="11277295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6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Alder &amp; Vale Hotels — housekeeping and energy diagnostic</dc:title>
  <dc:subject>PptxGenJS Presentation</dc:subject>
  <dc:creator>Strategy team</dc:creator>
  <cp:lastModifiedBy>Strategy team</cp:lastModifiedBy>
  <cp:revision>1</cp:revision>
  <dcterms:created xsi:type="dcterms:W3CDTF">2026-09-24T04:33:39Z</dcterms:created>
  <dcterms:modified xsi:type="dcterms:W3CDTF">2026-09-24T04:33:39Z</dcterms:modified>
</cp:coreProperties>
</file>